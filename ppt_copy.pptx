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60" r:id="rId6"/>
    <p:sldId id="261" r:id="rId7"/>
    <p:sldId id="262" r:id="rId8"/>
    <p:sldId id="263" r:id="rId9"/>
    <p:sldId id="273" r:id="rId10"/>
    <p:sldId id="274" r:id="rId11"/>
    <p:sldId id="275" r:id="rId12"/>
    <p:sldId id="277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3E9E1-4A0C-F63C-34A3-C99F58CBC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2C669-6CE4-FCE2-C908-A6718D5EE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42946-9088-39BE-A7EA-790F1578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20014-2B6F-267C-6002-21A00EDF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576A6-F9E7-FDE2-950A-E36708E4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1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79F52-4FF6-DD52-5C9A-8E9CA9C5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D30CA-C863-8976-D043-B1B1370A2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C4F6A-F020-5FE8-6C10-4FFB7F2B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03918-8F21-4AC9-4A96-5D658E89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29095-3FDD-BE8D-FBBE-68C0DEEC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82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696AE-D5D6-EA4E-52B8-E645C796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307F0-E067-D610-5D66-071BFE409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4F4CD-8933-D849-8D29-DF0E6DFE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06876-C9ED-FD6F-6507-B192476D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07317-D1CE-7941-FD4E-E2747458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2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E1F5-44AF-5F9D-548E-311949A3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01D57-3B7C-67BB-B1A8-A2662EC0C3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4A710-0891-FA74-8264-93EC3D20E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EF8A7-BD7C-B089-C9F2-1A470CCC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D90B0-ECD0-54D0-18BD-11FA4A5FB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9BC9A-2CC5-462D-1AAC-68DC3D47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7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9AC3-36C5-09E8-1135-FF3BDD4B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8379E-8BF1-5786-990D-533AE2EB0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8E6F6-FC4A-A2B0-076C-81061C110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F85A1-6624-1B99-99C4-C88FFAC90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78CE6F-D567-83A8-C56C-7E9F61A6E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F37A1-38CB-7669-5037-696E7E94B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55C38-0B67-D491-EFD0-2EA0BF24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1E6545-471C-15E5-495E-D15985CFD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0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D6F3-5EE8-399F-E534-9A59842D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C390B-A13E-63DC-DAD9-5F84F5702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82A35-E4F8-F1EA-CF50-2C233B41C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58D43-15B2-E54F-FC41-840E9420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13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6BDA8-73C7-4588-AA1C-9AB002F2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FF54E-8D5D-7B53-FB8E-43F59CB3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A6BEF-7987-721E-B7B5-448468E7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75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077B-A6AE-1701-5A5C-1B1EE419F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1633-7FD5-8A1A-77BE-C983D35F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BD5D6-B4FC-8140-53F0-F4A561C7D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AE160-6EED-669A-A38B-2A869ED0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51E89-F8ED-1692-FF2E-4CACAC19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93520-9EB4-3C92-2924-E0329AB6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B864-9239-7852-A358-C35E7BB55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A9CD6-1432-1510-FFCE-E84237C52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BE444-2754-BF92-C1DA-82AE1AB33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552EB-6094-7017-D647-5B430DAA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47B59-6536-0E95-BEC1-5432C5CD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D46B6-F57F-ACE7-3A80-A88E614B0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19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E495-3590-A4A8-CEAE-AB6A134D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9C088-0EE3-15D5-6630-01F36539A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DF01-8DCE-9129-86F8-C20627ED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E05B9-A853-9A5C-480F-E60EF4F3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9251C-13F4-648E-1170-6B137DEB7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77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C05015-4787-ED1E-661B-20858260A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20BCE-7519-A049-3757-6CFF9F179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75AC0-E4BA-C48B-7318-68ADF6B1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D6CC-5AA8-2410-DE04-6B00F3355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BE9B3-D495-5047-7A83-282B34403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8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23CA6-F4D9-277C-78F6-7194C1585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AE43E-D23C-ACF6-09E5-F881C3277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5F74A-82B2-D56D-A050-E3F4C6A35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397A9-6129-4C50-B0E5-F102EDF526C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E049D-4148-BFA8-7DFA-AA59A4543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8D3BC-4E8F-F1EA-EEC6-AD65D74A0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FC758-8580-4C2F-8C4C-5B6986765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A247-CB4C-647E-3233-44E4EE9E14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 an ARL Agent Outperform EGT Populations in a Simulated Market?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84906-9D30-7164-FCFB-21ED43ABD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3572933" cy="8260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Rithwak Somepalli</a:t>
            </a:r>
          </a:p>
          <a:p>
            <a:r>
              <a:rPr lang="en-US" dirty="0"/>
              <a:t>Praneeth Rangarajan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C4B4F79-9038-9E6F-9E06-73240F374B5D}"/>
              </a:ext>
            </a:extLst>
          </p:cNvPr>
          <p:cNvSpPr txBox="1">
            <a:spLocks/>
          </p:cNvSpPr>
          <p:nvPr/>
        </p:nvSpPr>
        <p:spPr>
          <a:xfrm>
            <a:off x="1676400" y="37544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91FCEB-18FF-7E34-8E17-E17456A20F7E}"/>
              </a:ext>
            </a:extLst>
          </p:cNvPr>
          <p:cNvSpPr txBox="1">
            <a:spLocks/>
          </p:cNvSpPr>
          <p:nvPr/>
        </p:nvSpPr>
        <p:spPr>
          <a:xfrm>
            <a:off x="5743448" y="3754438"/>
            <a:ext cx="3722285" cy="8882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Using Financial Markets to Test Deep Reinforcement Learning against Adaptive Adversaries</a:t>
            </a:r>
          </a:p>
        </p:txBody>
      </p:sp>
    </p:spTree>
    <p:extLst>
      <p:ext uri="{BB962C8B-B14F-4D97-AF65-F5344CB8AC3E}">
        <p14:creationId xmlns:p14="http://schemas.microsoft.com/office/powerpoint/2010/main" val="1727568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436D2-C349-4E5C-61EF-DF2174A7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600" b="1"/>
              <a:t>Research Question and Motivation</a:t>
            </a:r>
            <a:endParaRPr lang="en-US" sz="46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9CE7E-32B9-3967-BB71-0F3E7AB55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Research Question</a:t>
            </a:r>
            <a:endParaRPr lang="en-US" sz="2000" dirty="0"/>
          </a:p>
          <a:p>
            <a:pPr lvl="1"/>
            <a:r>
              <a:rPr lang="en-US" sz="2000" dirty="0"/>
              <a:t>How does an Adaptive Reinforcement Learning (ARL) agent perform and adapt against an evolving population of heuristic traders governed by Evolutionary Game Theory (EGT)?</a:t>
            </a:r>
          </a:p>
          <a:p>
            <a:r>
              <a:rPr lang="en-US" sz="2000" b="1" dirty="0"/>
              <a:t>Motivation</a:t>
            </a:r>
            <a:endParaRPr lang="en-US" sz="2000" dirty="0"/>
          </a:p>
          <a:p>
            <a:pPr lvl="1"/>
            <a:r>
              <a:rPr lang="en-US" sz="2000" dirty="0"/>
              <a:t>Markets are noisy, adversarial, and non-stationary - ideal for stress-testing AI.</a:t>
            </a:r>
          </a:p>
          <a:p>
            <a:pPr lvl="1"/>
            <a:r>
              <a:rPr lang="en-US" sz="2000" dirty="0"/>
              <a:t>Safe environment for studying RL adaptation and robustness.</a:t>
            </a:r>
          </a:p>
          <a:p>
            <a:pPr lvl="1"/>
            <a:r>
              <a:rPr lang="en-US" sz="2000" dirty="0"/>
              <a:t>EGT provides an adaptive adversary that changes over time, not a fixed opponent.</a:t>
            </a:r>
          </a:p>
          <a:p>
            <a:pPr lvl="1"/>
            <a:r>
              <a:rPr lang="en-US" sz="2000" dirty="0"/>
              <a:t>Connects to AI themes: search, reasoning, planning, learning, and multi-agent interaction</a:t>
            </a:r>
          </a:p>
        </p:txBody>
      </p:sp>
    </p:spTree>
    <p:extLst>
      <p:ext uri="{BB962C8B-B14F-4D97-AF65-F5344CB8AC3E}">
        <p14:creationId xmlns:p14="http://schemas.microsoft.com/office/powerpoint/2010/main" val="3289168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3122C-E13C-E170-C61A-C5041BFB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Tested Market Patterns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416E-60CE-93DF-05AA-604C02C5C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/>
              <a:t>Why Multiple Patterns?</a:t>
            </a:r>
            <a:endParaRPr lang="en-US" sz="2000"/>
          </a:p>
          <a:p>
            <a:pPr lvl="1"/>
            <a:r>
              <a:rPr lang="en-US" sz="2000"/>
              <a:t>We tested several market trajectories (trend, range, high volatility).</a:t>
            </a:r>
          </a:p>
          <a:p>
            <a:pPr lvl="1"/>
            <a:r>
              <a:rPr lang="en-US" sz="2000"/>
              <a:t>ARL behavior remained consistent across patterns.</a:t>
            </a:r>
          </a:p>
          <a:p>
            <a:r>
              <a:rPr lang="en-US" sz="2000" b="1"/>
              <a:t>Presentation Note:</a:t>
            </a:r>
            <a:endParaRPr lang="en-US" sz="2000"/>
          </a:p>
          <a:p>
            <a:pPr lvl="1"/>
            <a:r>
              <a:rPr lang="en-US" sz="2000"/>
              <a:t>For time, we show results for one representative market.</a:t>
            </a:r>
          </a:p>
        </p:txBody>
      </p:sp>
      <p:pic>
        <p:nvPicPr>
          <p:cNvPr id="7" name="Picture 6" descr="A graph with red lines and numbers&#10;&#10;AI-generated content may be incorrect.">
            <a:extLst>
              <a:ext uri="{FF2B5EF4-FFF2-40B4-BE49-F238E27FC236}">
                <a16:creationId xmlns:a16="http://schemas.microsoft.com/office/drawing/2014/main" id="{CA3BE041-281B-F4D4-EF2A-0DCA60E2B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487277"/>
            <a:ext cx="5150277" cy="37081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71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A1BFB-DCD3-6DE5-7359-6A3CDD18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b="1" dirty="0"/>
              <a:t>Simulation Environment / Market Setup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E6CC0-3AF8-4D35-2925-925C9DA26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Mid-price evolves using stochastic volatility. </a:t>
            </a:r>
          </a:p>
          <a:p>
            <a:r>
              <a:rPr lang="en-US" sz="2000"/>
              <a:t>Agents interact via crossing quotes (order-book style). </a:t>
            </a:r>
          </a:p>
          <a:p>
            <a:r>
              <a:rPr lang="en-US" sz="2000"/>
              <a:t>ARL posts bid/ask spreads; EGT evaluates and trades.</a:t>
            </a:r>
          </a:p>
        </p:txBody>
      </p:sp>
      <p:pic>
        <p:nvPicPr>
          <p:cNvPr id="6" name="Picture 5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5C9CA3AC-E14D-0CE7-076D-3A87FB391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3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6B0C3-06AE-BC0C-F5D6-2A619D9B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Methodology – ARL Agent</a:t>
            </a:r>
            <a:endParaRPr lang="en-US" sz="4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D6CDE-AC54-1749-5592-735994B8A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100" b="1" dirty="0"/>
              <a:t>ARL Architecture</a:t>
            </a:r>
            <a:endParaRPr lang="en-US" sz="1100" dirty="0"/>
          </a:p>
          <a:p>
            <a:pPr lvl="1"/>
            <a:r>
              <a:rPr lang="en-US" sz="1100" dirty="0"/>
              <a:t>Neural-Network based Q learning agent</a:t>
            </a:r>
          </a:p>
          <a:p>
            <a:pPr lvl="1"/>
            <a:r>
              <a:rPr lang="en-US" sz="1100" dirty="0"/>
              <a:t>State includes: volatility, momentum, RSI, normalized volume, inventory, time-remaining</a:t>
            </a:r>
          </a:p>
          <a:p>
            <a:pPr lvl="1"/>
            <a:r>
              <a:rPr lang="en-US" sz="1100" dirty="0"/>
              <a:t>Actions: discrete bid/ask spread pairs (tight - medium - wide)</a:t>
            </a:r>
          </a:p>
          <a:p>
            <a:r>
              <a:rPr lang="en-US" sz="1100" b="1" dirty="0"/>
              <a:t>Reward</a:t>
            </a:r>
            <a:endParaRPr lang="en-US" sz="1100" dirty="0"/>
          </a:p>
          <a:p>
            <a:pPr lvl="1"/>
            <a:r>
              <a:rPr lang="en-US" sz="1100" dirty="0"/>
              <a:t>Profit, risk penalty, transaction cost + spread-capture bonus.</a:t>
            </a:r>
          </a:p>
          <a:p>
            <a:r>
              <a:rPr lang="en-US" sz="1100" b="1" dirty="0"/>
              <a:t>Exploitation / Safeguard Mechanisms</a:t>
            </a:r>
            <a:endParaRPr lang="en-US" sz="1100" dirty="0"/>
          </a:p>
          <a:p>
            <a:pPr lvl="1"/>
            <a:r>
              <a:rPr lang="en-US" sz="1100" dirty="0"/>
              <a:t>Exploitation – When volatility is high and the EGT population is passive, the ARL tightens spreads to capture the spread profit.</a:t>
            </a:r>
          </a:p>
          <a:p>
            <a:pPr lvl="1"/>
            <a:r>
              <a:rPr lang="en-US" sz="1100" dirty="0"/>
              <a:t>Safeguard – When inventory grows large or market volatility spikes, the ARL widens spreads or reduces quote frequency, limiting exposure and keeping the EGT population in check.</a:t>
            </a:r>
          </a:p>
        </p:txBody>
      </p:sp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6F0C939C-A19F-8BA2-F67B-DB400710D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1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DB07B-306C-57F2-1472-7298F64C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Methodology – EGT Population</a:t>
            </a:r>
            <a:endParaRPr lang="en-US" sz="4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B8DC-132A-C6C9-8A2E-8F260AC58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700" b="1"/>
              <a:t>Heuristic Strategies</a:t>
            </a:r>
          </a:p>
          <a:p>
            <a:pPr lvl="1"/>
            <a:r>
              <a:rPr lang="en-US" sz="1700"/>
              <a:t> Aggressive, Passive, Momentum, Random.</a:t>
            </a:r>
          </a:p>
          <a:p>
            <a:r>
              <a:rPr lang="en-US" sz="1700" b="1"/>
              <a:t>Evolution Mechanism</a:t>
            </a:r>
            <a:endParaRPr lang="en-US" sz="1700"/>
          </a:p>
          <a:p>
            <a:pPr lvl="1"/>
            <a:r>
              <a:rPr lang="en-US" sz="1700"/>
              <a:t>Trader fitness = rolling profitability</a:t>
            </a:r>
          </a:p>
          <a:p>
            <a:pPr lvl="1"/>
            <a:r>
              <a:rPr lang="en-US" sz="1700"/>
              <a:t>Replicator dynamics adjust strategy frequencies</a:t>
            </a:r>
          </a:p>
          <a:p>
            <a:pPr lvl="1"/>
            <a:r>
              <a:rPr lang="en-US" sz="1700"/>
              <a:t>Mutation (~2%) introduces fresh variants</a:t>
            </a:r>
          </a:p>
          <a:p>
            <a:r>
              <a:rPr lang="en-US" sz="1700" b="1"/>
              <a:t>Effect on ARL</a:t>
            </a:r>
          </a:p>
          <a:p>
            <a:pPr lvl="1"/>
            <a:r>
              <a:rPr lang="en-US" sz="1700"/>
              <a:t> Changing population creates a non-stationary, adaptive environment.</a:t>
            </a:r>
          </a:p>
        </p:txBody>
      </p:sp>
      <p:pic>
        <p:nvPicPr>
          <p:cNvPr id="7" name="Picture 6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39E28CFD-E2A0-C35F-97B5-7AEB96688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23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5894E-22EC-A591-1A16-C277ECF5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/>
              <a:t>Interaction Loop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87570-FFBA-35F6-A3C1-9D458839B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ARL posts quotes </a:t>
            </a:r>
          </a:p>
          <a:p>
            <a:r>
              <a:rPr lang="en-US" sz="2400" dirty="0"/>
              <a:t>EGT agents decide to buy/sell using heuristics </a:t>
            </a:r>
          </a:p>
          <a:p>
            <a:r>
              <a:rPr lang="en-US" sz="2400" dirty="0"/>
              <a:t>Trades execute when quotes cross </a:t>
            </a:r>
          </a:p>
          <a:p>
            <a:r>
              <a:rPr lang="en-US" sz="2400" dirty="0"/>
              <a:t>ARL receives </a:t>
            </a:r>
            <a:r>
              <a:rPr lang="en-US" sz="2400" dirty="0" err="1"/>
              <a:t>PnL</a:t>
            </a:r>
            <a:r>
              <a:rPr lang="en-US" sz="2400" dirty="0"/>
              <a:t>, risk penalty, spread bonus </a:t>
            </a:r>
          </a:p>
          <a:p>
            <a:r>
              <a:rPr lang="en-US" sz="2400" dirty="0"/>
              <a:t>EGT strategies earn fitness </a:t>
            </a:r>
          </a:p>
          <a:p>
            <a:r>
              <a:rPr lang="en-US" sz="2400" dirty="0"/>
              <a:t>ARL updates via DDQN; EGT population evolves</a:t>
            </a:r>
          </a:p>
        </p:txBody>
      </p:sp>
    </p:spTree>
    <p:extLst>
      <p:ext uri="{BB962C8B-B14F-4D97-AF65-F5344CB8AC3E}">
        <p14:creationId xmlns:p14="http://schemas.microsoft.com/office/powerpoint/2010/main" val="3107991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1F16A-0DDF-2A09-4C54-EAF3E3158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b="1" dirty="0"/>
              <a:t>Detailed Influence Between ARL &amp; EGT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16AD3-5A45-82AD-5B2D-4809D953D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/>
              <a:t>ARL → EGT:</a:t>
            </a:r>
            <a:r>
              <a:rPr lang="en-US" sz="2000"/>
              <a:t> Tight spreads temporarily boost Aggressive strategy fitness.</a:t>
            </a:r>
          </a:p>
          <a:p>
            <a:r>
              <a:rPr lang="en-US" sz="2000" b="1"/>
              <a:t>EGT → ARL:</a:t>
            </a:r>
            <a:r>
              <a:rPr lang="en-US" sz="2000"/>
              <a:t> When Aggressive dominates, ARL widens spreads to reduce risk.</a:t>
            </a:r>
          </a:p>
          <a:p>
            <a:r>
              <a:rPr lang="en-US" sz="2000"/>
              <a:t>Passive traders eventually dominate (&gt;99%) due to ARL pressure.</a:t>
            </a:r>
          </a:p>
          <a:p>
            <a:r>
              <a:rPr lang="en-US" sz="2000"/>
              <a:t>Clear feedback loop emerges: each agent type shapes the other’s behavior.</a:t>
            </a:r>
          </a:p>
        </p:txBody>
      </p:sp>
      <p:pic>
        <p:nvPicPr>
          <p:cNvPr id="5" name="Picture 4" descr="A graph with orange lines&#10;&#10;AI-generated content may be incorrect.">
            <a:extLst>
              <a:ext uri="{FF2B5EF4-FFF2-40B4-BE49-F238E27FC236}">
                <a16:creationId xmlns:a16="http://schemas.microsoft.com/office/drawing/2014/main" id="{24A44C00-F34C-5EE0-1D65-91DEFDE21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22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E44DC-3740-2D30-28C6-24C3DA4C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Overall Portfolio Performance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232222-CC7F-C3F9-1C47-10C613A35555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ARL achieved positive total returns (~1.5%).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Performance stayed consistent across calm and volatile regimes.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ARL remained stable even as the EGT population evolved.</a:t>
            </a:r>
          </a:p>
        </p:txBody>
      </p:sp>
      <p:pic>
        <p:nvPicPr>
          <p:cNvPr id="9" name="Content Placeholder 8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1D0280F6-38F9-1083-200E-F6AA88A8A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56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CAED0A-2A45-4C9C-BCDD-21A8A092C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E6457-C4FF-4ADE-3F64-46F4A82DB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 Profile &amp; Return Distribution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DAFF66-64D9-C27E-A480-7FB701E80F16}"/>
              </a:ext>
            </a:extLst>
          </p:cNvPr>
          <p:cNvSpPr txBox="1"/>
          <p:nvPr/>
        </p:nvSpPr>
        <p:spPr>
          <a:xfrm>
            <a:off x="793660" y="2599509"/>
            <a:ext cx="4160725" cy="3598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Maximum drawdown remained low due to inventory-aware safeguards.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Return distribution is positively skewed; tail risks are suppressed.</a:t>
            </a:r>
          </a:p>
        </p:txBody>
      </p:sp>
      <p:pic>
        <p:nvPicPr>
          <p:cNvPr id="11" name="Picture 10" descr="A diagram of a distribution of step returns&#10;&#10;AI-generated content may be incorrect.">
            <a:extLst>
              <a:ext uri="{FF2B5EF4-FFF2-40B4-BE49-F238E27FC236}">
                <a16:creationId xmlns:a16="http://schemas.microsoft.com/office/drawing/2014/main" id="{04C8F6B4-E99E-230D-EFA9-63C8E4E9D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2" r="24778" b="4"/>
          <a:stretch>
            <a:fillRect/>
          </a:stretch>
        </p:blipFill>
        <p:spPr>
          <a:xfrm>
            <a:off x="5418759" y="2559047"/>
            <a:ext cx="2741805" cy="3639451"/>
          </a:xfrm>
          <a:prstGeom prst="rect">
            <a:avLst/>
          </a:prstGeom>
        </p:spPr>
      </p:pic>
      <p:pic>
        <p:nvPicPr>
          <p:cNvPr id="9" name="Content Placeholder 8" descr="A graph showing a graph&#10;&#10;AI-generated content may be incorrect.">
            <a:extLst>
              <a:ext uri="{FF2B5EF4-FFF2-40B4-BE49-F238E27FC236}">
                <a16:creationId xmlns:a16="http://schemas.microsoft.com/office/drawing/2014/main" id="{A0841157-F5AB-0774-7BAC-CE7B4C1A2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48" r="11415" b="4"/>
          <a:stretch>
            <a:fillRect/>
          </a:stretch>
        </p:blipFill>
        <p:spPr>
          <a:xfrm>
            <a:off x="8412616" y="2559047"/>
            <a:ext cx="2743620" cy="363945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72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F9E08C-1337-BDB0-6D31-3AE8EAC51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Inventory Stability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0EB90-C826-1C56-45AE-E56EB4082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ARL learned to keep inventory tightly controlled. </a:t>
            </a:r>
          </a:p>
          <a:p>
            <a:r>
              <a:rPr lang="en-US" sz="2000"/>
              <a:t>Spread widening during high volatility prevented runaway exposure. </a:t>
            </a:r>
          </a:p>
          <a:p>
            <a:r>
              <a:rPr lang="en-US" sz="2000"/>
              <a:t>Inventory variance &lt; 0.02.</a:t>
            </a:r>
          </a:p>
        </p:txBody>
      </p:sp>
      <p:pic>
        <p:nvPicPr>
          <p:cNvPr id="5" name="Picture 4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F32A8CAB-A74A-01D3-F570-6A87383E7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731914"/>
            <a:ext cx="5150277" cy="32189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2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3617D-5C5D-90D4-7FA6-AF2D8621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Policy Behavior &amp; Learned Strategy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E6EC4-0180-CA9F-9562-2750BAB8A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Observed Behavioral Patterns </a:t>
            </a:r>
          </a:p>
          <a:p>
            <a:r>
              <a:rPr lang="en-US" sz="2000"/>
              <a:t>Tight spreads when volatility is low and inventory is near zero</a:t>
            </a:r>
          </a:p>
          <a:p>
            <a:r>
              <a:rPr lang="en-US" sz="2000"/>
              <a:t>Wider spreads when EGT becomes aggressive </a:t>
            </a:r>
          </a:p>
          <a:p>
            <a:r>
              <a:rPr lang="en-US" sz="2000"/>
              <a:t>Stable quoting during passive EGT regimes</a:t>
            </a:r>
          </a:p>
          <a:p>
            <a:r>
              <a:rPr lang="en-US" sz="2000"/>
              <a:t>Reinforces that ARL learned context-dependent microstructure tactics.</a:t>
            </a:r>
          </a:p>
        </p:txBody>
      </p:sp>
      <p:pic>
        <p:nvPicPr>
          <p:cNvPr id="5" name="Picture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67DCFD4C-D355-48C4-638C-AD9233B3C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09" y="2484255"/>
            <a:ext cx="4952322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68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A9364-1118-20C6-36B0-046A6E2A0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/>
              <a:t>Novelty and Contribution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18AA-5EFB-B1FB-1979-862BD2DCB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1700" b="1"/>
              <a:t>Why This Work Is Novel</a:t>
            </a:r>
            <a:endParaRPr lang="en-US" sz="1700"/>
          </a:p>
          <a:p>
            <a:pPr lvl="1"/>
            <a:r>
              <a:rPr lang="en-US" sz="1700"/>
              <a:t>Combines </a:t>
            </a:r>
            <a:r>
              <a:rPr lang="en-US" sz="1700" b="1"/>
              <a:t>Deep RL + Evolutionary Game Theory</a:t>
            </a:r>
            <a:r>
              <a:rPr lang="en-US" sz="1700"/>
              <a:t> inside a dynamic market microstructure.</a:t>
            </a:r>
          </a:p>
          <a:p>
            <a:pPr lvl="1"/>
            <a:r>
              <a:rPr lang="en-US" sz="1700"/>
              <a:t>Studies </a:t>
            </a:r>
            <a:r>
              <a:rPr lang="en-US" sz="1700" b="1"/>
              <a:t>co-evolution</a:t>
            </a:r>
            <a:r>
              <a:rPr lang="en-US" sz="1700"/>
              <a:t>, not just performance — rare in RL finance research.</a:t>
            </a:r>
          </a:p>
          <a:p>
            <a:pPr lvl="1"/>
            <a:r>
              <a:rPr lang="en-US" sz="1700"/>
              <a:t>Uses </a:t>
            </a:r>
            <a:r>
              <a:rPr lang="en-US" sz="1700" b="1"/>
              <a:t>inventory-aware DDQN</a:t>
            </a:r>
            <a:r>
              <a:rPr lang="en-US" sz="1700"/>
              <a:t> with spread-capture incentives.</a:t>
            </a:r>
          </a:p>
          <a:p>
            <a:pPr lvl="1"/>
            <a:r>
              <a:rPr lang="en-US" sz="1700"/>
              <a:t>Creates an evolving adversarial environment rather than a static backtest.</a:t>
            </a:r>
          </a:p>
          <a:p>
            <a:r>
              <a:rPr lang="en-US" sz="1700" b="1"/>
              <a:t>Community Contribution</a:t>
            </a:r>
            <a:endParaRPr lang="en-US" sz="1700"/>
          </a:p>
          <a:p>
            <a:pPr lvl="1"/>
            <a:r>
              <a:rPr lang="en-US" sz="1700"/>
              <a:t>Open-source simulation for studying AI robustness &amp; adaptation.</a:t>
            </a:r>
          </a:p>
          <a:p>
            <a:pPr lvl="1"/>
            <a:r>
              <a:rPr lang="en-US" sz="1700"/>
              <a:t>Useful for education in RL, multi-agent systems, and market simulation.</a:t>
            </a:r>
          </a:p>
          <a:p>
            <a:pPr lvl="1"/>
            <a:r>
              <a:rPr lang="en-US" sz="1700"/>
              <a:t>Seeds a benchmark for testing RL agents under evolving adversaries.</a:t>
            </a:r>
          </a:p>
          <a:p>
            <a:pPr lvl="1"/>
            <a:r>
              <a:rPr lang="en-US" sz="1700"/>
              <a:t>Enables safe experimentation on multi-agent strategic behavior.</a:t>
            </a:r>
          </a:p>
        </p:txBody>
      </p:sp>
    </p:spTree>
    <p:extLst>
      <p:ext uri="{BB962C8B-B14F-4D97-AF65-F5344CB8AC3E}">
        <p14:creationId xmlns:p14="http://schemas.microsoft.com/office/powerpoint/2010/main" val="650839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CA2D8-94A1-BCCE-1CDD-3F7C69B00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/>
              <a:t>Conclusion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A2329-C602-DD51-E112-BE83EAB18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1700" b="1"/>
              <a:t>What We Accomplished</a:t>
            </a:r>
            <a:endParaRPr lang="en-US" sz="1700"/>
          </a:p>
          <a:p>
            <a:pPr lvl="1"/>
            <a:r>
              <a:rPr lang="en-US" sz="1700"/>
              <a:t>Built a multi-agent market environment combining RL and EGT.</a:t>
            </a:r>
          </a:p>
          <a:p>
            <a:pPr lvl="1"/>
            <a:r>
              <a:rPr lang="en-US" sz="1700"/>
              <a:t>Showed the ARL agent can learn stable, risk-aware, profitable policies.</a:t>
            </a:r>
          </a:p>
          <a:p>
            <a:pPr lvl="1"/>
            <a:r>
              <a:rPr lang="en-US" sz="1700"/>
              <a:t>Observed clear co-adaptation between ARL and EGT populations.</a:t>
            </a:r>
          </a:p>
          <a:p>
            <a:pPr lvl="1"/>
            <a:r>
              <a:rPr lang="en-US" sz="1700"/>
              <a:t>Demonstrated that agent behavior and population dynamics shape each other.</a:t>
            </a:r>
          </a:p>
          <a:p>
            <a:r>
              <a:rPr lang="en-US" sz="1700" b="1"/>
              <a:t>Why It Matters</a:t>
            </a:r>
            <a:endParaRPr lang="en-US" sz="1700"/>
          </a:p>
          <a:p>
            <a:pPr lvl="1"/>
            <a:r>
              <a:rPr lang="en-US" sz="1700"/>
              <a:t>Helps researchers understand RL robustness in adversarial, adaptive settings.</a:t>
            </a:r>
          </a:p>
          <a:p>
            <a:pPr lvl="1"/>
            <a:r>
              <a:rPr lang="en-US" sz="1700"/>
              <a:t>Provides a platform for exploring multi-agent learning, AI safety, and market microstructure.</a:t>
            </a:r>
          </a:p>
          <a:p>
            <a:pPr lvl="1"/>
            <a:r>
              <a:rPr lang="en-US" sz="1700"/>
              <a:t>Lays groundwork for richer future experiments with smarter EGT agents or multi-ARL ecosystems.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797832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EE578-B6ED-0102-6AA0-CF8EEC43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253E-0B67-CC2E-623F-4E78087E6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86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747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Can an ARL Agent Outperform EGT Populations in a Simulated Market?</vt:lpstr>
      <vt:lpstr>Research Question and Motivation</vt:lpstr>
      <vt:lpstr>Tested Market Patterns</vt:lpstr>
      <vt:lpstr>Simulation Environment / Market Setup</vt:lpstr>
      <vt:lpstr>Methodology – ARL Agent</vt:lpstr>
      <vt:lpstr>Methodology – EGT Population</vt:lpstr>
      <vt:lpstr>Interaction Loop</vt:lpstr>
      <vt:lpstr>Detailed Influence Between ARL &amp; EGT</vt:lpstr>
      <vt:lpstr>Overall Portfolio Performance</vt:lpstr>
      <vt:lpstr>Risk Profile &amp; Return Distribution</vt:lpstr>
      <vt:lpstr>Inventory Stability</vt:lpstr>
      <vt:lpstr>Policy Behavior &amp; Learned Strategy</vt:lpstr>
      <vt:lpstr>Novelty and Contribution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Rithwak Somepalli</dc:creator>
  <cp:lastModifiedBy>Rithwak Somepalli</cp:lastModifiedBy>
  <cp:revision>8</cp:revision>
  <dcterms:created xsi:type="dcterms:W3CDTF">2025-11-24T23:14:25Z</dcterms:created>
  <dcterms:modified xsi:type="dcterms:W3CDTF">2025-12-03T01:38:20Z</dcterms:modified>
</cp:coreProperties>
</file>