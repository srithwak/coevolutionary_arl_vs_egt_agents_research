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2" r:id="rId4"/>
    <p:sldId id="258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77" r:id="rId13"/>
    <p:sldId id="279" r:id="rId14"/>
    <p:sldId id="280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3572933" cy="8260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Rithwak Somepalli</a:t>
            </a:r>
          </a:p>
          <a:p>
            <a:r>
              <a:rPr lang="en-US" dirty="0"/>
              <a:t>Praneeth Rangarajan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091FCEB-18FF-7E34-8E17-E17456A20F7E}"/>
              </a:ext>
            </a:extLst>
          </p:cNvPr>
          <p:cNvSpPr txBox="1">
            <a:spLocks/>
          </p:cNvSpPr>
          <p:nvPr/>
        </p:nvSpPr>
        <p:spPr>
          <a:xfrm>
            <a:off x="5743448" y="3754438"/>
            <a:ext cx="3722285" cy="8882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Using Financial Markets to Test Deep Reinforcement Learning against Adaptive Adversaries</a:t>
            </a:r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dirty="0"/>
              <a:t>Markets are noisy, adversarial, and non-stationary - ideal for stress-testing AI.</a:t>
            </a:r>
          </a:p>
          <a:p>
            <a:pPr lvl="1"/>
            <a:r>
              <a:rPr lang="en-US" sz="2000" dirty="0"/>
              <a:t>Safe environment for studying RL adaptation and robustness.</a:t>
            </a:r>
          </a:p>
          <a:p>
            <a:pPr lvl="1"/>
            <a:r>
              <a:rPr lang="en-US" sz="2000" dirty="0"/>
              <a:t>EGT provides an adaptive adversary that changes over time, not a fixed opponent.</a:t>
            </a:r>
          </a:p>
          <a:p>
            <a:pPr lvl="1"/>
            <a:r>
              <a:rPr lang="en-US" sz="2000" dirty="0"/>
              <a:t>Connects to AI themes: search, reasoning, planning, learning, and multi-agent interaction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E3122C-E13C-E170-C61A-C5041BFBF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Tested Market Patterns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1416E-60CE-93DF-05AA-604C02C5C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/>
              <a:t>Why Multiple Patterns?</a:t>
            </a:r>
            <a:endParaRPr lang="en-US" sz="2000"/>
          </a:p>
          <a:p>
            <a:pPr lvl="1"/>
            <a:r>
              <a:rPr lang="en-US" sz="2000"/>
              <a:t>We tested several market trajectories (trend, range, high volatility).</a:t>
            </a:r>
          </a:p>
          <a:p>
            <a:pPr lvl="1"/>
            <a:r>
              <a:rPr lang="en-US" sz="2000"/>
              <a:t>ARL behavior remained consistent across patterns.</a:t>
            </a:r>
          </a:p>
          <a:p>
            <a:r>
              <a:rPr lang="en-US" sz="2000" b="1"/>
              <a:t>Presentation Note:</a:t>
            </a:r>
            <a:endParaRPr lang="en-US" sz="2000"/>
          </a:p>
          <a:p>
            <a:pPr lvl="1"/>
            <a:r>
              <a:rPr lang="en-US" sz="2000"/>
              <a:t>For time, we show results for one representative market.</a:t>
            </a:r>
          </a:p>
        </p:txBody>
      </p:sp>
      <p:pic>
        <p:nvPicPr>
          <p:cNvPr id="7" name="Picture 6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CA3BE041-281B-F4D4-EF2A-0DCA60E2B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487277"/>
            <a:ext cx="5150277" cy="370819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271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BA1BFB-DCD3-6DE5-7359-6A3CDD184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b="1" dirty="0"/>
              <a:t>Simulation Environment / Market Setup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6CC0-3AF8-4D35-2925-925C9DA26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Mid-price evolves using stochastic volatility. </a:t>
            </a:r>
          </a:p>
          <a:p>
            <a:r>
              <a:rPr lang="en-US" sz="2000"/>
              <a:t>Agents interact via crossing quotes (order-book style). </a:t>
            </a:r>
          </a:p>
          <a:p>
            <a:r>
              <a:rPr lang="en-US" sz="2000"/>
              <a:t>ARL posts bid/ask spreads; EGT evaluates and trades.</a:t>
            </a:r>
          </a:p>
        </p:txBody>
      </p:sp>
      <p:pic>
        <p:nvPicPr>
          <p:cNvPr id="11" name="Picture 10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C11E6100-FD36-B157-5EA8-2B7624395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238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F6B0C3-06AE-BC0C-F5D6-2A619D9BD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Methodology – ARL Agent</a:t>
            </a:r>
            <a:endParaRPr lang="en-US" sz="4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D6CDE-AC54-1749-5592-735994B8A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1100" b="1" dirty="0"/>
              <a:t>ARL Architecture</a:t>
            </a:r>
            <a:endParaRPr lang="en-US" sz="1100" dirty="0"/>
          </a:p>
          <a:p>
            <a:pPr lvl="1"/>
            <a:r>
              <a:rPr lang="en-US" sz="1100" dirty="0"/>
              <a:t>Neural-Network based Q learning agent</a:t>
            </a:r>
          </a:p>
          <a:p>
            <a:pPr lvl="1"/>
            <a:r>
              <a:rPr lang="en-US" sz="1100" dirty="0"/>
              <a:t>State includes: volatility, momentum, RSI, normalized volume, inventory, time-remaining</a:t>
            </a:r>
          </a:p>
          <a:p>
            <a:pPr lvl="1"/>
            <a:r>
              <a:rPr lang="en-US" sz="1100" dirty="0"/>
              <a:t>Actions: discrete bid/ask spread pairs (tight - medium - wide)</a:t>
            </a:r>
          </a:p>
          <a:p>
            <a:r>
              <a:rPr lang="en-US" sz="1100" b="1" dirty="0"/>
              <a:t>Reward</a:t>
            </a:r>
            <a:endParaRPr lang="en-US" sz="1100" dirty="0"/>
          </a:p>
          <a:p>
            <a:pPr lvl="1"/>
            <a:r>
              <a:rPr lang="en-US" sz="1100" dirty="0"/>
              <a:t>Profit, risk penalty, transaction cost + spread-capture bonus.</a:t>
            </a:r>
          </a:p>
          <a:p>
            <a:r>
              <a:rPr lang="en-US" sz="1100" b="1" dirty="0"/>
              <a:t>Exploitation / Safeguard Mechanisms</a:t>
            </a:r>
            <a:endParaRPr lang="en-US" sz="1100" dirty="0"/>
          </a:p>
          <a:p>
            <a:pPr lvl="1"/>
            <a:r>
              <a:rPr lang="en-US" sz="1100" dirty="0"/>
              <a:t>Exploitation – When volatility is high and the EGT population is passive, the ARL tightens spreads to capture the spread profit.</a:t>
            </a:r>
          </a:p>
          <a:p>
            <a:pPr lvl="1"/>
            <a:r>
              <a:rPr lang="en-US" sz="1100" dirty="0"/>
              <a:t>Safeguard – When inventory grows large or market volatility spikes, the ARL widens spreads or reduces quote frequency, limiting exposure and keeping the EGT population in check.</a:t>
            </a:r>
          </a:p>
        </p:txBody>
      </p:sp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6F0C939C-A19F-8BA2-F67B-DB400710D0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17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BDB07B-306C-57F2-1472-7298F64C2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Methodology – EGT Population</a:t>
            </a:r>
            <a:endParaRPr lang="en-US" sz="4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4B8DC-132A-C6C9-8A2E-8F260AC58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1700" b="1"/>
              <a:t>Heuristic Strategies</a:t>
            </a:r>
          </a:p>
          <a:p>
            <a:pPr lvl="1"/>
            <a:r>
              <a:rPr lang="en-US" sz="1700"/>
              <a:t> Aggressive, Passive, Momentum, Random.</a:t>
            </a:r>
          </a:p>
          <a:p>
            <a:r>
              <a:rPr lang="en-US" sz="1700" b="1"/>
              <a:t>Evolution Mechanism</a:t>
            </a:r>
            <a:endParaRPr lang="en-US" sz="1700"/>
          </a:p>
          <a:p>
            <a:pPr lvl="1"/>
            <a:r>
              <a:rPr lang="en-US" sz="1700"/>
              <a:t>Trader fitness = rolling profitability</a:t>
            </a:r>
          </a:p>
          <a:p>
            <a:pPr lvl="1"/>
            <a:r>
              <a:rPr lang="en-US" sz="1700"/>
              <a:t>Replicator dynamics adjust strategy frequencies</a:t>
            </a:r>
          </a:p>
          <a:p>
            <a:pPr lvl="1"/>
            <a:r>
              <a:rPr lang="en-US" sz="1700"/>
              <a:t>Mutation (~2%) introduces fresh variants</a:t>
            </a:r>
          </a:p>
          <a:p>
            <a:r>
              <a:rPr lang="en-US" sz="1700" b="1"/>
              <a:t>Effect on ARL</a:t>
            </a:r>
          </a:p>
          <a:p>
            <a:pPr lvl="1"/>
            <a:r>
              <a:rPr lang="en-US" sz="1700"/>
              <a:t> Changing population creates a non-stationary, adaptive environment.</a:t>
            </a:r>
          </a:p>
        </p:txBody>
      </p:sp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39E28CFD-E2A0-C35F-97B5-7AEB96688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23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B5894E-22EC-A591-1A16-C277ECF50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Interaction Loop</a:t>
            </a:r>
            <a:endParaRPr lang="en-US" sz="54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87570-FFBA-35F6-A3C1-9D458839B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ARL posts quotes </a:t>
            </a:r>
          </a:p>
          <a:p>
            <a:r>
              <a:rPr lang="en-US" sz="2400" dirty="0"/>
              <a:t>EGT agents decide to buy/sell using heuristics </a:t>
            </a:r>
          </a:p>
          <a:p>
            <a:r>
              <a:rPr lang="en-US" sz="2400" dirty="0"/>
              <a:t>Trades execute when quotes cross </a:t>
            </a:r>
          </a:p>
          <a:p>
            <a:r>
              <a:rPr lang="en-US" sz="2400" dirty="0"/>
              <a:t>ARL receives </a:t>
            </a:r>
            <a:r>
              <a:rPr lang="en-US" sz="2400" dirty="0" err="1"/>
              <a:t>PnL</a:t>
            </a:r>
            <a:r>
              <a:rPr lang="en-US" sz="2400" dirty="0"/>
              <a:t>, risk penalty, spread bonus </a:t>
            </a:r>
          </a:p>
          <a:p>
            <a:r>
              <a:rPr lang="en-US" sz="2400" dirty="0"/>
              <a:t>EGT strategies earn fitness </a:t>
            </a:r>
          </a:p>
          <a:p>
            <a:r>
              <a:rPr lang="en-US" sz="2400" dirty="0"/>
              <a:t>ARL updates via DDQN; EGT population evolves</a:t>
            </a:r>
          </a:p>
        </p:txBody>
      </p:sp>
    </p:spTree>
    <p:extLst>
      <p:ext uri="{BB962C8B-B14F-4D97-AF65-F5344CB8AC3E}">
        <p14:creationId xmlns:p14="http://schemas.microsoft.com/office/powerpoint/2010/main" val="3107991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A1F16A-0DDF-2A09-4C54-EAF3E3158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b="1" dirty="0"/>
              <a:t>Detailed Influence Between ARL &amp; EGT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16AD3-5A45-82AD-5B2D-4809D953D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b="1"/>
              <a:t>ARL → EGT:</a:t>
            </a:r>
            <a:r>
              <a:rPr lang="en-US" sz="2000"/>
              <a:t> Tight spreads temporarily boost Aggressive strategy fitness.</a:t>
            </a:r>
          </a:p>
          <a:p>
            <a:r>
              <a:rPr lang="en-US" sz="2000" b="1"/>
              <a:t>EGT → ARL:</a:t>
            </a:r>
            <a:r>
              <a:rPr lang="en-US" sz="2000"/>
              <a:t> When Aggressive dominates, ARL widens spreads to reduce risk.</a:t>
            </a:r>
          </a:p>
          <a:p>
            <a:r>
              <a:rPr lang="en-US" sz="2000"/>
              <a:t>Passive traders eventually dominate (&gt;99%) due to ARL pressure.</a:t>
            </a:r>
          </a:p>
          <a:p>
            <a:r>
              <a:rPr lang="en-US" sz="2000"/>
              <a:t>Clear feedback loop emerges: each agent type shapes the other’s behavior.</a:t>
            </a:r>
          </a:p>
        </p:txBody>
      </p:sp>
      <p:pic>
        <p:nvPicPr>
          <p:cNvPr id="5" name="Picture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24A44C00-F34C-5EE0-1D65-91DEFDE21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22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E44DC-3740-2D30-28C6-24C3DA4C8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Overall Portfolio Performance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232222-CC7F-C3F9-1C47-10C613A35555}"/>
              </a:ext>
            </a:extLst>
          </p:cNvPr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ARL achieved positive total returns (~1.5%).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Performance stayed consistent across calm and volatile regimes.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ARL remained stable even as the EGT population evolved.</a:t>
            </a:r>
          </a:p>
        </p:txBody>
      </p:sp>
      <p:pic>
        <p:nvPicPr>
          <p:cNvPr id="9" name="Content Placeholder 8" descr="A graph showing a line graph&#10;&#10;AI-generated content may be incorrect.">
            <a:extLst>
              <a:ext uri="{FF2B5EF4-FFF2-40B4-BE49-F238E27FC236}">
                <a16:creationId xmlns:a16="http://schemas.microsoft.com/office/drawing/2014/main" id="{1D0280F6-38F9-1083-200E-F6AA88A8AA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56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E6457-C4FF-4ADE-3F64-46F4A82DB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Risk Profile &amp; Return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DAFF66-64D9-C27E-A480-7FB701E80F16}"/>
              </a:ext>
            </a:extLst>
          </p:cNvPr>
          <p:cNvSpPr txBox="1"/>
          <p:nvPr/>
        </p:nvSpPr>
        <p:spPr>
          <a:xfrm>
            <a:off x="793660" y="2599509"/>
            <a:ext cx="4160725" cy="3598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Maximum drawdown remained low due to inventory-aware safeguards.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Return distribution is positively skewed; tail risks are suppressed.</a:t>
            </a:r>
          </a:p>
        </p:txBody>
      </p:sp>
      <p:pic>
        <p:nvPicPr>
          <p:cNvPr id="11" name="Picture 10" descr="A diagram of a distribution of step returns&#10;&#10;AI-generated content may be incorrect.">
            <a:extLst>
              <a:ext uri="{FF2B5EF4-FFF2-40B4-BE49-F238E27FC236}">
                <a16:creationId xmlns:a16="http://schemas.microsoft.com/office/drawing/2014/main" id="{04C8F6B4-E99E-230D-EFA9-63C8E4E9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22" r="24778" b="4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9" name="Content Placeholder 8" descr="A graph showing a graph&#10;&#10;AI-generated content may be incorrect.">
            <a:extLst>
              <a:ext uri="{FF2B5EF4-FFF2-40B4-BE49-F238E27FC236}">
                <a16:creationId xmlns:a16="http://schemas.microsoft.com/office/drawing/2014/main" id="{A0841157-F5AB-0774-7BAC-CE7B4C1A2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48" r="11415" b="4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872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F9E08C-1337-BDB0-6D31-3AE8EAC51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Inventory Stability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0EB90-C826-1C56-45AE-E56EB4082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ARL learned to keep inventory tightly controlled. </a:t>
            </a:r>
          </a:p>
          <a:p>
            <a:r>
              <a:rPr lang="en-US" sz="2000"/>
              <a:t>Spread widening during high volatility prevented runaway exposure. </a:t>
            </a:r>
          </a:p>
          <a:p>
            <a:r>
              <a:rPr lang="en-US" sz="2000"/>
              <a:t>Inventory variance &lt; 0.02.</a:t>
            </a:r>
          </a:p>
        </p:txBody>
      </p:sp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F32A8CAB-A74A-01D3-F570-6A87383E72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731914"/>
            <a:ext cx="5150277" cy="321892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22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A3617D-5C5D-90D4-7FA6-AF2D86211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Policy Behavior &amp; Learned Strategy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E6EC4-0180-CA9F-9562-2750BAB8A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Observed Behavioral Patterns </a:t>
            </a:r>
          </a:p>
          <a:p>
            <a:r>
              <a:rPr lang="en-US" sz="2000"/>
              <a:t>Tight spreads when volatility is low and inventory is near zero</a:t>
            </a:r>
          </a:p>
          <a:p>
            <a:r>
              <a:rPr lang="en-US" sz="2000"/>
              <a:t>Wider spreads when EGT becomes aggressive </a:t>
            </a:r>
          </a:p>
          <a:p>
            <a:r>
              <a:rPr lang="en-US" sz="2000"/>
              <a:t>Stable quoting during passive EGT regimes</a:t>
            </a:r>
          </a:p>
          <a:p>
            <a:r>
              <a:rPr lang="en-US" sz="2000"/>
              <a:t>Reinforces that ARL learned context-dependent microstructure tactics.</a:t>
            </a:r>
          </a:p>
        </p:txBody>
      </p:sp>
      <p:pic>
        <p:nvPicPr>
          <p:cNvPr id="5" name="Picture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7DCFD4C-D355-48C4-638C-AD9233B3C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68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A9364-1118-20C6-36B0-046A6E2A0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D18AA-5EFB-B1FB-1979-862BD2DCB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700" b="1"/>
              <a:t>Why This Work Is Novel</a:t>
            </a:r>
            <a:endParaRPr lang="en-US" sz="1700"/>
          </a:p>
          <a:p>
            <a:pPr lvl="1"/>
            <a:r>
              <a:rPr lang="en-US" sz="1700"/>
              <a:t>Combines </a:t>
            </a:r>
            <a:r>
              <a:rPr lang="en-US" sz="1700" b="1"/>
              <a:t>Deep RL + Evolutionary Game Theory</a:t>
            </a:r>
            <a:r>
              <a:rPr lang="en-US" sz="1700"/>
              <a:t> inside a dynamic market microstructure.</a:t>
            </a:r>
          </a:p>
          <a:p>
            <a:pPr lvl="1"/>
            <a:r>
              <a:rPr lang="en-US" sz="1700"/>
              <a:t>Studies </a:t>
            </a:r>
            <a:r>
              <a:rPr lang="en-US" sz="1700" b="1"/>
              <a:t>co-evolution</a:t>
            </a:r>
            <a:r>
              <a:rPr lang="en-US" sz="1700"/>
              <a:t>, not just performance — rare in RL finance research.</a:t>
            </a:r>
          </a:p>
          <a:p>
            <a:pPr lvl="1"/>
            <a:r>
              <a:rPr lang="en-US" sz="1700"/>
              <a:t>Uses </a:t>
            </a:r>
            <a:r>
              <a:rPr lang="en-US" sz="1700" b="1"/>
              <a:t>inventory-aware DDQN</a:t>
            </a:r>
            <a:r>
              <a:rPr lang="en-US" sz="1700"/>
              <a:t> with spread-capture incentives.</a:t>
            </a:r>
          </a:p>
          <a:p>
            <a:pPr lvl="1"/>
            <a:r>
              <a:rPr lang="en-US" sz="1700"/>
              <a:t>Creates an evolving adversarial environment rather than a static backtest.</a:t>
            </a:r>
          </a:p>
          <a:p>
            <a:r>
              <a:rPr lang="en-US" sz="1700" b="1"/>
              <a:t>Community Contribution</a:t>
            </a:r>
            <a:endParaRPr lang="en-US" sz="1700"/>
          </a:p>
          <a:p>
            <a:pPr lvl="1"/>
            <a:r>
              <a:rPr lang="en-US" sz="1700"/>
              <a:t>Open-source simulation for studying AI robustness &amp; adaptation.</a:t>
            </a:r>
          </a:p>
          <a:p>
            <a:pPr lvl="1"/>
            <a:r>
              <a:rPr lang="en-US" sz="1700"/>
              <a:t>Useful for education in RL, multi-agent systems, and market simulation.</a:t>
            </a:r>
          </a:p>
          <a:p>
            <a:pPr lvl="1"/>
            <a:r>
              <a:rPr lang="en-US" sz="1700"/>
              <a:t>Seeds a benchmark for testing RL agents under evolving adversaries.</a:t>
            </a:r>
          </a:p>
          <a:p>
            <a:pPr lvl="1"/>
            <a:r>
              <a:rPr lang="en-US" sz="1700"/>
              <a:t>Enables safe experimentation on multi-agent strategic behavior.</a:t>
            </a:r>
          </a:p>
        </p:txBody>
      </p:sp>
    </p:spTree>
    <p:extLst>
      <p:ext uri="{BB962C8B-B14F-4D97-AF65-F5344CB8AC3E}">
        <p14:creationId xmlns:p14="http://schemas.microsoft.com/office/powerpoint/2010/main" val="650839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CA2D8-94A1-BCCE-1CDD-3F7C69B00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A2329-C602-DD51-E112-BE83EAB18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700" b="1"/>
              <a:t>What We Accomplished</a:t>
            </a:r>
            <a:endParaRPr lang="en-US" sz="1700"/>
          </a:p>
          <a:p>
            <a:pPr lvl="1"/>
            <a:r>
              <a:rPr lang="en-US" sz="1700"/>
              <a:t>Built a multi-agent market environment combining RL and EGT.</a:t>
            </a:r>
          </a:p>
          <a:p>
            <a:pPr lvl="1"/>
            <a:r>
              <a:rPr lang="en-US" sz="1700"/>
              <a:t>Showed the ARL agent can learn stable, risk-aware, profitable policies.</a:t>
            </a:r>
          </a:p>
          <a:p>
            <a:pPr lvl="1"/>
            <a:r>
              <a:rPr lang="en-US" sz="1700"/>
              <a:t>Observed clear co-adaptation between ARL and EGT populations.</a:t>
            </a:r>
          </a:p>
          <a:p>
            <a:pPr lvl="1"/>
            <a:r>
              <a:rPr lang="en-US" sz="1700"/>
              <a:t>Demonstrated that agent behavior and population dynamics shape each other.</a:t>
            </a:r>
          </a:p>
          <a:p>
            <a:r>
              <a:rPr lang="en-US" sz="1700" b="1"/>
              <a:t>Why It Matters</a:t>
            </a:r>
            <a:endParaRPr lang="en-US" sz="1700"/>
          </a:p>
          <a:p>
            <a:pPr lvl="1"/>
            <a:r>
              <a:rPr lang="en-US" sz="1700"/>
              <a:t>Helps researchers understand RL robustness in adversarial, adaptive settings.</a:t>
            </a:r>
          </a:p>
          <a:p>
            <a:pPr lvl="1"/>
            <a:r>
              <a:rPr lang="en-US" sz="1700"/>
              <a:t>Provides a platform for exploring multi-agent learning, AI safety, and market microstructure.</a:t>
            </a:r>
          </a:p>
          <a:p>
            <a:pPr lvl="1"/>
            <a:r>
              <a:rPr lang="en-US" sz="1700"/>
              <a:t>Lays groundwork for richer future experiments with smarter EGT agents or multi-ARL ecosystems.</a:t>
            </a:r>
          </a:p>
          <a:p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797832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747</Words>
  <Application>Microsoft Office PowerPoint</Application>
  <PresentationFormat>Widescreen</PresentationFormat>
  <Paragraphs>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Can an ARL Agent Outperform EGT Populations in a Simulated Market?</vt:lpstr>
      <vt:lpstr>Research Question and Motivation</vt:lpstr>
      <vt:lpstr>Tested Market Patterns</vt:lpstr>
      <vt:lpstr>Simulation Environment / Market Setup</vt:lpstr>
      <vt:lpstr>Methodology – ARL Agent</vt:lpstr>
      <vt:lpstr>Methodology – EGT Population</vt:lpstr>
      <vt:lpstr>Interaction Loop</vt:lpstr>
      <vt:lpstr>Detailed Influence Between ARL &amp; EGT</vt:lpstr>
      <vt:lpstr>Overall Portfolio Performance</vt:lpstr>
      <vt:lpstr>Risk Profile &amp; Return Distribution</vt:lpstr>
      <vt:lpstr>Inventory Stability</vt:lpstr>
      <vt:lpstr>Policy Behavior &amp; Learned Strategy</vt:lpstr>
      <vt:lpstr>Novelty and Contribution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6</cp:revision>
  <dcterms:created xsi:type="dcterms:W3CDTF">2025-11-24T23:14:25Z</dcterms:created>
  <dcterms:modified xsi:type="dcterms:W3CDTF">2025-11-28T19:09:33Z</dcterms:modified>
</cp:coreProperties>
</file>