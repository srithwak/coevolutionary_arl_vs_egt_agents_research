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89" r:id="rId4"/>
    <p:sldId id="304" r:id="rId5"/>
    <p:sldId id="290" r:id="rId6"/>
    <p:sldId id="291" r:id="rId7"/>
    <p:sldId id="292" r:id="rId8"/>
    <p:sldId id="293" r:id="rId9"/>
    <p:sldId id="295" r:id="rId10"/>
    <p:sldId id="303" r:id="rId11"/>
    <p:sldId id="297" r:id="rId12"/>
    <p:sldId id="296" r:id="rId13"/>
    <p:sldId id="299" r:id="rId14"/>
    <p:sldId id="298" r:id="rId15"/>
    <p:sldId id="30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 varScale="1">
        <p:scale>
          <a:sx n="90" d="100"/>
          <a:sy n="90" d="100"/>
        </p:scale>
        <p:origin x="14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7F0B82-8502-4779-B367-90D85B175B0C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7A428FB-5BB8-449A-8CFB-B83F1BA4D3A7}">
      <dgm:prSet/>
      <dgm:spPr/>
      <dgm:t>
        <a:bodyPr/>
        <a:lstStyle/>
        <a:p>
          <a:r>
            <a:rPr lang="en-US" b="1"/>
            <a:t>Simple Q table</a:t>
          </a:r>
          <a:endParaRPr lang="en-US"/>
        </a:p>
      </dgm:t>
    </dgm:pt>
    <dgm:pt modelId="{0D3D0837-37B9-4840-B7EC-F4A51D804F58}" type="parTrans" cxnId="{4C63825B-808B-492E-9EA4-BE7D556970EB}">
      <dgm:prSet/>
      <dgm:spPr/>
      <dgm:t>
        <a:bodyPr/>
        <a:lstStyle/>
        <a:p>
          <a:endParaRPr lang="en-US"/>
        </a:p>
      </dgm:t>
    </dgm:pt>
    <dgm:pt modelId="{959C37FC-9B0C-40F9-8D52-ED890FDFB402}" type="sibTrans" cxnId="{4C63825B-808B-492E-9EA4-BE7D556970EB}">
      <dgm:prSet/>
      <dgm:spPr/>
      <dgm:t>
        <a:bodyPr/>
        <a:lstStyle/>
        <a:p>
          <a:endParaRPr lang="en-US"/>
        </a:p>
      </dgm:t>
    </dgm:pt>
    <dgm:pt modelId="{1D6CA4BB-FE90-4658-934E-D33D7787DE8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compressed all data and made it less complex, in hopes that the agent would find a pattern easier. </a:t>
          </a:r>
        </a:p>
      </dgm:t>
    </dgm:pt>
    <dgm:pt modelId="{7598AF1C-4392-4E35-9287-CD2829FE4786}" type="parTrans" cxnId="{5C978D63-4213-417C-8451-F566F99FDE8A}">
      <dgm:prSet/>
      <dgm:spPr/>
      <dgm:t>
        <a:bodyPr/>
        <a:lstStyle/>
        <a:p>
          <a:endParaRPr lang="en-US"/>
        </a:p>
      </dgm:t>
    </dgm:pt>
    <dgm:pt modelId="{BA1E0D87-F6F8-4BC1-889C-867979344231}" type="sibTrans" cxnId="{5C978D63-4213-417C-8451-F566F99FDE8A}">
      <dgm:prSet/>
      <dgm:spPr/>
      <dgm:t>
        <a:bodyPr/>
        <a:lstStyle/>
        <a:p>
          <a:endParaRPr lang="en-US"/>
        </a:p>
      </dgm:t>
    </dgm:pt>
    <dgm:pt modelId="{A91B7E4A-D47B-49EB-870B-1922ED44E1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agent couldn’t grasp the complexity of the market and how the population changed, leading to losing trades.</a:t>
          </a:r>
        </a:p>
      </dgm:t>
    </dgm:pt>
    <dgm:pt modelId="{A6055118-CF25-41AF-AA9E-9D380721BDC7}" type="parTrans" cxnId="{EEDA5FEC-3C7E-45F0-9558-BF4058BB432F}">
      <dgm:prSet/>
      <dgm:spPr/>
      <dgm:t>
        <a:bodyPr/>
        <a:lstStyle/>
        <a:p>
          <a:endParaRPr lang="en-US"/>
        </a:p>
      </dgm:t>
    </dgm:pt>
    <dgm:pt modelId="{E15E46FF-A271-44DF-A99C-BC1215BB006B}" type="sibTrans" cxnId="{EEDA5FEC-3C7E-45F0-9558-BF4058BB432F}">
      <dgm:prSet/>
      <dgm:spPr/>
      <dgm:t>
        <a:bodyPr/>
        <a:lstStyle/>
        <a:p>
          <a:endParaRPr lang="en-US"/>
        </a:p>
      </dgm:t>
    </dgm:pt>
    <dgm:pt modelId="{92C88E0C-839B-428F-830D-0EC4090618C1}">
      <dgm:prSet/>
      <dgm:spPr/>
      <dgm:t>
        <a:bodyPr/>
        <a:lstStyle/>
        <a:p>
          <a:r>
            <a:rPr lang="en-US" b="1"/>
            <a:t>Deep Learning</a:t>
          </a:r>
          <a:endParaRPr lang="en-US"/>
        </a:p>
      </dgm:t>
    </dgm:pt>
    <dgm:pt modelId="{FB0DB8F2-98EB-4F07-836A-9FDAF281B239}" type="parTrans" cxnId="{78F6A7DE-1C17-4B64-ABC3-E6772B2E124A}">
      <dgm:prSet/>
      <dgm:spPr/>
      <dgm:t>
        <a:bodyPr/>
        <a:lstStyle/>
        <a:p>
          <a:endParaRPr lang="en-US"/>
        </a:p>
      </dgm:t>
    </dgm:pt>
    <dgm:pt modelId="{B8D5E840-199A-4B8D-9C12-58251EF751D9}" type="sibTrans" cxnId="{78F6A7DE-1C17-4B64-ABC3-E6772B2E124A}">
      <dgm:prSet/>
      <dgm:spPr/>
      <dgm:t>
        <a:bodyPr/>
        <a:lstStyle/>
        <a:p>
          <a:endParaRPr lang="en-US"/>
        </a:p>
      </dgm:t>
    </dgm:pt>
    <dgm:pt modelId="{15C791E3-0F21-4EC9-9765-326ACADF45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switched to Deep Q-Networks (DQN) using TensorFlow to handle continuous data streams (RSI, Momentum, Exact Inventory).</a:t>
          </a:r>
        </a:p>
      </dgm:t>
    </dgm:pt>
    <dgm:pt modelId="{4E57148E-359A-4BA6-B207-50CFCAA63A8C}" type="parTrans" cxnId="{600FFA42-9620-4B75-A5A3-E68336E72D37}">
      <dgm:prSet/>
      <dgm:spPr/>
      <dgm:t>
        <a:bodyPr/>
        <a:lstStyle/>
        <a:p>
          <a:endParaRPr lang="en-US"/>
        </a:p>
      </dgm:t>
    </dgm:pt>
    <dgm:pt modelId="{74A35C53-512B-4CB3-89CD-AE1715D3D7B7}" type="sibTrans" cxnId="{600FFA42-9620-4B75-A5A3-E68336E72D37}">
      <dgm:prSet/>
      <dgm:spPr/>
      <dgm:t>
        <a:bodyPr/>
        <a:lstStyle/>
        <a:p>
          <a:endParaRPr lang="en-US"/>
        </a:p>
      </dgm:t>
    </dgm:pt>
    <dgm:pt modelId="{B1BE03DA-86C1-4739-A820-E71FCFFFC0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Neural Network learned to make money but struggled with safety. It would hoard stock hoping for a price jump, risking a total account blow-up. </a:t>
          </a:r>
        </a:p>
      </dgm:t>
    </dgm:pt>
    <dgm:pt modelId="{2FD225B7-28A9-4019-A26F-0F34C8C9FEF0}" type="parTrans" cxnId="{6211F2FE-91C8-4096-83CC-362D57596093}">
      <dgm:prSet/>
      <dgm:spPr/>
      <dgm:t>
        <a:bodyPr/>
        <a:lstStyle/>
        <a:p>
          <a:endParaRPr lang="en-US"/>
        </a:p>
      </dgm:t>
    </dgm:pt>
    <dgm:pt modelId="{7FFD3DD5-CBD1-4C13-8BA5-6DFEA2DA50A4}" type="sibTrans" cxnId="{6211F2FE-91C8-4096-83CC-362D57596093}">
      <dgm:prSet/>
      <dgm:spPr/>
      <dgm:t>
        <a:bodyPr/>
        <a:lstStyle/>
        <a:p>
          <a:endParaRPr lang="en-US"/>
        </a:p>
      </dgm:t>
    </dgm:pt>
    <dgm:pt modelId="{3E4DA9A7-E746-4CFB-AF21-597036DBA02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treated volatility as high and low, and rounded inventory to the nearest integer.</a:t>
          </a:r>
        </a:p>
      </dgm:t>
    </dgm:pt>
    <dgm:pt modelId="{1F689E1C-5D1C-4581-B7E1-23D231191374}" type="parTrans" cxnId="{CDD87A5F-FCC2-436A-8C48-434F0D953077}">
      <dgm:prSet/>
      <dgm:spPr/>
    </dgm:pt>
    <dgm:pt modelId="{FF88C947-552D-407A-8AC6-7A1307AFC5D5}" type="sibTrans" cxnId="{CDD87A5F-FCC2-436A-8C48-434F0D953077}">
      <dgm:prSet/>
      <dgm:spPr/>
    </dgm:pt>
    <dgm:pt modelId="{E94A4222-E2E1-480D-B4A1-CF6865DBEBE9}" type="pres">
      <dgm:prSet presAssocID="{007F0B82-8502-4779-B367-90D85B175B0C}" presName="Name0" presStyleCnt="0">
        <dgm:presLayoutVars>
          <dgm:dir/>
          <dgm:animLvl val="lvl"/>
          <dgm:resizeHandles val="exact"/>
        </dgm:presLayoutVars>
      </dgm:prSet>
      <dgm:spPr/>
    </dgm:pt>
    <dgm:pt modelId="{F483A111-30E7-4E11-8471-1E506B5A8C02}" type="pres">
      <dgm:prSet presAssocID="{17A428FB-5BB8-449A-8CFB-B83F1BA4D3A7}" presName="composite" presStyleCnt="0"/>
      <dgm:spPr/>
    </dgm:pt>
    <dgm:pt modelId="{5EB7597D-5318-4B72-B6EB-DC8122BAE7C1}" type="pres">
      <dgm:prSet presAssocID="{17A428FB-5BB8-449A-8CFB-B83F1BA4D3A7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C8ADB559-AA57-4048-88FD-3483EE2C3973}" type="pres">
      <dgm:prSet presAssocID="{17A428FB-5BB8-449A-8CFB-B83F1BA4D3A7}" presName="desTx" presStyleLbl="alignAccFollowNode1" presStyleIdx="0" presStyleCnt="2">
        <dgm:presLayoutVars>
          <dgm:bulletEnabled val="1"/>
        </dgm:presLayoutVars>
      </dgm:prSet>
      <dgm:spPr/>
    </dgm:pt>
    <dgm:pt modelId="{C98B596C-D4DB-4A64-A8ED-ED55196F11BD}" type="pres">
      <dgm:prSet presAssocID="{959C37FC-9B0C-40F9-8D52-ED890FDFB402}" presName="space" presStyleCnt="0"/>
      <dgm:spPr/>
    </dgm:pt>
    <dgm:pt modelId="{B8985FFE-B036-4C25-81B0-8E3123D5F3E3}" type="pres">
      <dgm:prSet presAssocID="{92C88E0C-839B-428F-830D-0EC4090618C1}" presName="composite" presStyleCnt="0"/>
      <dgm:spPr/>
    </dgm:pt>
    <dgm:pt modelId="{D8E34134-DE2F-40D5-9AE0-8B06F28FAE46}" type="pres">
      <dgm:prSet presAssocID="{92C88E0C-839B-428F-830D-0EC4090618C1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ABB1207D-8436-46E2-9F16-B8A1CBA68545}" type="pres">
      <dgm:prSet presAssocID="{92C88E0C-839B-428F-830D-0EC4090618C1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47FBC239-9609-46B6-A32A-EA80A9226DB8}" type="presOf" srcId="{92C88E0C-839B-428F-830D-0EC4090618C1}" destId="{D8E34134-DE2F-40D5-9AE0-8B06F28FAE46}" srcOrd="0" destOrd="0" presId="urn:microsoft.com/office/officeart/2005/8/layout/hList1"/>
    <dgm:cxn modelId="{E475E43A-7065-499A-AE52-6A16899D530B}" type="presOf" srcId="{A91B7E4A-D47B-49EB-870B-1922ED44E1B3}" destId="{C8ADB559-AA57-4048-88FD-3483EE2C3973}" srcOrd="0" destOrd="2" presId="urn:microsoft.com/office/officeart/2005/8/layout/hList1"/>
    <dgm:cxn modelId="{4C63825B-808B-492E-9EA4-BE7D556970EB}" srcId="{007F0B82-8502-4779-B367-90D85B175B0C}" destId="{17A428FB-5BB8-449A-8CFB-B83F1BA4D3A7}" srcOrd="0" destOrd="0" parTransId="{0D3D0837-37B9-4840-B7EC-F4A51D804F58}" sibTransId="{959C37FC-9B0C-40F9-8D52-ED890FDFB402}"/>
    <dgm:cxn modelId="{CDD87A5F-FCC2-436A-8C48-434F0D953077}" srcId="{17A428FB-5BB8-449A-8CFB-B83F1BA4D3A7}" destId="{3E4DA9A7-E746-4CFB-AF21-597036DBA020}" srcOrd="1" destOrd="0" parTransId="{1F689E1C-5D1C-4581-B7E1-23D231191374}" sibTransId="{FF88C947-552D-407A-8AC6-7A1307AFC5D5}"/>
    <dgm:cxn modelId="{600FFA42-9620-4B75-A5A3-E68336E72D37}" srcId="{92C88E0C-839B-428F-830D-0EC4090618C1}" destId="{15C791E3-0F21-4EC9-9765-326ACADF4550}" srcOrd="0" destOrd="0" parTransId="{4E57148E-359A-4BA6-B207-50CFCAA63A8C}" sibTransId="{74A35C53-512B-4CB3-89CD-AE1715D3D7B7}"/>
    <dgm:cxn modelId="{5C978D63-4213-417C-8451-F566F99FDE8A}" srcId="{17A428FB-5BB8-449A-8CFB-B83F1BA4D3A7}" destId="{1D6CA4BB-FE90-4658-934E-D33D7787DE87}" srcOrd="0" destOrd="0" parTransId="{7598AF1C-4392-4E35-9287-CD2829FE4786}" sibTransId="{BA1E0D87-F6F8-4BC1-889C-867979344231}"/>
    <dgm:cxn modelId="{F666D550-E1BE-4278-8403-0EBCF913479D}" type="presOf" srcId="{17A428FB-5BB8-449A-8CFB-B83F1BA4D3A7}" destId="{5EB7597D-5318-4B72-B6EB-DC8122BAE7C1}" srcOrd="0" destOrd="0" presId="urn:microsoft.com/office/officeart/2005/8/layout/hList1"/>
    <dgm:cxn modelId="{6701CA78-1F09-4338-8E7F-8249A0F26D07}" type="presOf" srcId="{3E4DA9A7-E746-4CFB-AF21-597036DBA020}" destId="{C8ADB559-AA57-4048-88FD-3483EE2C3973}" srcOrd="0" destOrd="1" presId="urn:microsoft.com/office/officeart/2005/8/layout/hList1"/>
    <dgm:cxn modelId="{1225B8A6-D3FB-4BF4-AE77-9CF008CC8977}" type="presOf" srcId="{B1BE03DA-86C1-4739-A820-E71FCFFFC0E9}" destId="{ABB1207D-8436-46E2-9F16-B8A1CBA68545}" srcOrd="0" destOrd="1" presId="urn:microsoft.com/office/officeart/2005/8/layout/hList1"/>
    <dgm:cxn modelId="{316FDABA-664C-4C6C-BB19-A364A6873EDE}" type="presOf" srcId="{007F0B82-8502-4779-B367-90D85B175B0C}" destId="{E94A4222-E2E1-480D-B4A1-CF6865DBEBE9}" srcOrd="0" destOrd="0" presId="urn:microsoft.com/office/officeart/2005/8/layout/hList1"/>
    <dgm:cxn modelId="{62A438CA-CBE5-435E-835C-95F4632CFF49}" type="presOf" srcId="{1D6CA4BB-FE90-4658-934E-D33D7787DE87}" destId="{C8ADB559-AA57-4048-88FD-3483EE2C3973}" srcOrd="0" destOrd="0" presId="urn:microsoft.com/office/officeart/2005/8/layout/hList1"/>
    <dgm:cxn modelId="{78F6A7DE-1C17-4B64-ABC3-E6772B2E124A}" srcId="{007F0B82-8502-4779-B367-90D85B175B0C}" destId="{92C88E0C-839B-428F-830D-0EC4090618C1}" srcOrd="1" destOrd="0" parTransId="{FB0DB8F2-98EB-4F07-836A-9FDAF281B239}" sibTransId="{B8D5E840-199A-4B8D-9C12-58251EF751D9}"/>
    <dgm:cxn modelId="{8FCD2FE5-6A33-4E33-83CE-757A8A361354}" type="presOf" srcId="{15C791E3-0F21-4EC9-9765-326ACADF4550}" destId="{ABB1207D-8436-46E2-9F16-B8A1CBA68545}" srcOrd="0" destOrd="0" presId="urn:microsoft.com/office/officeart/2005/8/layout/hList1"/>
    <dgm:cxn modelId="{EEDA5FEC-3C7E-45F0-9558-BF4058BB432F}" srcId="{17A428FB-5BB8-449A-8CFB-B83F1BA4D3A7}" destId="{A91B7E4A-D47B-49EB-870B-1922ED44E1B3}" srcOrd="2" destOrd="0" parTransId="{A6055118-CF25-41AF-AA9E-9D380721BDC7}" sibTransId="{E15E46FF-A271-44DF-A99C-BC1215BB006B}"/>
    <dgm:cxn modelId="{6211F2FE-91C8-4096-83CC-362D57596093}" srcId="{92C88E0C-839B-428F-830D-0EC4090618C1}" destId="{B1BE03DA-86C1-4739-A820-E71FCFFFC0E9}" srcOrd="1" destOrd="0" parTransId="{2FD225B7-28A9-4019-A26F-0F34C8C9FEF0}" sibTransId="{7FFD3DD5-CBD1-4C13-8BA5-6DFEA2DA50A4}"/>
    <dgm:cxn modelId="{FE59EA91-6486-4C43-922D-67AA26D2AB6F}" type="presParOf" srcId="{E94A4222-E2E1-480D-B4A1-CF6865DBEBE9}" destId="{F483A111-30E7-4E11-8471-1E506B5A8C02}" srcOrd="0" destOrd="0" presId="urn:microsoft.com/office/officeart/2005/8/layout/hList1"/>
    <dgm:cxn modelId="{5FB580FC-B5BA-4488-922F-1D23F46A6318}" type="presParOf" srcId="{F483A111-30E7-4E11-8471-1E506B5A8C02}" destId="{5EB7597D-5318-4B72-B6EB-DC8122BAE7C1}" srcOrd="0" destOrd="0" presId="urn:microsoft.com/office/officeart/2005/8/layout/hList1"/>
    <dgm:cxn modelId="{00215942-8302-433E-920C-80583D2BB219}" type="presParOf" srcId="{F483A111-30E7-4E11-8471-1E506B5A8C02}" destId="{C8ADB559-AA57-4048-88FD-3483EE2C3973}" srcOrd="1" destOrd="0" presId="urn:microsoft.com/office/officeart/2005/8/layout/hList1"/>
    <dgm:cxn modelId="{8D50910E-0220-4BFB-B593-8386702CE9EE}" type="presParOf" srcId="{E94A4222-E2E1-480D-B4A1-CF6865DBEBE9}" destId="{C98B596C-D4DB-4A64-A8ED-ED55196F11BD}" srcOrd="1" destOrd="0" presId="urn:microsoft.com/office/officeart/2005/8/layout/hList1"/>
    <dgm:cxn modelId="{968CFEF2-FAF7-4F84-834E-FB0E6CF7BA55}" type="presParOf" srcId="{E94A4222-E2E1-480D-B4A1-CF6865DBEBE9}" destId="{B8985FFE-B036-4C25-81B0-8E3123D5F3E3}" srcOrd="2" destOrd="0" presId="urn:microsoft.com/office/officeart/2005/8/layout/hList1"/>
    <dgm:cxn modelId="{D6CE7E09-FCAA-4FFA-967A-57AC90F96481}" type="presParOf" srcId="{B8985FFE-B036-4C25-81B0-8E3123D5F3E3}" destId="{D8E34134-DE2F-40D5-9AE0-8B06F28FAE46}" srcOrd="0" destOrd="0" presId="urn:microsoft.com/office/officeart/2005/8/layout/hList1"/>
    <dgm:cxn modelId="{26A8439A-C29E-497C-BD1B-558DE96767A8}" type="presParOf" srcId="{B8985FFE-B036-4C25-81B0-8E3123D5F3E3}" destId="{ABB1207D-8436-46E2-9F16-B8A1CBA6854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84B3F22-4C6C-4D33-9F67-0A0598B2D328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F55427A-7611-4AFA-8130-7AE653A2DB92}">
      <dgm:prSet/>
      <dgm:spPr/>
      <dgm:t>
        <a:bodyPr/>
        <a:lstStyle/>
        <a:p>
          <a:r>
            <a:rPr lang="en-US" dirty="0"/>
            <a:t>We utilize a standard Feed-Forward Neural Network (MLP).</a:t>
          </a:r>
        </a:p>
        <a:p>
          <a:r>
            <a:rPr lang="en-US" dirty="0"/>
            <a:t>6-unit input layer → 64-unit hidden layer → 5-unit output layer.</a:t>
          </a:r>
        </a:p>
      </dgm:t>
    </dgm:pt>
    <dgm:pt modelId="{4CF4728B-3D9F-4DE1-A836-C7CBB69A168C}" type="parTrans" cxnId="{FFA4CC59-9936-4068-B8E3-37C9C3452EEE}">
      <dgm:prSet/>
      <dgm:spPr/>
      <dgm:t>
        <a:bodyPr/>
        <a:lstStyle/>
        <a:p>
          <a:endParaRPr lang="en-US"/>
        </a:p>
      </dgm:t>
    </dgm:pt>
    <dgm:pt modelId="{C686A7FC-44E0-4CA8-985A-93CF081E55C4}" type="sibTrans" cxnId="{FFA4CC59-9936-4068-B8E3-37C9C3452EEE}">
      <dgm:prSet/>
      <dgm:spPr/>
      <dgm:t>
        <a:bodyPr/>
        <a:lstStyle/>
        <a:p>
          <a:endParaRPr lang="en-US"/>
        </a:p>
      </dgm:t>
    </dgm:pt>
    <dgm:pt modelId="{0C636064-85CE-4D71-A792-DF773D4D2F45}">
      <dgm:prSet/>
      <dgm:spPr/>
      <dgm:t>
        <a:bodyPr/>
        <a:lstStyle/>
        <a:p>
          <a:r>
            <a:rPr lang="en-US" dirty="0"/>
            <a:t>The agent observes 6 features: Volatility, RSI, Momentum, Normalized Volume, Inventory, and Time Remaining.</a:t>
          </a:r>
        </a:p>
        <a:p>
          <a:r>
            <a:rPr lang="en-US" b="0" dirty="0"/>
            <a:t>The output of the network is a bid/ask spread combination to quote into the market.</a:t>
          </a:r>
          <a:endParaRPr lang="en-US" dirty="0"/>
        </a:p>
      </dgm:t>
    </dgm:pt>
    <dgm:pt modelId="{CC6E9151-1D93-4465-A60A-552EBA5C56BB}" type="parTrans" cxnId="{E18F49AA-C238-4433-87B5-3D6AEE997A56}">
      <dgm:prSet/>
      <dgm:spPr/>
      <dgm:t>
        <a:bodyPr/>
        <a:lstStyle/>
        <a:p>
          <a:endParaRPr lang="en-US"/>
        </a:p>
      </dgm:t>
    </dgm:pt>
    <dgm:pt modelId="{C6E1DE2B-95F2-406C-83DB-2B6E4DAE958B}" type="sibTrans" cxnId="{E18F49AA-C238-4433-87B5-3D6AEE997A56}">
      <dgm:prSet/>
      <dgm:spPr/>
      <dgm:t>
        <a:bodyPr/>
        <a:lstStyle/>
        <a:p>
          <a:endParaRPr lang="en-US"/>
        </a:p>
      </dgm:t>
    </dgm:pt>
    <dgm:pt modelId="{454BD57C-E7FC-4A7A-932C-98442448485B}">
      <dgm:prSet/>
      <dgm:spPr/>
      <dgm:t>
        <a:bodyPr/>
        <a:lstStyle/>
        <a:p>
          <a:r>
            <a:rPr lang="en-US" dirty="0"/>
            <a:t>We use </a:t>
          </a:r>
          <a:r>
            <a:rPr lang="en-US" dirty="0" err="1"/>
            <a:t>ReLU</a:t>
          </a:r>
          <a:r>
            <a:rPr lang="en-US" dirty="0"/>
            <a:t> instead of sigmoid because it handles non-linear patterns more simply and effectively.</a:t>
          </a:r>
        </a:p>
      </dgm:t>
    </dgm:pt>
    <dgm:pt modelId="{4DC6BE0B-FB8D-4D8E-9374-B9C4EF033177}" type="parTrans" cxnId="{E5152257-F390-46A1-A187-42C8013C0C4F}">
      <dgm:prSet/>
      <dgm:spPr/>
      <dgm:t>
        <a:bodyPr/>
        <a:lstStyle/>
        <a:p>
          <a:endParaRPr lang="en-US"/>
        </a:p>
      </dgm:t>
    </dgm:pt>
    <dgm:pt modelId="{9184F552-F27F-4C3B-89B2-0A0AE05F1492}" type="sibTrans" cxnId="{E5152257-F390-46A1-A187-42C8013C0C4F}">
      <dgm:prSet/>
      <dgm:spPr/>
      <dgm:t>
        <a:bodyPr/>
        <a:lstStyle/>
        <a:p>
          <a:endParaRPr lang="en-US"/>
        </a:p>
      </dgm:t>
    </dgm:pt>
    <dgm:pt modelId="{BCF10903-1A78-4DC3-99AD-6C60D093C626}" type="pres">
      <dgm:prSet presAssocID="{084B3F22-4C6C-4D33-9F67-0A0598B2D328}" presName="vert0" presStyleCnt="0">
        <dgm:presLayoutVars>
          <dgm:dir/>
          <dgm:animOne val="branch"/>
          <dgm:animLvl val="lvl"/>
        </dgm:presLayoutVars>
      </dgm:prSet>
      <dgm:spPr/>
    </dgm:pt>
    <dgm:pt modelId="{074DD74A-E0D7-4B47-8652-4E391023E0C6}" type="pres">
      <dgm:prSet presAssocID="{FF55427A-7611-4AFA-8130-7AE653A2DB92}" presName="thickLine" presStyleLbl="alignNode1" presStyleIdx="0" presStyleCnt="3"/>
      <dgm:spPr/>
    </dgm:pt>
    <dgm:pt modelId="{52F684C4-4412-4129-977F-54AD935A744D}" type="pres">
      <dgm:prSet presAssocID="{FF55427A-7611-4AFA-8130-7AE653A2DB92}" presName="horz1" presStyleCnt="0"/>
      <dgm:spPr/>
    </dgm:pt>
    <dgm:pt modelId="{4835DA63-03B7-4840-818D-C797D50333D4}" type="pres">
      <dgm:prSet presAssocID="{FF55427A-7611-4AFA-8130-7AE653A2DB92}" presName="tx1" presStyleLbl="revTx" presStyleIdx="0" presStyleCnt="3"/>
      <dgm:spPr/>
    </dgm:pt>
    <dgm:pt modelId="{251AFAC8-FC94-48FF-AFEF-787DF8A23374}" type="pres">
      <dgm:prSet presAssocID="{FF55427A-7611-4AFA-8130-7AE653A2DB92}" presName="vert1" presStyleCnt="0"/>
      <dgm:spPr/>
    </dgm:pt>
    <dgm:pt modelId="{C2829D2C-4B90-4B06-9B3E-8CDB16D6AF5D}" type="pres">
      <dgm:prSet presAssocID="{0C636064-85CE-4D71-A792-DF773D4D2F45}" presName="thickLine" presStyleLbl="alignNode1" presStyleIdx="1" presStyleCnt="3"/>
      <dgm:spPr/>
    </dgm:pt>
    <dgm:pt modelId="{BBE5B5E6-8BC5-41FF-9377-4FE851EE5DC8}" type="pres">
      <dgm:prSet presAssocID="{0C636064-85CE-4D71-A792-DF773D4D2F45}" presName="horz1" presStyleCnt="0"/>
      <dgm:spPr/>
    </dgm:pt>
    <dgm:pt modelId="{3453FEE3-2F02-4880-95F3-A5B4B836E1CE}" type="pres">
      <dgm:prSet presAssocID="{0C636064-85CE-4D71-A792-DF773D4D2F45}" presName="tx1" presStyleLbl="revTx" presStyleIdx="1" presStyleCnt="3"/>
      <dgm:spPr/>
    </dgm:pt>
    <dgm:pt modelId="{81B403A9-A7C0-495C-BD65-60303B9F1F43}" type="pres">
      <dgm:prSet presAssocID="{0C636064-85CE-4D71-A792-DF773D4D2F45}" presName="vert1" presStyleCnt="0"/>
      <dgm:spPr/>
    </dgm:pt>
    <dgm:pt modelId="{8498D9B1-2C2C-4A76-98FB-8AF35398B648}" type="pres">
      <dgm:prSet presAssocID="{454BD57C-E7FC-4A7A-932C-98442448485B}" presName="thickLine" presStyleLbl="alignNode1" presStyleIdx="2" presStyleCnt="3"/>
      <dgm:spPr/>
    </dgm:pt>
    <dgm:pt modelId="{B29A98E2-8AB9-461B-9D32-D5FB2174B669}" type="pres">
      <dgm:prSet presAssocID="{454BD57C-E7FC-4A7A-932C-98442448485B}" presName="horz1" presStyleCnt="0"/>
      <dgm:spPr/>
    </dgm:pt>
    <dgm:pt modelId="{836B1DE6-0772-4811-A25F-4598AAEC72B2}" type="pres">
      <dgm:prSet presAssocID="{454BD57C-E7FC-4A7A-932C-98442448485B}" presName="tx1" presStyleLbl="revTx" presStyleIdx="2" presStyleCnt="3"/>
      <dgm:spPr/>
    </dgm:pt>
    <dgm:pt modelId="{1D62F566-D43A-45EA-AE94-24483856EC8D}" type="pres">
      <dgm:prSet presAssocID="{454BD57C-E7FC-4A7A-932C-98442448485B}" presName="vert1" presStyleCnt="0"/>
      <dgm:spPr/>
    </dgm:pt>
  </dgm:ptLst>
  <dgm:cxnLst>
    <dgm:cxn modelId="{EE48DD61-0774-463D-A42B-64D8B76A3AFD}" type="presOf" srcId="{084B3F22-4C6C-4D33-9F67-0A0598B2D328}" destId="{BCF10903-1A78-4DC3-99AD-6C60D093C626}" srcOrd="0" destOrd="0" presId="urn:microsoft.com/office/officeart/2008/layout/LinedList"/>
    <dgm:cxn modelId="{705DA06C-526C-4630-A61F-3A41A111B8F4}" type="presOf" srcId="{454BD57C-E7FC-4A7A-932C-98442448485B}" destId="{836B1DE6-0772-4811-A25F-4598AAEC72B2}" srcOrd="0" destOrd="0" presId="urn:microsoft.com/office/officeart/2008/layout/LinedList"/>
    <dgm:cxn modelId="{E5152257-F390-46A1-A187-42C8013C0C4F}" srcId="{084B3F22-4C6C-4D33-9F67-0A0598B2D328}" destId="{454BD57C-E7FC-4A7A-932C-98442448485B}" srcOrd="2" destOrd="0" parTransId="{4DC6BE0B-FB8D-4D8E-9374-B9C4EF033177}" sibTransId="{9184F552-F27F-4C3B-89B2-0A0AE05F1492}"/>
    <dgm:cxn modelId="{FFA4CC59-9936-4068-B8E3-37C9C3452EEE}" srcId="{084B3F22-4C6C-4D33-9F67-0A0598B2D328}" destId="{FF55427A-7611-4AFA-8130-7AE653A2DB92}" srcOrd="0" destOrd="0" parTransId="{4CF4728B-3D9F-4DE1-A836-C7CBB69A168C}" sibTransId="{C686A7FC-44E0-4CA8-985A-93CF081E55C4}"/>
    <dgm:cxn modelId="{E18F49AA-C238-4433-87B5-3D6AEE997A56}" srcId="{084B3F22-4C6C-4D33-9F67-0A0598B2D328}" destId="{0C636064-85CE-4D71-A792-DF773D4D2F45}" srcOrd="1" destOrd="0" parTransId="{CC6E9151-1D93-4465-A60A-552EBA5C56BB}" sibTransId="{C6E1DE2B-95F2-406C-83DB-2B6E4DAE958B}"/>
    <dgm:cxn modelId="{EACFABE6-6033-4F9A-95A5-5DD2180D37E5}" type="presOf" srcId="{0C636064-85CE-4D71-A792-DF773D4D2F45}" destId="{3453FEE3-2F02-4880-95F3-A5B4B836E1CE}" srcOrd="0" destOrd="0" presId="urn:microsoft.com/office/officeart/2008/layout/LinedList"/>
    <dgm:cxn modelId="{5BE2C3F3-5DAC-458D-B7BF-0AFF6DD0F925}" type="presOf" srcId="{FF55427A-7611-4AFA-8130-7AE653A2DB92}" destId="{4835DA63-03B7-4840-818D-C797D50333D4}" srcOrd="0" destOrd="0" presId="urn:microsoft.com/office/officeart/2008/layout/LinedList"/>
    <dgm:cxn modelId="{7A89FBC7-FDF9-459F-AEFD-4C10D428F9DE}" type="presParOf" srcId="{BCF10903-1A78-4DC3-99AD-6C60D093C626}" destId="{074DD74A-E0D7-4B47-8652-4E391023E0C6}" srcOrd="0" destOrd="0" presId="urn:microsoft.com/office/officeart/2008/layout/LinedList"/>
    <dgm:cxn modelId="{37C8B018-9F1F-4399-A61D-67EFDB8CE9DB}" type="presParOf" srcId="{BCF10903-1A78-4DC3-99AD-6C60D093C626}" destId="{52F684C4-4412-4129-977F-54AD935A744D}" srcOrd="1" destOrd="0" presId="urn:microsoft.com/office/officeart/2008/layout/LinedList"/>
    <dgm:cxn modelId="{05619E7A-C4D7-43ED-A9A2-51B2CE25A13F}" type="presParOf" srcId="{52F684C4-4412-4129-977F-54AD935A744D}" destId="{4835DA63-03B7-4840-818D-C797D50333D4}" srcOrd="0" destOrd="0" presId="urn:microsoft.com/office/officeart/2008/layout/LinedList"/>
    <dgm:cxn modelId="{7B504E1F-7E88-4CC6-885C-36A3B36B7E6F}" type="presParOf" srcId="{52F684C4-4412-4129-977F-54AD935A744D}" destId="{251AFAC8-FC94-48FF-AFEF-787DF8A23374}" srcOrd="1" destOrd="0" presId="urn:microsoft.com/office/officeart/2008/layout/LinedList"/>
    <dgm:cxn modelId="{456A280C-B035-430A-9408-C27D1A215C59}" type="presParOf" srcId="{BCF10903-1A78-4DC3-99AD-6C60D093C626}" destId="{C2829D2C-4B90-4B06-9B3E-8CDB16D6AF5D}" srcOrd="2" destOrd="0" presId="urn:microsoft.com/office/officeart/2008/layout/LinedList"/>
    <dgm:cxn modelId="{3095691E-438C-43D8-8C09-EBAE7FBA43A1}" type="presParOf" srcId="{BCF10903-1A78-4DC3-99AD-6C60D093C626}" destId="{BBE5B5E6-8BC5-41FF-9377-4FE851EE5DC8}" srcOrd="3" destOrd="0" presId="urn:microsoft.com/office/officeart/2008/layout/LinedList"/>
    <dgm:cxn modelId="{FF886132-BA82-49F5-A322-33CF9B5F88A8}" type="presParOf" srcId="{BBE5B5E6-8BC5-41FF-9377-4FE851EE5DC8}" destId="{3453FEE3-2F02-4880-95F3-A5B4B836E1CE}" srcOrd="0" destOrd="0" presId="urn:microsoft.com/office/officeart/2008/layout/LinedList"/>
    <dgm:cxn modelId="{99FA0C92-D0AB-4FF8-BD9C-1A763B071B94}" type="presParOf" srcId="{BBE5B5E6-8BC5-41FF-9377-4FE851EE5DC8}" destId="{81B403A9-A7C0-495C-BD65-60303B9F1F43}" srcOrd="1" destOrd="0" presId="urn:microsoft.com/office/officeart/2008/layout/LinedList"/>
    <dgm:cxn modelId="{5DBB1339-A8C4-45CF-A52F-B9B73BADC5A8}" type="presParOf" srcId="{BCF10903-1A78-4DC3-99AD-6C60D093C626}" destId="{8498D9B1-2C2C-4A76-98FB-8AF35398B648}" srcOrd="4" destOrd="0" presId="urn:microsoft.com/office/officeart/2008/layout/LinedList"/>
    <dgm:cxn modelId="{367632FC-81F3-4E9E-8EE0-0D7FA2E465C7}" type="presParOf" srcId="{BCF10903-1A78-4DC3-99AD-6C60D093C626}" destId="{B29A98E2-8AB9-461B-9D32-D5FB2174B669}" srcOrd="5" destOrd="0" presId="urn:microsoft.com/office/officeart/2008/layout/LinedList"/>
    <dgm:cxn modelId="{E1D7B6CF-0C93-4647-A9D6-FA14425FA540}" type="presParOf" srcId="{B29A98E2-8AB9-461B-9D32-D5FB2174B669}" destId="{836B1DE6-0772-4811-A25F-4598AAEC72B2}" srcOrd="0" destOrd="0" presId="urn:microsoft.com/office/officeart/2008/layout/LinedList"/>
    <dgm:cxn modelId="{1244037E-7AA5-42BB-BCEA-C53BFC86A41E}" type="presParOf" srcId="{B29A98E2-8AB9-461B-9D32-D5FB2174B669}" destId="{1D62F566-D43A-45EA-AE94-24483856EC8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EA34A17-05E6-4AA0-A007-687C72D6C68D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D5292E-F910-4503-9B3E-7B5679475F1D}">
      <dgm:prSet/>
      <dgm:spPr/>
      <dgm:t>
        <a:bodyPr/>
        <a:lstStyle/>
        <a:p>
          <a:r>
            <a:rPr lang="en-US" b="1" dirty="0"/>
            <a:t>Sensing: </a:t>
          </a:r>
          <a:r>
            <a:rPr lang="en-US" dirty="0"/>
            <a:t>The MLP processes market features (Volatility, RSI).</a:t>
          </a:r>
        </a:p>
      </dgm:t>
    </dgm:pt>
    <dgm:pt modelId="{675C89FD-1FE0-4403-87F2-99FA14E04ADC}" type="parTrans" cxnId="{82BAA022-110F-4736-917A-FF7B1CBE12AB}">
      <dgm:prSet/>
      <dgm:spPr/>
      <dgm:t>
        <a:bodyPr/>
        <a:lstStyle/>
        <a:p>
          <a:endParaRPr lang="en-US"/>
        </a:p>
      </dgm:t>
    </dgm:pt>
    <dgm:pt modelId="{5BF4D6D7-8040-4F2D-B1D2-3E5DA1AD1CAD}" type="sibTrans" cxnId="{82BAA022-110F-4736-917A-FF7B1CBE12AB}">
      <dgm:prSet/>
      <dgm:spPr/>
      <dgm:t>
        <a:bodyPr/>
        <a:lstStyle/>
        <a:p>
          <a:endParaRPr lang="en-US"/>
        </a:p>
      </dgm:t>
    </dgm:pt>
    <dgm:pt modelId="{9BDC8580-1435-47A0-9B87-31F5D957F343}">
      <dgm:prSet/>
      <dgm:spPr/>
      <dgm:t>
        <a:bodyPr/>
        <a:lstStyle/>
        <a:p>
          <a:r>
            <a:rPr lang="en-US" b="1" dirty="0"/>
            <a:t>Action: </a:t>
          </a:r>
          <a:r>
            <a:rPr lang="en-US" dirty="0"/>
            <a:t>The Agent posts a Bid/Ask Spread (e.g., Tight or Wide).</a:t>
          </a:r>
        </a:p>
      </dgm:t>
    </dgm:pt>
    <dgm:pt modelId="{1B04136E-9CF8-48A5-B72C-65BB0AEB0DC4}" type="parTrans" cxnId="{B7C892B0-C141-40A9-A1DD-2806972E1865}">
      <dgm:prSet/>
      <dgm:spPr/>
      <dgm:t>
        <a:bodyPr/>
        <a:lstStyle/>
        <a:p>
          <a:endParaRPr lang="en-US"/>
        </a:p>
      </dgm:t>
    </dgm:pt>
    <dgm:pt modelId="{488C70AB-EA9C-4A3E-8F67-C180AB618B3C}" type="sibTrans" cxnId="{B7C892B0-C141-40A9-A1DD-2806972E1865}">
      <dgm:prSet/>
      <dgm:spPr/>
      <dgm:t>
        <a:bodyPr/>
        <a:lstStyle/>
        <a:p>
          <a:endParaRPr lang="en-US"/>
        </a:p>
      </dgm:t>
    </dgm:pt>
    <dgm:pt modelId="{A2DB583E-B458-4AC8-B1A5-12D886BF7DF3}">
      <dgm:prSet/>
      <dgm:spPr/>
      <dgm:t>
        <a:bodyPr/>
        <a:lstStyle/>
        <a:p>
          <a:r>
            <a:rPr lang="en-US" b="1"/>
            <a:t>Reaction: </a:t>
          </a:r>
          <a:r>
            <a:rPr lang="en-US"/>
            <a:t>The EGT population evaluates the price; trades execute if quotes cross.</a:t>
          </a:r>
        </a:p>
      </dgm:t>
    </dgm:pt>
    <dgm:pt modelId="{CF160C6E-AF47-4947-BA10-5CC36442CE3F}" type="parTrans" cxnId="{B9AC7B81-D7BE-47B3-83DF-CEF745463436}">
      <dgm:prSet/>
      <dgm:spPr/>
      <dgm:t>
        <a:bodyPr/>
        <a:lstStyle/>
        <a:p>
          <a:endParaRPr lang="en-US"/>
        </a:p>
      </dgm:t>
    </dgm:pt>
    <dgm:pt modelId="{FD23B30F-2526-4161-A15F-90B220F2C5DE}" type="sibTrans" cxnId="{B9AC7B81-D7BE-47B3-83DF-CEF745463436}">
      <dgm:prSet/>
      <dgm:spPr/>
      <dgm:t>
        <a:bodyPr/>
        <a:lstStyle/>
        <a:p>
          <a:endParaRPr lang="en-US"/>
        </a:p>
      </dgm:t>
    </dgm:pt>
    <dgm:pt modelId="{26173A77-0C2C-40D8-AA10-747CC735C0AC}">
      <dgm:prSet/>
      <dgm:spPr/>
      <dgm:t>
        <a:bodyPr/>
        <a:lstStyle/>
        <a:p>
          <a:r>
            <a:rPr lang="en-US" b="1" dirty="0"/>
            <a:t>Feedback:</a:t>
          </a:r>
          <a:endParaRPr lang="en-US" dirty="0"/>
        </a:p>
      </dgm:t>
    </dgm:pt>
    <dgm:pt modelId="{FC8E9AE4-4175-402F-BA63-9079E4681674}" type="parTrans" cxnId="{35BFE025-844B-4CD1-9319-219A01376240}">
      <dgm:prSet/>
      <dgm:spPr/>
      <dgm:t>
        <a:bodyPr/>
        <a:lstStyle/>
        <a:p>
          <a:endParaRPr lang="en-US"/>
        </a:p>
      </dgm:t>
    </dgm:pt>
    <dgm:pt modelId="{33B25E3B-DB28-4FA2-9223-2C5FBA2AE5E6}" type="sibTrans" cxnId="{35BFE025-844B-4CD1-9319-219A01376240}">
      <dgm:prSet/>
      <dgm:spPr/>
      <dgm:t>
        <a:bodyPr/>
        <a:lstStyle/>
        <a:p>
          <a:endParaRPr lang="en-US"/>
        </a:p>
      </dgm:t>
    </dgm:pt>
    <dgm:pt modelId="{A5F777A9-4B0D-4E7C-A0F1-8BC51A42B2E7}">
      <dgm:prSet/>
      <dgm:spPr/>
      <dgm:t>
        <a:bodyPr/>
        <a:lstStyle/>
        <a:p>
          <a:r>
            <a:rPr lang="en-US"/>
            <a:t>Agent receives Reward (Profit - Risk).</a:t>
          </a:r>
        </a:p>
      </dgm:t>
    </dgm:pt>
    <dgm:pt modelId="{324078FF-D43C-4703-A725-0FBF5ACC5354}" type="parTrans" cxnId="{70E46255-2766-4593-BED5-EC6D153E479C}">
      <dgm:prSet/>
      <dgm:spPr/>
      <dgm:t>
        <a:bodyPr/>
        <a:lstStyle/>
        <a:p>
          <a:endParaRPr lang="en-US"/>
        </a:p>
      </dgm:t>
    </dgm:pt>
    <dgm:pt modelId="{522A7A10-CA01-4D91-BBC5-B7A3F96B439F}" type="sibTrans" cxnId="{70E46255-2766-4593-BED5-EC6D153E479C}">
      <dgm:prSet/>
      <dgm:spPr/>
      <dgm:t>
        <a:bodyPr/>
        <a:lstStyle/>
        <a:p>
          <a:endParaRPr lang="en-US"/>
        </a:p>
      </dgm:t>
    </dgm:pt>
    <dgm:pt modelId="{35B1C675-03CB-4843-9C0D-BBB01AE7B4AC}">
      <dgm:prSet/>
      <dgm:spPr/>
      <dgm:t>
        <a:bodyPr/>
        <a:lstStyle/>
        <a:p>
          <a:r>
            <a:rPr lang="en-US"/>
            <a:t>EGT Agents receive Fitness (Profit).</a:t>
          </a:r>
        </a:p>
      </dgm:t>
    </dgm:pt>
    <dgm:pt modelId="{40BD0EA2-E702-48F9-9016-7260DC512E80}" type="parTrans" cxnId="{28C7BC42-D3AD-4425-94C8-A1555C620AFF}">
      <dgm:prSet/>
      <dgm:spPr/>
      <dgm:t>
        <a:bodyPr/>
        <a:lstStyle/>
        <a:p>
          <a:endParaRPr lang="en-US"/>
        </a:p>
      </dgm:t>
    </dgm:pt>
    <dgm:pt modelId="{B7286CC2-B3D9-47BB-B216-66FA5AF0B8F1}" type="sibTrans" cxnId="{28C7BC42-D3AD-4425-94C8-A1555C620AFF}">
      <dgm:prSet/>
      <dgm:spPr/>
      <dgm:t>
        <a:bodyPr/>
        <a:lstStyle/>
        <a:p>
          <a:endParaRPr lang="en-US"/>
        </a:p>
      </dgm:t>
    </dgm:pt>
    <dgm:pt modelId="{6FD81EA5-4BA1-4F22-B4B6-B7BE94AFC321}">
      <dgm:prSet/>
      <dgm:spPr/>
      <dgm:t>
        <a:bodyPr/>
        <a:lstStyle/>
        <a:p>
          <a:r>
            <a:rPr lang="en-US" b="1" dirty="0"/>
            <a:t>Update: </a:t>
          </a:r>
          <a:r>
            <a:rPr lang="en-US" dirty="0"/>
            <a:t>Agent updates Weights (Backprop); Population updates Distribution (Evolution).</a:t>
          </a:r>
        </a:p>
      </dgm:t>
    </dgm:pt>
    <dgm:pt modelId="{2B6A3B99-2327-4A86-AF76-DAECC990BDDC}" type="parTrans" cxnId="{F82412C3-3A28-4111-AC00-CAE4CF3C7057}">
      <dgm:prSet/>
      <dgm:spPr/>
      <dgm:t>
        <a:bodyPr/>
        <a:lstStyle/>
        <a:p>
          <a:endParaRPr lang="en-US"/>
        </a:p>
      </dgm:t>
    </dgm:pt>
    <dgm:pt modelId="{582FF723-1716-4EBF-935B-2DBAE03B3589}" type="sibTrans" cxnId="{F82412C3-3A28-4111-AC00-CAE4CF3C7057}">
      <dgm:prSet/>
      <dgm:spPr/>
      <dgm:t>
        <a:bodyPr/>
        <a:lstStyle/>
        <a:p>
          <a:endParaRPr lang="en-US"/>
        </a:p>
      </dgm:t>
    </dgm:pt>
    <dgm:pt modelId="{81E2190A-997D-4833-9BA5-B2CF2513AC5D}" type="pres">
      <dgm:prSet presAssocID="{4EA34A17-05E6-4AA0-A007-687C72D6C68D}" presName="Name0" presStyleCnt="0">
        <dgm:presLayoutVars>
          <dgm:dir/>
          <dgm:resizeHandles val="exact"/>
        </dgm:presLayoutVars>
      </dgm:prSet>
      <dgm:spPr/>
    </dgm:pt>
    <dgm:pt modelId="{68BCEDE8-03D3-4EAE-BBA6-688C7954350B}" type="pres">
      <dgm:prSet presAssocID="{FED5292E-F910-4503-9B3E-7B5679475F1D}" presName="node" presStyleLbl="node1" presStyleIdx="0" presStyleCnt="5">
        <dgm:presLayoutVars>
          <dgm:bulletEnabled val="1"/>
        </dgm:presLayoutVars>
      </dgm:prSet>
      <dgm:spPr/>
    </dgm:pt>
    <dgm:pt modelId="{F65831CB-4654-4312-832B-838D2A52BB4B}" type="pres">
      <dgm:prSet presAssocID="{5BF4D6D7-8040-4F2D-B1D2-3E5DA1AD1CAD}" presName="sibTrans" presStyleLbl="sibTrans1D1" presStyleIdx="0" presStyleCnt="4"/>
      <dgm:spPr/>
    </dgm:pt>
    <dgm:pt modelId="{1966A24C-5D15-4697-B090-59523CF83D06}" type="pres">
      <dgm:prSet presAssocID="{5BF4D6D7-8040-4F2D-B1D2-3E5DA1AD1CAD}" presName="connectorText" presStyleLbl="sibTrans1D1" presStyleIdx="0" presStyleCnt="4"/>
      <dgm:spPr/>
    </dgm:pt>
    <dgm:pt modelId="{4BB45685-84D9-4670-BCDA-DCBE7D06BF85}" type="pres">
      <dgm:prSet presAssocID="{9BDC8580-1435-47A0-9B87-31F5D957F343}" presName="node" presStyleLbl="node1" presStyleIdx="1" presStyleCnt="5">
        <dgm:presLayoutVars>
          <dgm:bulletEnabled val="1"/>
        </dgm:presLayoutVars>
      </dgm:prSet>
      <dgm:spPr/>
    </dgm:pt>
    <dgm:pt modelId="{AA892CE4-1F06-4A14-9A36-78D5CF05F933}" type="pres">
      <dgm:prSet presAssocID="{488C70AB-EA9C-4A3E-8F67-C180AB618B3C}" presName="sibTrans" presStyleLbl="sibTrans1D1" presStyleIdx="1" presStyleCnt="4"/>
      <dgm:spPr/>
    </dgm:pt>
    <dgm:pt modelId="{709CF7F8-6E46-4FFC-B447-57FE215E45C7}" type="pres">
      <dgm:prSet presAssocID="{488C70AB-EA9C-4A3E-8F67-C180AB618B3C}" presName="connectorText" presStyleLbl="sibTrans1D1" presStyleIdx="1" presStyleCnt="4"/>
      <dgm:spPr/>
    </dgm:pt>
    <dgm:pt modelId="{016B63E6-EE4D-48F1-A914-C2524CF5568A}" type="pres">
      <dgm:prSet presAssocID="{A2DB583E-B458-4AC8-B1A5-12D886BF7DF3}" presName="node" presStyleLbl="node1" presStyleIdx="2" presStyleCnt="5">
        <dgm:presLayoutVars>
          <dgm:bulletEnabled val="1"/>
        </dgm:presLayoutVars>
      </dgm:prSet>
      <dgm:spPr/>
    </dgm:pt>
    <dgm:pt modelId="{193F0DCE-78C7-4312-A8D3-0BB98F7B000E}" type="pres">
      <dgm:prSet presAssocID="{FD23B30F-2526-4161-A15F-90B220F2C5DE}" presName="sibTrans" presStyleLbl="sibTrans1D1" presStyleIdx="2" presStyleCnt="4"/>
      <dgm:spPr/>
    </dgm:pt>
    <dgm:pt modelId="{6F9577B9-1A0A-4B92-949E-EEBB5CDE2D1B}" type="pres">
      <dgm:prSet presAssocID="{FD23B30F-2526-4161-A15F-90B220F2C5DE}" presName="connectorText" presStyleLbl="sibTrans1D1" presStyleIdx="2" presStyleCnt="4"/>
      <dgm:spPr/>
    </dgm:pt>
    <dgm:pt modelId="{E7D0B0BE-B45E-4831-B18A-15BD546088FA}" type="pres">
      <dgm:prSet presAssocID="{26173A77-0C2C-40D8-AA10-747CC735C0AC}" presName="node" presStyleLbl="node1" presStyleIdx="3" presStyleCnt="5">
        <dgm:presLayoutVars>
          <dgm:bulletEnabled val="1"/>
        </dgm:presLayoutVars>
      </dgm:prSet>
      <dgm:spPr/>
    </dgm:pt>
    <dgm:pt modelId="{C31C3A9F-2E4E-4CE3-8958-D402FCA11D4F}" type="pres">
      <dgm:prSet presAssocID="{33B25E3B-DB28-4FA2-9223-2C5FBA2AE5E6}" presName="sibTrans" presStyleLbl="sibTrans1D1" presStyleIdx="3" presStyleCnt="4"/>
      <dgm:spPr/>
    </dgm:pt>
    <dgm:pt modelId="{79F82074-93A7-49FA-83FE-5D68CB6B2E1B}" type="pres">
      <dgm:prSet presAssocID="{33B25E3B-DB28-4FA2-9223-2C5FBA2AE5E6}" presName="connectorText" presStyleLbl="sibTrans1D1" presStyleIdx="3" presStyleCnt="4"/>
      <dgm:spPr/>
    </dgm:pt>
    <dgm:pt modelId="{DDD1430A-9E17-42FF-8358-32721AB6382B}" type="pres">
      <dgm:prSet presAssocID="{6FD81EA5-4BA1-4F22-B4B6-B7BE94AFC321}" presName="node" presStyleLbl="node1" presStyleIdx="4" presStyleCnt="5">
        <dgm:presLayoutVars>
          <dgm:bulletEnabled val="1"/>
        </dgm:presLayoutVars>
      </dgm:prSet>
      <dgm:spPr/>
    </dgm:pt>
  </dgm:ptLst>
  <dgm:cxnLst>
    <dgm:cxn modelId="{7698C809-3B73-4477-9066-8AC4F6BFAD0F}" type="presOf" srcId="{A2DB583E-B458-4AC8-B1A5-12D886BF7DF3}" destId="{016B63E6-EE4D-48F1-A914-C2524CF5568A}" srcOrd="0" destOrd="0" presId="urn:microsoft.com/office/officeart/2016/7/layout/RepeatingBendingProcessNew"/>
    <dgm:cxn modelId="{88C7B716-9F76-4452-86A7-46BF0158C7D8}" type="presOf" srcId="{488C70AB-EA9C-4A3E-8F67-C180AB618B3C}" destId="{709CF7F8-6E46-4FFC-B447-57FE215E45C7}" srcOrd="1" destOrd="0" presId="urn:microsoft.com/office/officeart/2016/7/layout/RepeatingBendingProcessNew"/>
    <dgm:cxn modelId="{CBEE8321-E0B6-4BF8-9EA7-4D362C483D0B}" type="presOf" srcId="{FD23B30F-2526-4161-A15F-90B220F2C5DE}" destId="{6F9577B9-1A0A-4B92-949E-EEBB5CDE2D1B}" srcOrd="1" destOrd="0" presId="urn:microsoft.com/office/officeart/2016/7/layout/RepeatingBendingProcessNew"/>
    <dgm:cxn modelId="{82BAA022-110F-4736-917A-FF7B1CBE12AB}" srcId="{4EA34A17-05E6-4AA0-A007-687C72D6C68D}" destId="{FED5292E-F910-4503-9B3E-7B5679475F1D}" srcOrd="0" destOrd="0" parTransId="{675C89FD-1FE0-4403-87F2-99FA14E04ADC}" sibTransId="{5BF4D6D7-8040-4F2D-B1D2-3E5DA1AD1CAD}"/>
    <dgm:cxn modelId="{35BFE025-844B-4CD1-9319-219A01376240}" srcId="{4EA34A17-05E6-4AA0-A007-687C72D6C68D}" destId="{26173A77-0C2C-40D8-AA10-747CC735C0AC}" srcOrd="3" destOrd="0" parTransId="{FC8E9AE4-4175-402F-BA63-9079E4681674}" sibTransId="{33B25E3B-DB28-4FA2-9223-2C5FBA2AE5E6}"/>
    <dgm:cxn modelId="{14051732-0D07-4E22-A464-C5784C7EAF16}" type="presOf" srcId="{6FD81EA5-4BA1-4F22-B4B6-B7BE94AFC321}" destId="{DDD1430A-9E17-42FF-8358-32721AB6382B}" srcOrd="0" destOrd="0" presId="urn:microsoft.com/office/officeart/2016/7/layout/RepeatingBendingProcessNew"/>
    <dgm:cxn modelId="{7F8F9033-F1D8-4DD2-A81A-21519311AF46}" type="presOf" srcId="{33B25E3B-DB28-4FA2-9223-2C5FBA2AE5E6}" destId="{79F82074-93A7-49FA-83FE-5D68CB6B2E1B}" srcOrd="1" destOrd="0" presId="urn:microsoft.com/office/officeart/2016/7/layout/RepeatingBendingProcessNew"/>
    <dgm:cxn modelId="{58B3553C-9769-48ED-96AF-28F879FF0584}" type="presOf" srcId="{A5F777A9-4B0D-4E7C-A0F1-8BC51A42B2E7}" destId="{E7D0B0BE-B45E-4831-B18A-15BD546088FA}" srcOrd="0" destOrd="1" presId="urn:microsoft.com/office/officeart/2016/7/layout/RepeatingBendingProcessNew"/>
    <dgm:cxn modelId="{28C7BC42-D3AD-4425-94C8-A1555C620AFF}" srcId="{26173A77-0C2C-40D8-AA10-747CC735C0AC}" destId="{35B1C675-03CB-4843-9C0D-BBB01AE7B4AC}" srcOrd="1" destOrd="0" parTransId="{40BD0EA2-E702-48F9-9016-7260DC512E80}" sibTransId="{B7286CC2-B3D9-47BB-B216-66FA5AF0B8F1}"/>
    <dgm:cxn modelId="{70E46255-2766-4593-BED5-EC6D153E479C}" srcId="{26173A77-0C2C-40D8-AA10-747CC735C0AC}" destId="{A5F777A9-4B0D-4E7C-A0F1-8BC51A42B2E7}" srcOrd="0" destOrd="0" parTransId="{324078FF-D43C-4703-A725-0FBF5ACC5354}" sibTransId="{522A7A10-CA01-4D91-BBC5-B7A3F96B439F}"/>
    <dgm:cxn modelId="{FD665D76-B133-46BB-8259-ACFABC4B9E6E}" type="presOf" srcId="{26173A77-0C2C-40D8-AA10-747CC735C0AC}" destId="{E7D0B0BE-B45E-4831-B18A-15BD546088FA}" srcOrd="0" destOrd="0" presId="urn:microsoft.com/office/officeart/2016/7/layout/RepeatingBendingProcessNew"/>
    <dgm:cxn modelId="{B9AC7B81-D7BE-47B3-83DF-CEF745463436}" srcId="{4EA34A17-05E6-4AA0-A007-687C72D6C68D}" destId="{A2DB583E-B458-4AC8-B1A5-12D886BF7DF3}" srcOrd="2" destOrd="0" parTransId="{CF160C6E-AF47-4947-BA10-5CC36442CE3F}" sibTransId="{FD23B30F-2526-4161-A15F-90B220F2C5DE}"/>
    <dgm:cxn modelId="{6D9C6490-FBFF-4AEF-AF6E-DAF935C77822}" type="presOf" srcId="{35B1C675-03CB-4843-9C0D-BBB01AE7B4AC}" destId="{E7D0B0BE-B45E-4831-B18A-15BD546088FA}" srcOrd="0" destOrd="2" presId="urn:microsoft.com/office/officeart/2016/7/layout/RepeatingBendingProcessNew"/>
    <dgm:cxn modelId="{040C3A95-3D15-4436-AAD4-CC8BD2624513}" type="presOf" srcId="{9BDC8580-1435-47A0-9B87-31F5D957F343}" destId="{4BB45685-84D9-4670-BCDA-DCBE7D06BF85}" srcOrd="0" destOrd="0" presId="urn:microsoft.com/office/officeart/2016/7/layout/RepeatingBendingProcessNew"/>
    <dgm:cxn modelId="{AE6F8AB0-BAC5-4853-9EA7-353E7634E1A3}" type="presOf" srcId="{5BF4D6D7-8040-4F2D-B1D2-3E5DA1AD1CAD}" destId="{F65831CB-4654-4312-832B-838D2A52BB4B}" srcOrd="0" destOrd="0" presId="urn:microsoft.com/office/officeart/2016/7/layout/RepeatingBendingProcessNew"/>
    <dgm:cxn modelId="{B7C892B0-C141-40A9-A1DD-2806972E1865}" srcId="{4EA34A17-05E6-4AA0-A007-687C72D6C68D}" destId="{9BDC8580-1435-47A0-9B87-31F5D957F343}" srcOrd="1" destOrd="0" parTransId="{1B04136E-9CF8-48A5-B72C-65BB0AEB0DC4}" sibTransId="{488C70AB-EA9C-4A3E-8F67-C180AB618B3C}"/>
    <dgm:cxn modelId="{FE338DB1-0D72-4C8F-8AFA-D980CE0AD837}" type="presOf" srcId="{FED5292E-F910-4503-9B3E-7B5679475F1D}" destId="{68BCEDE8-03D3-4EAE-BBA6-688C7954350B}" srcOrd="0" destOrd="0" presId="urn:microsoft.com/office/officeart/2016/7/layout/RepeatingBendingProcessNew"/>
    <dgm:cxn modelId="{77955ABB-101C-4DD1-A68F-94B020E4CEFD}" type="presOf" srcId="{488C70AB-EA9C-4A3E-8F67-C180AB618B3C}" destId="{AA892CE4-1F06-4A14-9A36-78D5CF05F933}" srcOrd="0" destOrd="0" presId="urn:microsoft.com/office/officeart/2016/7/layout/RepeatingBendingProcessNew"/>
    <dgm:cxn modelId="{0A2F02C0-2CFD-4984-9441-A10ECFE18AF3}" type="presOf" srcId="{FD23B30F-2526-4161-A15F-90B220F2C5DE}" destId="{193F0DCE-78C7-4312-A8D3-0BB98F7B000E}" srcOrd="0" destOrd="0" presId="urn:microsoft.com/office/officeart/2016/7/layout/RepeatingBendingProcessNew"/>
    <dgm:cxn modelId="{F82412C3-3A28-4111-AC00-CAE4CF3C7057}" srcId="{4EA34A17-05E6-4AA0-A007-687C72D6C68D}" destId="{6FD81EA5-4BA1-4F22-B4B6-B7BE94AFC321}" srcOrd="4" destOrd="0" parTransId="{2B6A3B99-2327-4A86-AF76-DAECC990BDDC}" sibTransId="{582FF723-1716-4EBF-935B-2DBAE03B3589}"/>
    <dgm:cxn modelId="{893A4BCF-ED4D-4D72-BDF0-35B95F28AF99}" type="presOf" srcId="{33B25E3B-DB28-4FA2-9223-2C5FBA2AE5E6}" destId="{C31C3A9F-2E4E-4CE3-8958-D402FCA11D4F}" srcOrd="0" destOrd="0" presId="urn:microsoft.com/office/officeart/2016/7/layout/RepeatingBendingProcessNew"/>
    <dgm:cxn modelId="{9FABABDA-BC6C-4EAC-8815-58F04EE164A3}" type="presOf" srcId="{4EA34A17-05E6-4AA0-A007-687C72D6C68D}" destId="{81E2190A-997D-4833-9BA5-B2CF2513AC5D}" srcOrd="0" destOrd="0" presId="urn:microsoft.com/office/officeart/2016/7/layout/RepeatingBendingProcessNew"/>
    <dgm:cxn modelId="{8768B2DC-9A14-423B-BB44-CE47D39C8845}" type="presOf" srcId="{5BF4D6D7-8040-4F2D-B1D2-3E5DA1AD1CAD}" destId="{1966A24C-5D15-4697-B090-59523CF83D06}" srcOrd="1" destOrd="0" presId="urn:microsoft.com/office/officeart/2016/7/layout/RepeatingBendingProcessNew"/>
    <dgm:cxn modelId="{F5136A22-1007-4119-A3FC-4CD2A8A31755}" type="presParOf" srcId="{81E2190A-997D-4833-9BA5-B2CF2513AC5D}" destId="{68BCEDE8-03D3-4EAE-BBA6-688C7954350B}" srcOrd="0" destOrd="0" presId="urn:microsoft.com/office/officeart/2016/7/layout/RepeatingBendingProcessNew"/>
    <dgm:cxn modelId="{6B1296D2-8938-4011-A87F-3564E6215BBD}" type="presParOf" srcId="{81E2190A-997D-4833-9BA5-B2CF2513AC5D}" destId="{F65831CB-4654-4312-832B-838D2A52BB4B}" srcOrd="1" destOrd="0" presId="urn:microsoft.com/office/officeart/2016/7/layout/RepeatingBendingProcessNew"/>
    <dgm:cxn modelId="{2A7DB2AE-3763-4928-AC05-E373742FD625}" type="presParOf" srcId="{F65831CB-4654-4312-832B-838D2A52BB4B}" destId="{1966A24C-5D15-4697-B090-59523CF83D06}" srcOrd="0" destOrd="0" presId="urn:microsoft.com/office/officeart/2016/7/layout/RepeatingBendingProcessNew"/>
    <dgm:cxn modelId="{4B21DF53-4ADD-4484-B2CA-3A36B7BC25DF}" type="presParOf" srcId="{81E2190A-997D-4833-9BA5-B2CF2513AC5D}" destId="{4BB45685-84D9-4670-BCDA-DCBE7D06BF85}" srcOrd="2" destOrd="0" presId="urn:microsoft.com/office/officeart/2016/7/layout/RepeatingBendingProcessNew"/>
    <dgm:cxn modelId="{30305997-5B34-4B82-92DC-FA5B54BDFF03}" type="presParOf" srcId="{81E2190A-997D-4833-9BA5-B2CF2513AC5D}" destId="{AA892CE4-1F06-4A14-9A36-78D5CF05F933}" srcOrd="3" destOrd="0" presId="urn:microsoft.com/office/officeart/2016/7/layout/RepeatingBendingProcessNew"/>
    <dgm:cxn modelId="{597D5891-9C87-4E67-96D3-B44271799A27}" type="presParOf" srcId="{AA892CE4-1F06-4A14-9A36-78D5CF05F933}" destId="{709CF7F8-6E46-4FFC-B447-57FE215E45C7}" srcOrd="0" destOrd="0" presId="urn:microsoft.com/office/officeart/2016/7/layout/RepeatingBendingProcessNew"/>
    <dgm:cxn modelId="{2FAD6BD7-4BA3-4F37-AE5C-8C206BAFA9A8}" type="presParOf" srcId="{81E2190A-997D-4833-9BA5-B2CF2513AC5D}" destId="{016B63E6-EE4D-48F1-A914-C2524CF5568A}" srcOrd="4" destOrd="0" presId="urn:microsoft.com/office/officeart/2016/7/layout/RepeatingBendingProcessNew"/>
    <dgm:cxn modelId="{B961A6D0-A923-40AB-A266-7CAF2A476D2E}" type="presParOf" srcId="{81E2190A-997D-4833-9BA5-B2CF2513AC5D}" destId="{193F0DCE-78C7-4312-A8D3-0BB98F7B000E}" srcOrd="5" destOrd="0" presId="urn:microsoft.com/office/officeart/2016/7/layout/RepeatingBendingProcessNew"/>
    <dgm:cxn modelId="{81965E24-A55C-4206-A39D-0E9DBDB97069}" type="presParOf" srcId="{193F0DCE-78C7-4312-A8D3-0BB98F7B000E}" destId="{6F9577B9-1A0A-4B92-949E-EEBB5CDE2D1B}" srcOrd="0" destOrd="0" presId="urn:microsoft.com/office/officeart/2016/7/layout/RepeatingBendingProcessNew"/>
    <dgm:cxn modelId="{BB055E4A-AE6F-4BC3-A450-99F7A87CD356}" type="presParOf" srcId="{81E2190A-997D-4833-9BA5-B2CF2513AC5D}" destId="{E7D0B0BE-B45E-4831-B18A-15BD546088FA}" srcOrd="6" destOrd="0" presId="urn:microsoft.com/office/officeart/2016/7/layout/RepeatingBendingProcessNew"/>
    <dgm:cxn modelId="{0379C18E-EA93-40F9-8514-E4E1D87D4138}" type="presParOf" srcId="{81E2190A-997D-4833-9BA5-B2CF2513AC5D}" destId="{C31C3A9F-2E4E-4CE3-8958-D402FCA11D4F}" srcOrd="7" destOrd="0" presId="urn:microsoft.com/office/officeart/2016/7/layout/RepeatingBendingProcessNew"/>
    <dgm:cxn modelId="{FAA6CE79-0CBA-4B23-A95F-EB9723E83660}" type="presParOf" srcId="{C31C3A9F-2E4E-4CE3-8958-D402FCA11D4F}" destId="{79F82074-93A7-49FA-83FE-5D68CB6B2E1B}" srcOrd="0" destOrd="0" presId="urn:microsoft.com/office/officeart/2016/7/layout/RepeatingBendingProcessNew"/>
    <dgm:cxn modelId="{03EE1845-CB19-4441-BDC3-21F5DCF76050}" type="presParOf" srcId="{81E2190A-997D-4833-9BA5-B2CF2513AC5D}" destId="{DDD1430A-9E17-42FF-8358-32721AB6382B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B7597D-5318-4B72-B6EB-DC8122BAE7C1}">
      <dsp:nvSpPr>
        <dsp:cNvPr id="0" name=""/>
        <dsp:cNvSpPr/>
      </dsp:nvSpPr>
      <dsp:spPr>
        <a:xfrm>
          <a:off x="49" y="88135"/>
          <a:ext cx="4739985" cy="5472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Simple Q table</a:t>
          </a:r>
          <a:endParaRPr lang="en-US" sz="1900" kern="1200"/>
        </a:p>
      </dsp:txBody>
      <dsp:txXfrm>
        <a:off x="49" y="88135"/>
        <a:ext cx="4739985" cy="547200"/>
      </dsp:txXfrm>
    </dsp:sp>
    <dsp:sp modelId="{C8ADB559-AA57-4048-88FD-3483EE2C3973}">
      <dsp:nvSpPr>
        <dsp:cNvPr id="0" name=""/>
        <dsp:cNvSpPr/>
      </dsp:nvSpPr>
      <dsp:spPr>
        <a:xfrm>
          <a:off x="49" y="635335"/>
          <a:ext cx="4739985" cy="2712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compressed all data and made it less complex, in hopes that the agent would find a pattern easier. 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treated volatility as high and low, and rounded inventory to the nearest integer.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The agent couldn’t grasp the complexity of the market and how the population changed, leading to losing trades.</a:t>
          </a:r>
        </a:p>
      </dsp:txBody>
      <dsp:txXfrm>
        <a:off x="49" y="635335"/>
        <a:ext cx="4739985" cy="2712059"/>
      </dsp:txXfrm>
    </dsp:sp>
    <dsp:sp modelId="{D8E34134-DE2F-40D5-9AE0-8B06F28FAE46}">
      <dsp:nvSpPr>
        <dsp:cNvPr id="0" name=""/>
        <dsp:cNvSpPr/>
      </dsp:nvSpPr>
      <dsp:spPr>
        <a:xfrm>
          <a:off x="5403632" y="88135"/>
          <a:ext cx="4739985" cy="5472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Deep Learning</a:t>
          </a:r>
          <a:endParaRPr lang="en-US" sz="1900" kern="1200"/>
        </a:p>
      </dsp:txBody>
      <dsp:txXfrm>
        <a:off x="5403632" y="88135"/>
        <a:ext cx="4739985" cy="547200"/>
      </dsp:txXfrm>
    </dsp:sp>
    <dsp:sp modelId="{ABB1207D-8436-46E2-9F16-B8A1CBA68545}">
      <dsp:nvSpPr>
        <dsp:cNvPr id="0" name=""/>
        <dsp:cNvSpPr/>
      </dsp:nvSpPr>
      <dsp:spPr>
        <a:xfrm>
          <a:off x="5403632" y="635335"/>
          <a:ext cx="4739985" cy="2712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switched to Deep Q-Networks (DQN) using TensorFlow to handle continuous data streams (RSI, Momentum, Exact Inventory).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The Neural Network learned to make money but struggled with safety. It would hoard stock hoping for a price jump, risking a total account blow-up. </a:t>
          </a:r>
        </a:p>
      </dsp:txBody>
      <dsp:txXfrm>
        <a:off x="5403632" y="635335"/>
        <a:ext cx="4739985" cy="2712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4DD74A-E0D7-4B47-8652-4E391023E0C6}">
      <dsp:nvSpPr>
        <dsp:cNvPr id="0" name=""/>
        <dsp:cNvSpPr/>
      </dsp:nvSpPr>
      <dsp:spPr>
        <a:xfrm>
          <a:off x="0" y="1777"/>
          <a:ext cx="453089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35DA63-03B7-4840-818D-C797D50333D4}">
      <dsp:nvSpPr>
        <dsp:cNvPr id="0" name=""/>
        <dsp:cNvSpPr/>
      </dsp:nvSpPr>
      <dsp:spPr>
        <a:xfrm>
          <a:off x="0" y="1777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utilize a standard Feed-Forward Neural Network (MLP).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6-unit input layer → 64-unit hidden layer → 5-unit output layer.</a:t>
          </a:r>
        </a:p>
      </dsp:txBody>
      <dsp:txXfrm>
        <a:off x="0" y="1777"/>
        <a:ext cx="4530898" cy="1211965"/>
      </dsp:txXfrm>
    </dsp:sp>
    <dsp:sp modelId="{C2829D2C-4B90-4B06-9B3E-8CDB16D6AF5D}">
      <dsp:nvSpPr>
        <dsp:cNvPr id="0" name=""/>
        <dsp:cNvSpPr/>
      </dsp:nvSpPr>
      <dsp:spPr>
        <a:xfrm>
          <a:off x="0" y="1213742"/>
          <a:ext cx="4530898" cy="0"/>
        </a:xfrm>
        <a:prstGeom prst="line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3FEE3-2F02-4880-95F3-A5B4B836E1CE}">
      <dsp:nvSpPr>
        <dsp:cNvPr id="0" name=""/>
        <dsp:cNvSpPr/>
      </dsp:nvSpPr>
      <dsp:spPr>
        <a:xfrm>
          <a:off x="0" y="1213742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The agent observes 6 features: Volatility, RSI, Momentum, Normalized Volume, Inventory, and Time Remaining.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/>
            <a:t>The output of the network is a bid/ask spread combination to quote into the market.</a:t>
          </a:r>
          <a:endParaRPr lang="en-US" sz="1400" kern="1200" dirty="0"/>
        </a:p>
      </dsp:txBody>
      <dsp:txXfrm>
        <a:off x="0" y="1213742"/>
        <a:ext cx="4530898" cy="1211965"/>
      </dsp:txXfrm>
    </dsp:sp>
    <dsp:sp modelId="{8498D9B1-2C2C-4A76-98FB-8AF35398B648}">
      <dsp:nvSpPr>
        <dsp:cNvPr id="0" name=""/>
        <dsp:cNvSpPr/>
      </dsp:nvSpPr>
      <dsp:spPr>
        <a:xfrm>
          <a:off x="0" y="2425707"/>
          <a:ext cx="4530898" cy="0"/>
        </a:xfrm>
        <a:prstGeom prst="line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B1DE6-0772-4811-A25F-4598AAEC72B2}">
      <dsp:nvSpPr>
        <dsp:cNvPr id="0" name=""/>
        <dsp:cNvSpPr/>
      </dsp:nvSpPr>
      <dsp:spPr>
        <a:xfrm>
          <a:off x="0" y="2425707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use </a:t>
          </a:r>
          <a:r>
            <a:rPr lang="en-US" sz="1400" kern="1200" dirty="0" err="1"/>
            <a:t>ReLU</a:t>
          </a:r>
          <a:r>
            <a:rPr lang="en-US" sz="1400" kern="1200" dirty="0"/>
            <a:t> instead of sigmoid because it handles non-linear patterns more simply and effectively.</a:t>
          </a:r>
        </a:p>
      </dsp:txBody>
      <dsp:txXfrm>
        <a:off x="0" y="2425707"/>
        <a:ext cx="4530898" cy="12119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5831CB-4654-4312-832B-838D2A52BB4B}">
      <dsp:nvSpPr>
        <dsp:cNvPr id="0" name=""/>
        <dsp:cNvSpPr/>
      </dsp:nvSpPr>
      <dsp:spPr>
        <a:xfrm>
          <a:off x="2899779" y="686484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729398"/>
        <a:ext cx="28053" cy="5610"/>
      </dsp:txXfrm>
    </dsp:sp>
    <dsp:sp modelId="{68BCEDE8-03D3-4EAE-BBA6-688C7954350B}">
      <dsp:nvSpPr>
        <dsp:cNvPr id="0" name=""/>
        <dsp:cNvSpPr/>
      </dsp:nvSpPr>
      <dsp:spPr>
        <a:xfrm>
          <a:off x="462167" y="380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Sensing: </a:t>
          </a:r>
          <a:r>
            <a:rPr lang="en-US" sz="1700" kern="1200" dirty="0"/>
            <a:t>The MLP processes market features (Volatility, RSI).</a:t>
          </a:r>
        </a:p>
      </dsp:txBody>
      <dsp:txXfrm>
        <a:off x="462167" y="380"/>
        <a:ext cx="2439412" cy="1463647"/>
      </dsp:txXfrm>
    </dsp:sp>
    <dsp:sp modelId="{AA892CE4-1F06-4A14-9A36-78D5CF05F933}">
      <dsp:nvSpPr>
        <dsp:cNvPr id="0" name=""/>
        <dsp:cNvSpPr/>
      </dsp:nvSpPr>
      <dsp:spPr>
        <a:xfrm>
          <a:off x="1681873" y="1462227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1724654"/>
        <a:ext cx="152624" cy="5610"/>
      </dsp:txXfrm>
    </dsp:sp>
    <dsp:sp modelId="{4BB45685-84D9-4670-BCDA-DCBE7D06BF85}">
      <dsp:nvSpPr>
        <dsp:cNvPr id="0" name=""/>
        <dsp:cNvSpPr/>
      </dsp:nvSpPr>
      <dsp:spPr>
        <a:xfrm>
          <a:off x="3462644" y="380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Action: </a:t>
          </a:r>
          <a:r>
            <a:rPr lang="en-US" sz="1700" kern="1200" dirty="0"/>
            <a:t>The Agent posts a Bid/Ask Spread (e.g., Tight or Wide).</a:t>
          </a:r>
        </a:p>
      </dsp:txBody>
      <dsp:txXfrm>
        <a:off x="3462644" y="380"/>
        <a:ext cx="2439412" cy="1463647"/>
      </dsp:txXfrm>
    </dsp:sp>
    <dsp:sp modelId="{193F0DCE-78C7-4312-A8D3-0BB98F7B000E}">
      <dsp:nvSpPr>
        <dsp:cNvPr id="0" name=""/>
        <dsp:cNvSpPr/>
      </dsp:nvSpPr>
      <dsp:spPr>
        <a:xfrm>
          <a:off x="2899779" y="2711196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2754110"/>
        <a:ext cx="28053" cy="5610"/>
      </dsp:txXfrm>
    </dsp:sp>
    <dsp:sp modelId="{016B63E6-EE4D-48F1-A914-C2524CF5568A}">
      <dsp:nvSpPr>
        <dsp:cNvPr id="0" name=""/>
        <dsp:cNvSpPr/>
      </dsp:nvSpPr>
      <dsp:spPr>
        <a:xfrm>
          <a:off x="462167" y="2025092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Reaction: </a:t>
          </a:r>
          <a:r>
            <a:rPr lang="en-US" sz="1700" kern="1200"/>
            <a:t>The EGT population evaluates the price; trades execute if quotes cross.</a:t>
          </a:r>
        </a:p>
      </dsp:txBody>
      <dsp:txXfrm>
        <a:off x="462167" y="2025092"/>
        <a:ext cx="2439412" cy="1463647"/>
      </dsp:txXfrm>
    </dsp:sp>
    <dsp:sp modelId="{C31C3A9F-2E4E-4CE3-8958-D402FCA11D4F}">
      <dsp:nvSpPr>
        <dsp:cNvPr id="0" name=""/>
        <dsp:cNvSpPr/>
      </dsp:nvSpPr>
      <dsp:spPr>
        <a:xfrm>
          <a:off x="1681873" y="3486939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3749366"/>
        <a:ext cx="152624" cy="5610"/>
      </dsp:txXfrm>
    </dsp:sp>
    <dsp:sp modelId="{E7D0B0BE-B45E-4831-B18A-15BD546088FA}">
      <dsp:nvSpPr>
        <dsp:cNvPr id="0" name=""/>
        <dsp:cNvSpPr/>
      </dsp:nvSpPr>
      <dsp:spPr>
        <a:xfrm>
          <a:off x="3462644" y="2025092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Feedback: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Agent receives Reward (Profit - Risk).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EGT Agents receive Fitness (Profit).</a:t>
          </a:r>
        </a:p>
      </dsp:txBody>
      <dsp:txXfrm>
        <a:off x="3462644" y="2025092"/>
        <a:ext cx="2439412" cy="1463647"/>
      </dsp:txXfrm>
    </dsp:sp>
    <dsp:sp modelId="{DDD1430A-9E17-42FF-8358-32721AB6382B}">
      <dsp:nvSpPr>
        <dsp:cNvPr id="0" name=""/>
        <dsp:cNvSpPr/>
      </dsp:nvSpPr>
      <dsp:spPr>
        <a:xfrm>
          <a:off x="462167" y="4049804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Update: </a:t>
          </a:r>
          <a:r>
            <a:rPr lang="en-US" sz="1700" kern="1200" dirty="0"/>
            <a:t>Agent updates Weights (Backprop); Population updates Distribution (Evolution).</a:t>
          </a:r>
        </a:p>
      </dsp:txBody>
      <dsp:txXfrm>
        <a:off x="462167" y="4049804"/>
        <a:ext cx="2439412" cy="14636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829AC-564D-4DC6-A57F-0801BB802372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9F50D-DFCC-4B3A-825A-C312089DA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market data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733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FB0-B03A-9160-17EF-1B094CF0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C3428-9B05-F9A0-40AF-8CD8D2BFD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A1767-D694-231C-4A01-7817AA46F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8E0EA-8416-76FD-0C16-56F1BD29B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BC4-20D3-FE4F-6D5E-9476FE96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4D5A-7772-EAF3-C0F1-A088CF1A9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493EE-6EB1-DF15-8B40-C777D72B9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0AE9E-FA52-1880-418C-98D9C7BC6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15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A77C-893B-A10B-B390-C0B498B4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B1FB0-C8D4-735A-A6E6-4C1CA166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7EAF-9205-70C2-1725-63622F5A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D1C90-26E1-F92E-A552-04C2B0B73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6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8F93-B74F-A024-15E2-072FEB47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B49C-3D20-731C-7108-024B27E17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3C45-4F02-0AD9-A25D-ED518D1A1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212E-CED2-72BD-4F08-CFB78A0DD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4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079-7C97-94E0-CC30-175E589E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81732-C99F-D64B-7357-D53E00E7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F0381-6D43-5B31-DC76-6932019CE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Plot1 and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3860-190B-9456-FBF3-0745B8777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68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7825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52CF-DC87-4D88-A3EF-DE0C91F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AAF61-8741-3E98-7FA7-A5283A04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4065E-3ECE-3933-69FD-7666F30C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Plot4 and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D1279-304B-91BC-16F1-C7F66E309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20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13723-7E81-9751-B60F-BCFA3CEA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2B452-FFB5-F291-980D-6B2BCEC8C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1012-8E05-421A-43EB-919FCC18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00-FE2D-4CA2-4C78-648AC7AA6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65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DD62-2596-F7C5-0C42-0DF99DB8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604CF-6BF6-6B28-8FE0-EEA884A60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5F9D-9328-ED15-AC82-B9F64A5E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8478D-7155-7319-E0F3-4997AA3DE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06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0969-1875-73F3-C0D8-247599C9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39F2-91A8-91CE-DC80-6F6DA05DB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43803-0772-606A-3873-F81F725E4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3BE9A-5543-F914-02ED-EB02EBA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4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4F04-0532-0CA3-627F-6223B3D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5B574-15DC-049E-38E3-239E87E9F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E58A6-8747-3FB9-9FC4-15BCADE0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D0188-DAD5-9EF1-FDF0-A17351F32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56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38811"/>
            <a:ext cx="9144000" cy="958475"/>
          </a:xfrm>
        </p:spPr>
        <p:txBody>
          <a:bodyPr>
            <a:normAutofit/>
          </a:bodyPr>
          <a:lstStyle/>
          <a:p>
            <a:r>
              <a:rPr lang="en-US" sz="2600" dirty="0"/>
              <a:t>Rithwak Somepalli</a:t>
            </a:r>
          </a:p>
          <a:p>
            <a:r>
              <a:rPr lang="en-US" sz="2600" dirty="0"/>
              <a:t>Praneeth Rangarajan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92500"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Adversarial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b="1" dirty="0"/>
              <a:t>Problem: </a:t>
            </a:r>
            <a:r>
              <a:rPr lang="en-US" sz="2000" dirty="0"/>
              <a:t>Most RL benchmarks are static. We needed a dynamic, adversarial environment to study fundamental AI themes: search, reasoning, and multi-agent interaction.</a:t>
            </a:r>
          </a:p>
          <a:p>
            <a:pPr lvl="1"/>
            <a:r>
              <a:rPr lang="en-US" sz="2000" b="1" dirty="0"/>
              <a:t>Solution: </a:t>
            </a:r>
            <a:r>
              <a:rPr lang="en-US" sz="2000" dirty="0"/>
              <a:t>To use the stock market as a "playground" to observe how a learning agent adapts when its environment (EGT population) fights back and evolves over time.</a:t>
            </a:r>
          </a:p>
          <a:p>
            <a:r>
              <a:rPr lang="en-US" sz="2000" dirty="0"/>
              <a:t>We treat the market not as a prediction problem, but as a complex stochastic environment for stress-testing AI reasoning and adaptation.</a:t>
            </a:r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687DF-BC76-7043-FB6E-1B43C085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E0900-F9DA-5D57-3E3E-21948A73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Experimental Setup and Data</a:t>
            </a:r>
            <a:endParaRPr lang="en-US" sz="540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59F8-C27C-AEEF-AB86-570268A50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900" b="1" dirty="0"/>
              <a:t>Environment: </a:t>
            </a:r>
            <a:r>
              <a:rPr lang="en-US" sz="1900" dirty="0"/>
              <a:t>A simulated order-book market where agents interact via "crossing quotes.</a:t>
            </a:r>
          </a:p>
          <a:p>
            <a:r>
              <a:rPr lang="en-US" sz="1900" b="1" dirty="0"/>
              <a:t>Data Source: </a:t>
            </a:r>
            <a:r>
              <a:rPr lang="en-US" sz="1900" dirty="0"/>
              <a:t>Real OHLCV data provides the seed for price, volatility, and momentum.</a:t>
            </a:r>
          </a:p>
          <a:p>
            <a:r>
              <a:rPr lang="en-US" sz="1900" b="1" dirty="0"/>
              <a:t>Reproducibility: </a:t>
            </a:r>
            <a:r>
              <a:rPr lang="en-US" sz="1900" dirty="0"/>
              <a:t>There is a seed feature which enables accurate reproduction of results despite the required randomness.</a:t>
            </a:r>
            <a:endParaRPr lang="en-US" sz="1900" b="1" dirty="0"/>
          </a:p>
          <a:p>
            <a:r>
              <a:rPr lang="en-US" sz="1900" b="1" dirty="0"/>
              <a:t>Goal: </a:t>
            </a:r>
            <a:r>
              <a:rPr lang="en-US" sz="1900" dirty="0"/>
              <a:t>Maximize a Hybrid Reward function (Profit + Spread Capture + Risk Penalty). </a:t>
            </a:r>
          </a:p>
          <a:p>
            <a:r>
              <a:rPr lang="en-US" sz="1900" b="1" dirty="0"/>
              <a:t>External Tools/Libraries used: </a:t>
            </a:r>
            <a:r>
              <a:rPr lang="en-US" sz="1900" dirty="0"/>
              <a:t>Python, TensorFlow/</a:t>
            </a:r>
            <a:r>
              <a:rPr lang="en-US" sz="1900" dirty="0" err="1"/>
              <a:t>Keras</a:t>
            </a:r>
            <a:r>
              <a:rPr lang="en-US" sz="1900" dirty="0"/>
              <a:t> (Deep Learning/Neural Network), NumPy &amp; Pandas (Data Processing), SciPy (Analytics), and Matplotlib (Visualization).</a:t>
            </a:r>
            <a:endParaRPr lang="en-US" sz="1900" b="1" dirty="0"/>
          </a:p>
        </p:txBody>
      </p:sp>
    </p:spTree>
    <p:extLst>
      <p:ext uri="{BB962C8B-B14F-4D97-AF65-F5344CB8AC3E}">
        <p14:creationId xmlns:p14="http://schemas.microsoft.com/office/powerpoint/2010/main" val="3219614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79D037-9DC8-0E09-7502-78AC5614B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B8A0AA-235A-34AA-9741-EC4F60D10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Previous Iterations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F9EDFA1-AD79-5A97-242E-FC9675DA90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3080043"/>
              </p:ext>
            </p:extLst>
          </p:nvPr>
        </p:nvGraphicFramePr>
        <p:xfrm>
          <a:off x="793660" y="2599509"/>
          <a:ext cx="10143668" cy="3435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963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8288A-AD10-A3B7-813D-51DF7C38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ECE88-5BF6-6385-E38F-D8FB8A9A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Agent Architecture</a:t>
            </a:r>
            <a:endParaRPr lang="en-US" sz="480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network&#10;&#10;AI-generated content may be incorrect.">
            <a:extLst>
              <a:ext uri="{FF2B5EF4-FFF2-40B4-BE49-F238E27FC236}">
                <a16:creationId xmlns:a16="http://schemas.microsoft.com/office/drawing/2014/main" id="{63A501CD-64DA-A765-2F10-A07919481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32" y="2873548"/>
            <a:ext cx="5150277" cy="2935657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9" name="Content Placeholder 2">
            <a:extLst>
              <a:ext uri="{FF2B5EF4-FFF2-40B4-BE49-F238E27FC236}">
                <a16:creationId xmlns:a16="http://schemas.microsoft.com/office/drawing/2014/main" id="{1A7C758E-44B4-ED65-D240-7E51BE7BA0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0443262"/>
              </p:ext>
            </p:extLst>
          </p:nvPr>
        </p:nvGraphicFramePr>
        <p:xfrm>
          <a:off x="793661" y="2599509"/>
          <a:ext cx="4530898" cy="363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85676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DA837-FA51-A879-2E3C-66E1F9E8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FF7D-88A6-7D07-E739-0EE87F78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Learning Mechanism</a:t>
            </a:r>
            <a:endParaRPr lang="en-US" sz="48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AE75-D950-42AC-4ADF-196760B32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Process: </a:t>
            </a:r>
            <a:r>
              <a:rPr lang="en-US" sz="2000" dirty="0"/>
              <a:t>After each step, the agent measures its error and adjusts weights by sending that error backward through the network.</a:t>
            </a:r>
          </a:p>
          <a:p>
            <a:r>
              <a:rPr lang="en-US" sz="2000" b="1" dirty="0"/>
              <a:t>Optimization: </a:t>
            </a:r>
            <a:r>
              <a:rPr lang="en-US" sz="2000" dirty="0"/>
              <a:t>We use gradient descent to steadily reduce the model’s error. </a:t>
            </a:r>
            <a:endParaRPr lang="en-US" sz="2000" b="1" dirty="0"/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DBF1452-CC68-8D0F-C055-22A5A7185D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4"/>
          <a:stretch>
            <a:fillRect/>
          </a:stretch>
        </p:blipFill>
        <p:spPr>
          <a:xfrm>
            <a:off x="5911532" y="3373383"/>
            <a:ext cx="5150277" cy="1935987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4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61833-F52B-E982-EE83-13840802A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7B963-759C-38B0-4A24-5B9D410A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The Adversary</a:t>
            </a:r>
            <a:endParaRPr lang="en-US" sz="54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4DDB-A043-3916-1F92-939A79C6E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 "Adversary" is not a single agent, but a population of heuristic traders (Aggressive, Passive, Momentum, Random).</a:t>
            </a:r>
          </a:p>
          <a:p>
            <a:r>
              <a:rPr lang="en-US" sz="2400" b="1" dirty="0"/>
              <a:t>Genetic Algorithm:</a:t>
            </a:r>
          </a:p>
          <a:p>
            <a:pPr lvl="1"/>
            <a:r>
              <a:rPr lang="en-US" b="1" dirty="0"/>
              <a:t>Fitness Functions: </a:t>
            </a:r>
            <a:r>
              <a:rPr lang="en-US" dirty="0"/>
              <a:t>Rolling profitability</a:t>
            </a:r>
          </a:p>
          <a:p>
            <a:pPr lvl="1"/>
            <a:r>
              <a:rPr lang="en-US" b="1" dirty="0"/>
              <a:t>Selection: </a:t>
            </a:r>
            <a:r>
              <a:rPr lang="en-US" dirty="0"/>
              <a:t>Strategies that make money reproduce and increase their population share. Strategies that lose money die out.</a:t>
            </a:r>
          </a:p>
          <a:p>
            <a:pPr lvl="1"/>
            <a:r>
              <a:rPr lang="en-US" b="1" dirty="0"/>
              <a:t>Mutation: </a:t>
            </a:r>
            <a:r>
              <a:rPr lang="en-US" dirty="0"/>
              <a:t>A 0.1% mutation rate introduces random noise to prevent the population from getting stuck in a local optimum.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06398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F899A-82DB-32BA-11CA-FB170407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4DA82-A375-32FC-9970-27879B72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 b="1"/>
              <a:t>Interaction Loop</a:t>
            </a:r>
            <a:endParaRPr lang="en-US" sz="40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A1DE4D5-8BAF-D870-AC79-2CEF89AAE8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0572737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9644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7904E-A005-2D12-84D9-CD989C7A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3BC68-1A93-B12F-B8C7-6728940C5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Results- Profitability</a:t>
            </a:r>
            <a:endParaRPr lang="en-US" sz="40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2678B-0DDA-DC10-08A1-2B74A64D6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Achieved ~0.7% total return.</a:t>
            </a:r>
          </a:p>
          <a:p>
            <a:r>
              <a:rPr lang="en-US" sz="2000" dirty="0"/>
              <a:t>Agent struggled at parts where the trend wasn’t seen before.</a:t>
            </a:r>
          </a:p>
          <a:p>
            <a:r>
              <a:rPr lang="en-US" sz="2000" dirty="0"/>
              <a:t>The AI didn’t make any risky trades. </a:t>
            </a:r>
          </a:p>
          <a:p>
            <a:r>
              <a:rPr lang="en-US" sz="2000" dirty="0"/>
              <a:t>Although in other data sets there were times when it lost money, it made a profit at the end.</a:t>
            </a:r>
          </a:p>
          <a:p>
            <a:r>
              <a:rPr lang="en-US" sz="2000" dirty="0"/>
              <a:t>The AI learned how to make money. It started knowing nothing, made mistakes, learned from them via gradient descent, and ended up profitable.</a:t>
            </a:r>
            <a:endParaRPr lang="en-US" sz="20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F09E981B-C047-DF2A-FCBB-02D7C9417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970" y="581892"/>
            <a:ext cx="3358339" cy="2518756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showing a line&#10;&#10;AI-generated content may be incorrect.">
            <a:extLst>
              <a:ext uri="{FF2B5EF4-FFF2-40B4-BE49-F238E27FC236}">
                <a16:creationId xmlns:a16="http://schemas.microsoft.com/office/drawing/2014/main" id="{55F6F023-8BD1-B5B6-402A-4B6EE6F8AA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038" y="3707894"/>
            <a:ext cx="3358339" cy="251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580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4C2AC11E-3162-4990-A36E-92B07ECF1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E57D7D9-731D-CAF8-EF3D-607B749E5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8408"/>
            <a:ext cx="3721608" cy="110642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b="1"/>
              <a:t>Results- Causality</a:t>
            </a:r>
            <a:endParaRPr lang="en-US" sz="28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3D653BC-017F-3C2F-9CC6-F4FB1576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8296"/>
            <a:ext cx="3721608" cy="3502152"/>
          </a:xfrm>
        </p:spPr>
        <p:txBody>
          <a:bodyPr>
            <a:normAutofit lnSpcReduction="10000"/>
          </a:bodyPr>
          <a:lstStyle/>
          <a:p>
            <a:r>
              <a:rPr lang="en-US" sz="1300" dirty="0"/>
              <a:t>Without ARL agent, aggressive and momentum population dominated.</a:t>
            </a:r>
          </a:p>
          <a:p>
            <a:r>
              <a:rPr lang="en-US" sz="1300" dirty="0"/>
              <a:t>When tested with ARL agent, it kept the population in check.</a:t>
            </a:r>
          </a:p>
          <a:p>
            <a:r>
              <a:rPr lang="en-US" sz="1300" dirty="0"/>
              <a:t>For each trend of the market data, the agent chose a working strategy and controlled the population to profit the most. </a:t>
            </a:r>
          </a:p>
          <a:p>
            <a:r>
              <a:rPr lang="en-US" sz="1300" dirty="0"/>
              <a:t>Since the Market Data was identical for both runs, the drastic shifts between the population were caused by the agent’s strategic adaptation.</a:t>
            </a:r>
          </a:p>
          <a:p>
            <a:r>
              <a:rPr lang="en-US" sz="1300" dirty="0"/>
              <a:t>The dependency plot shows that the AI influences the population when it wants a change.</a:t>
            </a:r>
          </a:p>
          <a:p>
            <a:r>
              <a:rPr lang="en-US" sz="1300" dirty="0"/>
              <a:t>When satisfied (change in population = 0), there is no interaction to measure, thus leading to blank spaces in dependency plot.</a:t>
            </a:r>
          </a:p>
        </p:txBody>
      </p:sp>
      <p:pic>
        <p:nvPicPr>
          <p:cNvPr id="9" name="Picture 8" descr="A graph with orange lines&#10;&#10;AI-generated content may be incorrect.">
            <a:extLst>
              <a:ext uri="{FF2B5EF4-FFF2-40B4-BE49-F238E27FC236}">
                <a16:creationId xmlns:a16="http://schemas.microsoft.com/office/drawing/2014/main" id="{70381A0A-D05E-CD61-076C-85FDFBFD9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303" y="759652"/>
            <a:ext cx="3248351" cy="2436264"/>
          </a:xfrm>
          <a:prstGeom prst="rect">
            <a:avLst/>
          </a:prstGeom>
        </p:spPr>
      </p:pic>
      <p:pic>
        <p:nvPicPr>
          <p:cNvPr id="11" name="Picture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6A8E30-1881-BB6D-47E9-A7C40CEED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3564164"/>
            <a:ext cx="3248352" cy="2436264"/>
          </a:xfrm>
          <a:prstGeom prst="rect">
            <a:avLst/>
          </a:prstGeom>
        </p:spPr>
      </p:pic>
      <p:pic>
        <p:nvPicPr>
          <p:cNvPr id="7" name="Picture 6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D6A4C6DC-AB1B-C64B-2A93-725408B086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914" y="3562699"/>
            <a:ext cx="3248352" cy="2436265"/>
          </a:xfrm>
          <a:prstGeom prst="rect">
            <a:avLst/>
          </a:prstGeom>
        </p:spPr>
      </p:pic>
      <p:pic>
        <p:nvPicPr>
          <p:cNvPr id="5" name="Picture 4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3880B2FA-34D1-E054-9950-E3B2CA1B05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759651"/>
            <a:ext cx="3248352" cy="24362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267D94A-2D54-00DF-FEEC-7B91CD8537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565" y="1181537"/>
            <a:ext cx="147195" cy="70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898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BE7F4-4A37-BDE2-AE94-CB4CDDD9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48DE2-0A9D-D7BD-C282-547BE017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af-ZA" sz="4000" b="1" dirty="0"/>
              <a:t>Results- Strategy</a:t>
            </a:r>
            <a:endParaRPr lang="en-US" sz="4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97FF-C878-B61B-B3C3-130D90585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n-US" sz="1600" dirty="0"/>
              <a:t>The agent tried different spread widths before settling on a gap of 0.4.</a:t>
            </a:r>
          </a:p>
          <a:p>
            <a:r>
              <a:rPr lang="en-US" sz="1600" dirty="0"/>
              <a:t>The agent was guessing at first, but as time passes, it acts on what it has learnt, modeled by the gray line. </a:t>
            </a:r>
          </a:p>
          <a:p>
            <a:r>
              <a:rPr lang="en-US" sz="1600" dirty="0"/>
              <a:t>The red spikes show the spread width at a time step. </a:t>
            </a:r>
          </a:p>
          <a:p>
            <a:r>
              <a:rPr lang="en-US" sz="1600" dirty="0"/>
              <a:t>When there is a crash in the market, the agent is actively trying to stop itself from being exploited, hence the big spikes at times of a trend change.</a:t>
            </a:r>
          </a:p>
        </p:txBody>
      </p:sp>
      <p:pic>
        <p:nvPicPr>
          <p:cNvPr id="7" name="Picture 6" descr="A graph of a chart&#10;&#10;AI-generated content may be incorrect.">
            <a:extLst>
              <a:ext uri="{FF2B5EF4-FFF2-40B4-BE49-F238E27FC236}">
                <a16:creationId xmlns:a16="http://schemas.microsoft.com/office/drawing/2014/main" id="{AF160EE7-DF33-1848-8589-B87175709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774285"/>
            <a:ext cx="3441562" cy="2581173"/>
          </a:xfrm>
          <a:prstGeom prst="rect">
            <a:avLst/>
          </a:prstGeom>
        </p:spPr>
      </p:pic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A3E09B69-E26B-63B6-8CA9-CB008A7598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3575074"/>
            <a:ext cx="3441562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95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7B853-2B7D-E8F8-FDE9-C556A5D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EB708185-20C0-40F2-8F2D-8EB9E34B3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3EDDA2-0AA5-1A81-8047-8A4E3333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4000" b="1" dirty="0"/>
              <a:t>Results- Methodology</a:t>
            </a:r>
            <a:endParaRPr lang="en-US" sz="40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8855-E818-4AE1-3BDE-006BAFEB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af-ZA" sz="1700" dirty="0"/>
              <a:t>The AI isn’t lucky, it made small returns over a long period of time.</a:t>
            </a:r>
          </a:p>
          <a:p>
            <a:r>
              <a:rPr lang="af-ZA" sz="1700" dirty="0"/>
              <a:t>When the agent makes a mistake, it learnt to recover from the loss, instead of tilting and losing more like our previous iteration. </a:t>
            </a:r>
          </a:p>
          <a:p>
            <a:r>
              <a:rPr lang="en-US" sz="1700" dirty="0"/>
              <a:t>The bright center line proves the agent learned to keep its inventory near zero, validating that it understands risk management. </a:t>
            </a:r>
          </a:p>
          <a:p>
            <a:r>
              <a:rPr lang="en-US" sz="1700" dirty="0"/>
              <a:t>It makes money by trading flow, not by taking dangerous bets on the direction of the stock.</a:t>
            </a:r>
          </a:p>
        </p:txBody>
      </p:sp>
      <p:pic>
        <p:nvPicPr>
          <p:cNvPr id="13" name="Picture 12" descr="A graph of a step return&#10;&#10;AI-generated content may be incorrect.">
            <a:extLst>
              <a:ext uri="{FF2B5EF4-FFF2-40B4-BE49-F238E27FC236}">
                <a16:creationId xmlns:a16="http://schemas.microsoft.com/office/drawing/2014/main" id="{04BFA4C1-B749-3807-D0C6-DA8E947F1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r="6202" b="6"/>
          <a:stretch>
            <a:fillRect/>
          </a:stretch>
        </p:blipFill>
        <p:spPr>
          <a:xfrm>
            <a:off x="6946666" y="774285"/>
            <a:ext cx="2112264" cy="1999673"/>
          </a:xfrm>
          <a:prstGeom prst="rect">
            <a:avLst/>
          </a:prstGeom>
        </p:spPr>
      </p:pic>
      <p:pic>
        <p:nvPicPr>
          <p:cNvPr id="7" name="Picture 6" descr="A graph showing a graph&#10;&#10;AI-generated content may be incorrect.">
            <a:extLst>
              <a:ext uri="{FF2B5EF4-FFF2-40B4-BE49-F238E27FC236}">
                <a16:creationId xmlns:a16="http://schemas.microsoft.com/office/drawing/2014/main" id="{06807FFC-A01A-9A72-B5EF-969C6A79ED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56" r="3126" b="6"/>
          <a:stretch>
            <a:fillRect/>
          </a:stretch>
        </p:blipFill>
        <p:spPr>
          <a:xfrm>
            <a:off x="9223523" y="774285"/>
            <a:ext cx="2112264" cy="1999673"/>
          </a:xfrm>
          <a:prstGeom prst="rect">
            <a:avLst/>
          </a:prstGeom>
        </p:spPr>
      </p:pic>
      <p:pic>
        <p:nvPicPr>
          <p:cNvPr id="5" name="Picture 4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B5335CB0-0D3C-573D-4EA1-C431CFC5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2" r="12193" b="-1"/>
          <a:stretch>
            <a:fillRect/>
          </a:stretch>
        </p:blipFill>
        <p:spPr>
          <a:xfrm>
            <a:off x="6946667" y="2942704"/>
            <a:ext cx="4389120" cy="321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59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DD47-23A6-1D83-05B1-379A410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4D31-B229-547D-F85F-F31F9AD4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Novelty and Contribution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44F1-3B7E-7B7E-6F82-84D131BE8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There have been research projects with:</a:t>
            </a:r>
          </a:p>
          <a:p>
            <a:pPr lvl="1"/>
            <a:r>
              <a:rPr lang="en-US" sz="2000" dirty="0"/>
              <a:t>RL agent vs fixed environment</a:t>
            </a:r>
          </a:p>
          <a:p>
            <a:pPr lvl="1"/>
            <a:r>
              <a:rPr lang="en-US" sz="2000" dirty="0"/>
              <a:t>GA evolving strategies with no RL</a:t>
            </a:r>
          </a:p>
          <a:p>
            <a:pPr lvl="1"/>
            <a:r>
              <a:rPr lang="en-US" sz="2000" dirty="0"/>
              <a:t>multiple RL agents but no evolutionary dynamics</a:t>
            </a:r>
          </a:p>
          <a:p>
            <a:pPr lvl="1"/>
            <a:r>
              <a:rPr lang="en-US" sz="2000" dirty="0"/>
              <a:t>EGT populations but no deep learning agent.</a:t>
            </a:r>
          </a:p>
          <a:p>
            <a:r>
              <a:rPr lang="en-US" sz="2400" dirty="0"/>
              <a:t>We could not find any that involve all 4 of these ideas in one simulation. </a:t>
            </a:r>
          </a:p>
          <a:p>
            <a:r>
              <a:rPr lang="en-US" sz="2400" dirty="0"/>
              <a:t>Unlike static back testing tools, this framework features an evolving trader population, providing a dynamic environment for validating predictive models.</a:t>
            </a:r>
          </a:p>
        </p:txBody>
      </p:sp>
    </p:spTree>
    <p:extLst>
      <p:ext uri="{BB962C8B-B14F-4D97-AF65-F5344CB8AC3E}">
        <p14:creationId xmlns:p14="http://schemas.microsoft.com/office/powerpoint/2010/main" val="308402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9963-9CE1-41DF-CF1B-65B3F890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4BDD54-BC0B-F157-0552-1E9D324B8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Bias and Future Work</a:t>
            </a:r>
            <a:endParaRPr lang="en-US" sz="5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58CCC-8167-95A9-4D67-20CE5CF5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200" dirty="0"/>
              <a:t>The model might overfit to the specific volatility patterns of the provided dataset.</a:t>
            </a:r>
          </a:p>
          <a:p>
            <a:r>
              <a:rPr lang="en-US" sz="2200" dirty="0"/>
              <a:t>A simple 2-layer MLP may limit expressiveness compared to deeper architectures.</a:t>
            </a:r>
          </a:p>
          <a:p>
            <a:r>
              <a:rPr lang="en-US" sz="2200" b="1" dirty="0"/>
              <a:t>Possible Future Work: </a:t>
            </a:r>
          </a:p>
          <a:p>
            <a:pPr lvl="1"/>
            <a:r>
              <a:rPr lang="en-US" sz="2200" dirty="0"/>
              <a:t>Implement Recurrent Neural Networks (RNNs) to capture time-series dependencies better. </a:t>
            </a:r>
          </a:p>
          <a:p>
            <a:pPr lvl="1"/>
            <a:r>
              <a:rPr lang="en-US" sz="2200" dirty="0"/>
              <a:t>Replace heuristic EGT agents with other RL agents (Multi-Agent Reinforcement Learning) for a "smarter" enemy.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540789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4F032-3989-26DC-9FE6-6125203B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26F5ED-D8BA-33C5-574B-C688B1A7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Conclusion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0F32-E6BE-5841-22B1-54EBCDB05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We successfully built a simulation where a Neural Network agent fought and exploited against an evolving Genetic Algorithm population.</a:t>
            </a:r>
          </a:p>
          <a:p>
            <a:r>
              <a:rPr lang="en-US" sz="2400" dirty="0"/>
              <a:t>The agent didn't just memorize prices; it learned Safe AI behaviors (inventory management) and Strategic Adaptation (countering aggressive traders).</a:t>
            </a:r>
          </a:p>
          <a:p>
            <a:r>
              <a:rPr lang="en-US" sz="2400" dirty="0"/>
              <a:t>This proves that RL agents can survive and stabilize in non-stationary, adversarial environments, and even control the environment to accomplish its goal.</a:t>
            </a:r>
          </a:p>
        </p:txBody>
      </p:sp>
    </p:spTree>
    <p:extLst>
      <p:ext uri="{BB962C8B-B14F-4D97-AF65-F5344CB8AC3E}">
        <p14:creationId xmlns:p14="http://schemas.microsoft.com/office/powerpoint/2010/main" val="3228876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3731F5-336E-4E6B-A514-3EDD24CA1AC0}">
  <we:reference id="wa200005566" version="3.0.0.3" store="en-US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1222</Words>
  <Application>Microsoft Office PowerPoint</Application>
  <PresentationFormat>Widescreen</PresentationFormat>
  <Paragraphs>103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Can an ARL Agent Outperform EGT Populations in a Simulated Market?</vt:lpstr>
      <vt:lpstr>Research Question and Motivation</vt:lpstr>
      <vt:lpstr>Experimental Setup and Data</vt:lpstr>
      <vt:lpstr>Previous Iterations</vt:lpstr>
      <vt:lpstr>Agent Architecture</vt:lpstr>
      <vt:lpstr>Learning Mechanism</vt:lpstr>
      <vt:lpstr>The Adversary</vt:lpstr>
      <vt:lpstr>Interaction Loop</vt:lpstr>
      <vt:lpstr>Results- Profitability</vt:lpstr>
      <vt:lpstr>Results- Causality</vt:lpstr>
      <vt:lpstr>Results- Strategy</vt:lpstr>
      <vt:lpstr>Results- Methodology</vt:lpstr>
      <vt:lpstr>Novelty and Contribution</vt:lpstr>
      <vt:lpstr>Bias and Future Work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26</cp:revision>
  <dcterms:created xsi:type="dcterms:W3CDTF">2025-11-24T23:14:25Z</dcterms:created>
  <dcterms:modified xsi:type="dcterms:W3CDTF">2025-12-06T17:29:39Z</dcterms:modified>
</cp:coreProperties>
</file>