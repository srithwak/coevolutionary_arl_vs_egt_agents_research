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9" r:id="rId14"/>
    <p:sldId id="270" r:id="rId15"/>
    <p:sldId id="271"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90" d="100"/>
          <a:sy n="90" d="100"/>
        </p:scale>
        <p:origin x="355"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B3E9E1-4A0C-F63C-34A3-C99F58CBC4F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D12C669-6CE4-FCE2-C908-A6718D5EE3F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5242946-9088-39BE-A7EA-790F1578CB84}"/>
              </a:ext>
            </a:extLst>
          </p:cNvPr>
          <p:cNvSpPr>
            <a:spLocks noGrp="1"/>
          </p:cNvSpPr>
          <p:nvPr>
            <p:ph type="dt" sz="half" idx="10"/>
          </p:nvPr>
        </p:nvSpPr>
        <p:spPr/>
        <p:txBody>
          <a:bodyPr/>
          <a:lstStyle/>
          <a:p>
            <a:fld id="{09D397A9-6129-4C50-B0E5-F102EDF526C0}" type="datetimeFigureOut">
              <a:rPr lang="en-US" smtClean="0"/>
              <a:t>11/24/2025</a:t>
            </a:fld>
            <a:endParaRPr lang="en-US"/>
          </a:p>
        </p:txBody>
      </p:sp>
      <p:sp>
        <p:nvSpPr>
          <p:cNvPr id="5" name="Footer Placeholder 4">
            <a:extLst>
              <a:ext uri="{FF2B5EF4-FFF2-40B4-BE49-F238E27FC236}">
                <a16:creationId xmlns:a16="http://schemas.microsoft.com/office/drawing/2014/main" id="{70120014-2B6F-267C-6002-21A00EDFF9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4A576A6-F9E7-FDE2-950A-E36708E49529}"/>
              </a:ext>
            </a:extLst>
          </p:cNvPr>
          <p:cNvSpPr>
            <a:spLocks noGrp="1"/>
          </p:cNvSpPr>
          <p:nvPr>
            <p:ph type="sldNum" sz="quarter" idx="12"/>
          </p:nvPr>
        </p:nvSpPr>
        <p:spPr/>
        <p:txBody>
          <a:bodyPr/>
          <a:lstStyle/>
          <a:p>
            <a:fld id="{2A9FC758-8580-4C2F-8C4C-5B6986765011}" type="slidenum">
              <a:rPr lang="en-US" smtClean="0"/>
              <a:t>‹#›</a:t>
            </a:fld>
            <a:endParaRPr lang="en-US"/>
          </a:p>
        </p:txBody>
      </p:sp>
    </p:spTree>
    <p:extLst>
      <p:ext uri="{BB962C8B-B14F-4D97-AF65-F5344CB8AC3E}">
        <p14:creationId xmlns:p14="http://schemas.microsoft.com/office/powerpoint/2010/main" val="38198145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F79F52-4FF6-DD52-5C9A-8E9CA9C5A60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3D30CA-C863-8976-D043-B1B1370A27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DFC4F6A-F020-5FE8-6C10-4FFB7F2B6016}"/>
              </a:ext>
            </a:extLst>
          </p:cNvPr>
          <p:cNvSpPr>
            <a:spLocks noGrp="1"/>
          </p:cNvSpPr>
          <p:nvPr>
            <p:ph type="dt" sz="half" idx="10"/>
          </p:nvPr>
        </p:nvSpPr>
        <p:spPr/>
        <p:txBody>
          <a:bodyPr/>
          <a:lstStyle/>
          <a:p>
            <a:fld id="{09D397A9-6129-4C50-B0E5-F102EDF526C0}" type="datetimeFigureOut">
              <a:rPr lang="en-US" smtClean="0"/>
              <a:t>11/24/2025</a:t>
            </a:fld>
            <a:endParaRPr lang="en-US"/>
          </a:p>
        </p:txBody>
      </p:sp>
      <p:sp>
        <p:nvSpPr>
          <p:cNvPr id="5" name="Footer Placeholder 4">
            <a:extLst>
              <a:ext uri="{FF2B5EF4-FFF2-40B4-BE49-F238E27FC236}">
                <a16:creationId xmlns:a16="http://schemas.microsoft.com/office/drawing/2014/main" id="{9DC03918-8F21-4AC9-4A96-5D658E898EA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9E29095-3FDD-BE8D-FBBE-68C0DEEC9FE8}"/>
              </a:ext>
            </a:extLst>
          </p:cNvPr>
          <p:cNvSpPr>
            <a:spLocks noGrp="1"/>
          </p:cNvSpPr>
          <p:nvPr>
            <p:ph type="sldNum" sz="quarter" idx="12"/>
          </p:nvPr>
        </p:nvSpPr>
        <p:spPr/>
        <p:txBody>
          <a:bodyPr/>
          <a:lstStyle/>
          <a:p>
            <a:fld id="{2A9FC758-8580-4C2F-8C4C-5B6986765011}" type="slidenum">
              <a:rPr lang="en-US" smtClean="0"/>
              <a:t>‹#›</a:t>
            </a:fld>
            <a:endParaRPr lang="en-US"/>
          </a:p>
        </p:txBody>
      </p:sp>
    </p:spTree>
    <p:extLst>
      <p:ext uri="{BB962C8B-B14F-4D97-AF65-F5344CB8AC3E}">
        <p14:creationId xmlns:p14="http://schemas.microsoft.com/office/powerpoint/2010/main" val="5348202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696AE-D5D6-EA4E-52B8-E645C796B96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44307F0-E067-D610-5D66-071BFE40909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4D4F4CD-8933-D849-8D29-DF0E6DFE64E5}"/>
              </a:ext>
            </a:extLst>
          </p:cNvPr>
          <p:cNvSpPr>
            <a:spLocks noGrp="1"/>
          </p:cNvSpPr>
          <p:nvPr>
            <p:ph type="dt" sz="half" idx="10"/>
          </p:nvPr>
        </p:nvSpPr>
        <p:spPr/>
        <p:txBody>
          <a:bodyPr/>
          <a:lstStyle/>
          <a:p>
            <a:fld id="{09D397A9-6129-4C50-B0E5-F102EDF526C0}" type="datetimeFigureOut">
              <a:rPr lang="en-US" smtClean="0"/>
              <a:t>11/24/2025</a:t>
            </a:fld>
            <a:endParaRPr lang="en-US"/>
          </a:p>
        </p:txBody>
      </p:sp>
      <p:sp>
        <p:nvSpPr>
          <p:cNvPr id="5" name="Footer Placeholder 4">
            <a:extLst>
              <a:ext uri="{FF2B5EF4-FFF2-40B4-BE49-F238E27FC236}">
                <a16:creationId xmlns:a16="http://schemas.microsoft.com/office/drawing/2014/main" id="{BB206876-C9ED-FD6F-6507-B192476DCE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07317-D1CE-7941-FD4E-E2747458E7D6}"/>
              </a:ext>
            </a:extLst>
          </p:cNvPr>
          <p:cNvSpPr>
            <a:spLocks noGrp="1"/>
          </p:cNvSpPr>
          <p:nvPr>
            <p:ph type="sldNum" sz="quarter" idx="12"/>
          </p:nvPr>
        </p:nvSpPr>
        <p:spPr/>
        <p:txBody>
          <a:bodyPr/>
          <a:lstStyle/>
          <a:p>
            <a:fld id="{2A9FC758-8580-4C2F-8C4C-5B6986765011}" type="slidenum">
              <a:rPr lang="en-US" smtClean="0"/>
              <a:t>‹#›</a:t>
            </a:fld>
            <a:endParaRPr lang="en-US"/>
          </a:p>
        </p:txBody>
      </p:sp>
    </p:spTree>
    <p:extLst>
      <p:ext uri="{BB962C8B-B14F-4D97-AF65-F5344CB8AC3E}">
        <p14:creationId xmlns:p14="http://schemas.microsoft.com/office/powerpoint/2010/main" val="10056249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7E1F5-44AF-5F9D-548E-311949A31C5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2901D57-3B7C-67BB-B1A8-A2662EC0C31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0D4A710-0891-FA74-8264-93EC3D20E36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B7EF8A7-BD7C-B089-C9F2-1A470CCC1450}"/>
              </a:ext>
            </a:extLst>
          </p:cNvPr>
          <p:cNvSpPr>
            <a:spLocks noGrp="1"/>
          </p:cNvSpPr>
          <p:nvPr>
            <p:ph type="dt" sz="half" idx="10"/>
          </p:nvPr>
        </p:nvSpPr>
        <p:spPr/>
        <p:txBody>
          <a:bodyPr/>
          <a:lstStyle/>
          <a:p>
            <a:fld id="{09D397A9-6129-4C50-B0E5-F102EDF526C0}" type="datetimeFigureOut">
              <a:rPr lang="en-US" smtClean="0"/>
              <a:t>11/24/2025</a:t>
            </a:fld>
            <a:endParaRPr lang="en-US"/>
          </a:p>
        </p:txBody>
      </p:sp>
      <p:sp>
        <p:nvSpPr>
          <p:cNvPr id="6" name="Footer Placeholder 5">
            <a:extLst>
              <a:ext uri="{FF2B5EF4-FFF2-40B4-BE49-F238E27FC236}">
                <a16:creationId xmlns:a16="http://schemas.microsoft.com/office/drawing/2014/main" id="{977D90B0-ECD0-54D0-18BD-11FA4A5FBE5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EB9BC9A-2CC5-462D-1AAC-68DC3D4748D6}"/>
              </a:ext>
            </a:extLst>
          </p:cNvPr>
          <p:cNvSpPr>
            <a:spLocks noGrp="1"/>
          </p:cNvSpPr>
          <p:nvPr>
            <p:ph type="sldNum" sz="quarter" idx="12"/>
          </p:nvPr>
        </p:nvSpPr>
        <p:spPr/>
        <p:txBody>
          <a:bodyPr/>
          <a:lstStyle/>
          <a:p>
            <a:fld id="{2A9FC758-8580-4C2F-8C4C-5B6986765011}" type="slidenum">
              <a:rPr lang="en-US" smtClean="0"/>
              <a:t>‹#›</a:t>
            </a:fld>
            <a:endParaRPr lang="en-US"/>
          </a:p>
        </p:txBody>
      </p:sp>
    </p:spTree>
    <p:extLst>
      <p:ext uri="{BB962C8B-B14F-4D97-AF65-F5344CB8AC3E}">
        <p14:creationId xmlns:p14="http://schemas.microsoft.com/office/powerpoint/2010/main" val="36823747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A9AC3-36C5-09E8-1135-FF3BDD4BF37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018379E-8BF1-5786-990D-533AE2EB059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B88E6F6-FC4A-A2B0-076C-81061C110DF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06F85A1-6624-1B99-99C4-C88FFAC90E6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78CE6F-D567-83A8-C56C-7E9F61A6E7D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C3F37A1-38CB-7669-5037-696E7E94B863}"/>
              </a:ext>
            </a:extLst>
          </p:cNvPr>
          <p:cNvSpPr>
            <a:spLocks noGrp="1"/>
          </p:cNvSpPr>
          <p:nvPr>
            <p:ph type="dt" sz="half" idx="10"/>
          </p:nvPr>
        </p:nvSpPr>
        <p:spPr/>
        <p:txBody>
          <a:bodyPr/>
          <a:lstStyle/>
          <a:p>
            <a:fld id="{09D397A9-6129-4C50-B0E5-F102EDF526C0}" type="datetimeFigureOut">
              <a:rPr lang="en-US" smtClean="0"/>
              <a:t>11/24/2025</a:t>
            </a:fld>
            <a:endParaRPr lang="en-US"/>
          </a:p>
        </p:txBody>
      </p:sp>
      <p:sp>
        <p:nvSpPr>
          <p:cNvPr id="8" name="Footer Placeholder 7">
            <a:extLst>
              <a:ext uri="{FF2B5EF4-FFF2-40B4-BE49-F238E27FC236}">
                <a16:creationId xmlns:a16="http://schemas.microsoft.com/office/drawing/2014/main" id="{95E55C38-0B67-D491-EFD0-2EA0BF24B15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11E6545-471C-15E5-495E-D15985CFD0EB}"/>
              </a:ext>
            </a:extLst>
          </p:cNvPr>
          <p:cNvSpPr>
            <a:spLocks noGrp="1"/>
          </p:cNvSpPr>
          <p:nvPr>
            <p:ph type="sldNum" sz="quarter" idx="12"/>
          </p:nvPr>
        </p:nvSpPr>
        <p:spPr/>
        <p:txBody>
          <a:bodyPr/>
          <a:lstStyle/>
          <a:p>
            <a:fld id="{2A9FC758-8580-4C2F-8C4C-5B6986765011}" type="slidenum">
              <a:rPr lang="en-US" smtClean="0"/>
              <a:t>‹#›</a:t>
            </a:fld>
            <a:endParaRPr lang="en-US"/>
          </a:p>
        </p:txBody>
      </p:sp>
    </p:spTree>
    <p:extLst>
      <p:ext uri="{BB962C8B-B14F-4D97-AF65-F5344CB8AC3E}">
        <p14:creationId xmlns:p14="http://schemas.microsoft.com/office/powerpoint/2010/main" val="1843603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7DD6F3-5EE8-399F-E534-9A59842D107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4BC390B-A13E-63DC-DAD9-5F84F5702B6C}"/>
              </a:ext>
            </a:extLst>
          </p:cNvPr>
          <p:cNvSpPr>
            <a:spLocks noGrp="1"/>
          </p:cNvSpPr>
          <p:nvPr>
            <p:ph type="dt" sz="half" idx="10"/>
          </p:nvPr>
        </p:nvSpPr>
        <p:spPr/>
        <p:txBody>
          <a:bodyPr/>
          <a:lstStyle/>
          <a:p>
            <a:fld id="{09D397A9-6129-4C50-B0E5-F102EDF526C0}" type="datetimeFigureOut">
              <a:rPr lang="en-US" smtClean="0"/>
              <a:t>11/24/2025</a:t>
            </a:fld>
            <a:endParaRPr lang="en-US"/>
          </a:p>
        </p:txBody>
      </p:sp>
      <p:sp>
        <p:nvSpPr>
          <p:cNvPr id="4" name="Footer Placeholder 3">
            <a:extLst>
              <a:ext uri="{FF2B5EF4-FFF2-40B4-BE49-F238E27FC236}">
                <a16:creationId xmlns:a16="http://schemas.microsoft.com/office/drawing/2014/main" id="{38182A35-E4F8-F1EA-CF50-2C233B41C4B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4758D43-15B2-E54F-FC41-840E94201116}"/>
              </a:ext>
            </a:extLst>
          </p:cNvPr>
          <p:cNvSpPr>
            <a:spLocks noGrp="1"/>
          </p:cNvSpPr>
          <p:nvPr>
            <p:ph type="sldNum" sz="quarter" idx="12"/>
          </p:nvPr>
        </p:nvSpPr>
        <p:spPr/>
        <p:txBody>
          <a:bodyPr/>
          <a:lstStyle/>
          <a:p>
            <a:fld id="{2A9FC758-8580-4C2F-8C4C-5B6986765011}" type="slidenum">
              <a:rPr lang="en-US" smtClean="0"/>
              <a:t>‹#›</a:t>
            </a:fld>
            <a:endParaRPr lang="en-US"/>
          </a:p>
        </p:txBody>
      </p:sp>
    </p:spTree>
    <p:extLst>
      <p:ext uri="{BB962C8B-B14F-4D97-AF65-F5344CB8AC3E}">
        <p14:creationId xmlns:p14="http://schemas.microsoft.com/office/powerpoint/2010/main" val="14112139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466BDA8-73C7-4588-AA1C-9AB002F2E3E9}"/>
              </a:ext>
            </a:extLst>
          </p:cNvPr>
          <p:cNvSpPr>
            <a:spLocks noGrp="1"/>
          </p:cNvSpPr>
          <p:nvPr>
            <p:ph type="dt" sz="half" idx="10"/>
          </p:nvPr>
        </p:nvSpPr>
        <p:spPr/>
        <p:txBody>
          <a:bodyPr/>
          <a:lstStyle/>
          <a:p>
            <a:fld id="{09D397A9-6129-4C50-B0E5-F102EDF526C0}" type="datetimeFigureOut">
              <a:rPr lang="en-US" smtClean="0"/>
              <a:t>11/24/2025</a:t>
            </a:fld>
            <a:endParaRPr lang="en-US"/>
          </a:p>
        </p:txBody>
      </p:sp>
      <p:sp>
        <p:nvSpPr>
          <p:cNvPr id="3" name="Footer Placeholder 2">
            <a:extLst>
              <a:ext uri="{FF2B5EF4-FFF2-40B4-BE49-F238E27FC236}">
                <a16:creationId xmlns:a16="http://schemas.microsoft.com/office/drawing/2014/main" id="{713FF54E-8D5D-7B53-FB8E-43F59CB3A7F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74A6BEF-7987-721E-B7B5-448468E728AF}"/>
              </a:ext>
            </a:extLst>
          </p:cNvPr>
          <p:cNvSpPr>
            <a:spLocks noGrp="1"/>
          </p:cNvSpPr>
          <p:nvPr>
            <p:ph type="sldNum" sz="quarter" idx="12"/>
          </p:nvPr>
        </p:nvSpPr>
        <p:spPr/>
        <p:txBody>
          <a:bodyPr/>
          <a:lstStyle/>
          <a:p>
            <a:fld id="{2A9FC758-8580-4C2F-8C4C-5B6986765011}" type="slidenum">
              <a:rPr lang="en-US" smtClean="0"/>
              <a:t>‹#›</a:t>
            </a:fld>
            <a:endParaRPr lang="en-US"/>
          </a:p>
        </p:txBody>
      </p:sp>
    </p:spTree>
    <p:extLst>
      <p:ext uri="{BB962C8B-B14F-4D97-AF65-F5344CB8AC3E}">
        <p14:creationId xmlns:p14="http://schemas.microsoft.com/office/powerpoint/2010/main" val="41202757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6077B-A6AE-1701-5A5C-1B1EE419F68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28F1633-7FD5-8A1A-77BE-C983D35F643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D7BD5D6-B4FC-8140-53F0-F4A561C7DD8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96AE160-6EED-669A-A38B-2A869ED0F3AA}"/>
              </a:ext>
            </a:extLst>
          </p:cNvPr>
          <p:cNvSpPr>
            <a:spLocks noGrp="1"/>
          </p:cNvSpPr>
          <p:nvPr>
            <p:ph type="dt" sz="half" idx="10"/>
          </p:nvPr>
        </p:nvSpPr>
        <p:spPr/>
        <p:txBody>
          <a:bodyPr/>
          <a:lstStyle/>
          <a:p>
            <a:fld id="{09D397A9-6129-4C50-B0E5-F102EDF526C0}" type="datetimeFigureOut">
              <a:rPr lang="en-US" smtClean="0"/>
              <a:t>11/24/2025</a:t>
            </a:fld>
            <a:endParaRPr lang="en-US"/>
          </a:p>
        </p:txBody>
      </p:sp>
      <p:sp>
        <p:nvSpPr>
          <p:cNvPr id="6" name="Footer Placeholder 5">
            <a:extLst>
              <a:ext uri="{FF2B5EF4-FFF2-40B4-BE49-F238E27FC236}">
                <a16:creationId xmlns:a16="http://schemas.microsoft.com/office/drawing/2014/main" id="{0D151E89-F8ED-1692-FF2E-4CACAC19DA9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FF93520-9EB4-3C92-2924-E0329AB6165F}"/>
              </a:ext>
            </a:extLst>
          </p:cNvPr>
          <p:cNvSpPr>
            <a:spLocks noGrp="1"/>
          </p:cNvSpPr>
          <p:nvPr>
            <p:ph type="sldNum" sz="quarter" idx="12"/>
          </p:nvPr>
        </p:nvSpPr>
        <p:spPr/>
        <p:txBody>
          <a:bodyPr/>
          <a:lstStyle/>
          <a:p>
            <a:fld id="{2A9FC758-8580-4C2F-8C4C-5B6986765011}" type="slidenum">
              <a:rPr lang="en-US" smtClean="0"/>
              <a:t>‹#›</a:t>
            </a:fld>
            <a:endParaRPr lang="en-US"/>
          </a:p>
        </p:txBody>
      </p:sp>
    </p:spTree>
    <p:extLst>
      <p:ext uri="{BB962C8B-B14F-4D97-AF65-F5344CB8AC3E}">
        <p14:creationId xmlns:p14="http://schemas.microsoft.com/office/powerpoint/2010/main" val="924682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8B864-9239-7852-A358-C35E7BB554F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38A9CD6-1432-1510-FFCE-E84237C52B1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B8BE444-2754-BF92-C1DA-82AE1AB330B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B6552EB-6094-7017-D647-5B430DAA1D34}"/>
              </a:ext>
            </a:extLst>
          </p:cNvPr>
          <p:cNvSpPr>
            <a:spLocks noGrp="1"/>
          </p:cNvSpPr>
          <p:nvPr>
            <p:ph type="dt" sz="half" idx="10"/>
          </p:nvPr>
        </p:nvSpPr>
        <p:spPr/>
        <p:txBody>
          <a:bodyPr/>
          <a:lstStyle/>
          <a:p>
            <a:fld id="{09D397A9-6129-4C50-B0E5-F102EDF526C0}" type="datetimeFigureOut">
              <a:rPr lang="en-US" smtClean="0"/>
              <a:t>11/24/2025</a:t>
            </a:fld>
            <a:endParaRPr lang="en-US"/>
          </a:p>
        </p:txBody>
      </p:sp>
      <p:sp>
        <p:nvSpPr>
          <p:cNvPr id="6" name="Footer Placeholder 5">
            <a:extLst>
              <a:ext uri="{FF2B5EF4-FFF2-40B4-BE49-F238E27FC236}">
                <a16:creationId xmlns:a16="http://schemas.microsoft.com/office/drawing/2014/main" id="{B8447B59-6536-0E95-BEC1-5432C5CD8DC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EAD46B6-F57F-ACE7-3A80-A88E614B0125}"/>
              </a:ext>
            </a:extLst>
          </p:cNvPr>
          <p:cNvSpPr>
            <a:spLocks noGrp="1"/>
          </p:cNvSpPr>
          <p:nvPr>
            <p:ph type="sldNum" sz="quarter" idx="12"/>
          </p:nvPr>
        </p:nvSpPr>
        <p:spPr/>
        <p:txBody>
          <a:bodyPr/>
          <a:lstStyle/>
          <a:p>
            <a:fld id="{2A9FC758-8580-4C2F-8C4C-5B6986765011}" type="slidenum">
              <a:rPr lang="en-US" smtClean="0"/>
              <a:t>‹#›</a:t>
            </a:fld>
            <a:endParaRPr lang="en-US"/>
          </a:p>
        </p:txBody>
      </p:sp>
    </p:spTree>
    <p:extLst>
      <p:ext uri="{BB962C8B-B14F-4D97-AF65-F5344CB8AC3E}">
        <p14:creationId xmlns:p14="http://schemas.microsoft.com/office/powerpoint/2010/main" val="32507193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12E495-3590-A4A8-CEAE-AB6A134D68C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3F9C088-0EE3-15D5-6630-01F36539AC2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A4BDF01-8DCE-9129-86F8-C20627ED559A}"/>
              </a:ext>
            </a:extLst>
          </p:cNvPr>
          <p:cNvSpPr>
            <a:spLocks noGrp="1"/>
          </p:cNvSpPr>
          <p:nvPr>
            <p:ph type="dt" sz="half" idx="10"/>
          </p:nvPr>
        </p:nvSpPr>
        <p:spPr/>
        <p:txBody>
          <a:bodyPr/>
          <a:lstStyle/>
          <a:p>
            <a:fld id="{09D397A9-6129-4C50-B0E5-F102EDF526C0}" type="datetimeFigureOut">
              <a:rPr lang="en-US" smtClean="0"/>
              <a:t>11/24/2025</a:t>
            </a:fld>
            <a:endParaRPr lang="en-US"/>
          </a:p>
        </p:txBody>
      </p:sp>
      <p:sp>
        <p:nvSpPr>
          <p:cNvPr id="5" name="Footer Placeholder 4">
            <a:extLst>
              <a:ext uri="{FF2B5EF4-FFF2-40B4-BE49-F238E27FC236}">
                <a16:creationId xmlns:a16="http://schemas.microsoft.com/office/drawing/2014/main" id="{F37E05B9-A853-9A5C-480F-E60EF4F33F8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129251C-13F4-648E-1170-6B137DEB7F9F}"/>
              </a:ext>
            </a:extLst>
          </p:cNvPr>
          <p:cNvSpPr>
            <a:spLocks noGrp="1"/>
          </p:cNvSpPr>
          <p:nvPr>
            <p:ph type="sldNum" sz="quarter" idx="12"/>
          </p:nvPr>
        </p:nvSpPr>
        <p:spPr/>
        <p:txBody>
          <a:bodyPr/>
          <a:lstStyle/>
          <a:p>
            <a:fld id="{2A9FC758-8580-4C2F-8C4C-5B6986765011}" type="slidenum">
              <a:rPr lang="en-US" smtClean="0"/>
              <a:t>‹#›</a:t>
            </a:fld>
            <a:endParaRPr lang="en-US"/>
          </a:p>
        </p:txBody>
      </p:sp>
    </p:spTree>
    <p:extLst>
      <p:ext uri="{BB962C8B-B14F-4D97-AF65-F5344CB8AC3E}">
        <p14:creationId xmlns:p14="http://schemas.microsoft.com/office/powerpoint/2010/main" val="22574775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BC05015-4787-ED1E-661B-20858260AD2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2420BCE-7519-A049-3757-6CFF9F1795C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FD75AC0-E4BA-C48B-7318-68ADF6B1B7BB}"/>
              </a:ext>
            </a:extLst>
          </p:cNvPr>
          <p:cNvSpPr>
            <a:spLocks noGrp="1"/>
          </p:cNvSpPr>
          <p:nvPr>
            <p:ph type="dt" sz="half" idx="10"/>
          </p:nvPr>
        </p:nvSpPr>
        <p:spPr/>
        <p:txBody>
          <a:bodyPr/>
          <a:lstStyle/>
          <a:p>
            <a:fld id="{09D397A9-6129-4C50-B0E5-F102EDF526C0}" type="datetimeFigureOut">
              <a:rPr lang="en-US" smtClean="0"/>
              <a:t>11/24/2025</a:t>
            </a:fld>
            <a:endParaRPr lang="en-US"/>
          </a:p>
        </p:txBody>
      </p:sp>
      <p:sp>
        <p:nvSpPr>
          <p:cNvPr id="5" name="Footer Placeholder 4">
            <a:extLst>
              <a:ext uri="{FF2B5EF4-FFF2-40B4-BE49-F238E27FC236}">
                <a16:creationId xmlns:a16="http://schemas.microsoft.com/office/drawing/2014/main" id="{1F8BD6CC-5AA8-2410-DE04-6B00F33551C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09BE9B3-D495-5047-7A83-282B3440329B}"/>
              </a:ext>
            </a:extLst>
          </p:cNvPr>
          <p:cNvSpPr>
            <a:spLocks noGrp="1"/>
          </p:cNvSpPr>
          <p:nvPr>
            <p:ph type="sldNum" sz="quarter" idx="12"/>
          </p:nvPr>
        </p:nvSpPr>
        <p:spPr/>
        <p:txBody>
          <a:bodyPr/>
          <a:lstStyle/>
          <a:p>
            <a:fld id="{2A9FC758-8580-4C2F-8C4C-5B6986765011}" type="slidenum">
              <a:rPr lang="en-US" smtClean="0"/>
              <a:t>‹#›</a:t>
            </a:fld>
            <a:endParaRPr lang="en-US"/>
          </a:p>
        </p:txBody>
      </p:sp>
    </p:spTree>
    <p:extLst>
      <p:ext uri="{BB962C8B-B14F-4D97-AF65-F5344CB8AC3E}">
        <p14:creationId xmlns:p14="http://schemas.microsoft.com/office/powerpoint/2010/main" val="36394879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E423CA6-F4D9-277C-78F6-7194C1585A8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C5AE43E-D23C-ACF6-09E5-F881C3277F6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DA5F74A-82B2-D56D-A050-E3F4C6A353C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9D397A9-6129-4C50-B0E5-F102EDF526C0}" type="datetimeFigureOut">
              <a:rPr lang="en-US" smtClean="0"/>
              <a:t>11/24/2025</a:t>
            </a:fld>
            <a:endParaRPr lang="en-US"/>
          </a:p>
        </p:txBody>
      </p:sp>
      <p:sp>
        <p:nvSpPr>
          <p:cNvPr id="5" name="Footer Placeholder 4">
            <a:extLst>
              <a:ext uri="{FF2B5EF4-FFF2-40B4-BE49-F238E27FC236}">
                <a16:creationId xmlns:a16="http://schemas.microsoft.com/office/drawing/2014/main" id="{BE0E049D-4148-BFA8-7DFA-AA59A4543B4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38B8D3BC-4E8F-F1EA-EEC6-AD65D74A0D4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A9FC758-8580-4C2F-8C4C-5B6986765011}" type="slidenum">
              <a:rPr lang="en-US" smtClean="0"/>
              <a:t>‹#›</a:t>
            </a:fld>
            <a:endParaRPr lang="en-US"/>
          </a:p>
        </p:txBody>
      </p:sp>
    </p:spTree>
    <p:extLst>
      <p:ext uri="{BB962C8B-B14F-4D97-AF65-F5344CB8AC3E}">
        <p14:creationId xmlns:p14="http://schemas.microsoft.com/office/powerpoint/2010/main" val="21037495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69A247-CB4C-647E-3233-44E4EE9E14BB}"/>
              </a:ext>
            </a:extLst>
          </p:cNvPr>
          <p:cNvSpPr>
            <a:spLocks noGrp="1"/>
          </p:cNvSpPr>
          <p:nvPr>
            <p:ph type="ctrTitle"/>
          </p:nvPr>
        </p:nvSpPr>
        <p:spPr/>
        <p:txBody>
          <a:bodyPr>
            <a:normAutofit fontScale="90000"/>
          </a:bodyPr>
          <a:lstStyle/>
          <a:p>
            <a:r>
              <a:rPr lang="en-US" dirty="0"/>
              <a:t>Can an ARL Agent Outperform EGT Populations in a Simulated Market?</a:t>
            </a:r>
          </a:p>
        </p:txBody>
      </p:sp>
      <p:sp>
        <p:nvSpPr>
          <p:cNvPr id="3" name="Subtitle 2">
            <a:extLst>
              <a:ext uri="{FF2B5EF4-FFF2-40B4-BE49-F238E27FC236}">
                <a16:creationId xmlns:a16="http://schemas.microsoft.com/office/drawing/2014/main" id="{D1B84906-9D30-7164-FCFB-21ED43ABD301}"/>
              </a:ext>
            </a:extLst>
          </p:cNvPr>
          <p:cNvSpPr>
            <a:spLocks noGrp="1"/>
          </p:cNvSpPr>
          <p:nvPr>
            <p:ph type="subTitle" idx="1"/>
          </p:nvPr>
        </p:nvSpPr>
        <p:spPr/>
        <p:txBody>
          <a:bodyPr/>
          <a:lstStyle/>
          <a:p>
            <a:r>
              <a:rPr lang="en-US" dirty="0"/>
              <a:t>Rithwak Somepalli</a:t>
            </a:r>
          </a:p>
          <a:p>
            <a:r>
              <a:rPr lang="en-US" dirty="0"/>
              <a:t>Praneeth Rangarajan</a:t>
            </a:r>
          </a:p>
        </p:txBody>
      </p:sp>
      <p:sp>
        <p:nvSpPr>
          <p:cNvPr id="4" name="Subtitle 2">
            <a:extLst>
              <a:ext uri="{FF2B5EF4-FFF2-40B4-BE49-F238E27FC236}">
                <a16:creationId xmlns:a16="http://schemas.microsoft.com/office/drawing/2014/main" id="{8C4B4F79-9038-9E6F-9E06-73240F374B5D}"/>
              </a:ext>
            </a:extLst>
          </p:cNvPr>
          <p:cNvSpPr txBox="1">
            <a:spLocks/>
          </p:cNvSpPr>
          <p:nvPr/>
        </p:nvSpPr>
        <p:spPr>
          <a:xfrm>
            <a:off x="1676400" y="3754438"/>
            <a:ext cx="9144000" cy="1655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dirty="0"/>
          </a:p>
        </p:txBody>
      </p:sp>
      <p:sp>
        <p:nvSpPr>
          <p:cNvPr id="5" name="Subtitle 2">
            <a:extLst>
              <a:ext uri="{FF2B5EF4-FFF2-40B4-BE49-F238E27FC236}">
                <a16:creationId xmlns:a16="http://schemas.microsoft.com/office/drawing/2014/main" id="{7091FCEB-18FF-7E34-8E17-E17456A20F7E}"/>
              </a:ext>
            </a:extLst>
          </p:cNvPr>
          <p:cNvSpPr txBox="1">
            <a:spLocks/>
          </p:cNvSpPr>
          <p:nvPr/>
        </p:nvSpPr>
        <p:spPr>
          <a:xfrm>
            <a:off x="1755648" y="4521994"/>
            <a:ext cx="9144000" cy="1655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t>Using Financial Markets to Test Deep Reinforcement Learning against Adaptive Adversaries</a:t>
            </a:r>
          </a:p>
        </p:txBody>
      </p:sp>
    </p:spTree>
    <p:extLst>
      <p:ext uri="{BB962C8B-B14F-4D97-AF65-F5344CB8AC3E}">
        <p14:creationId xmlns:p14="http://schemas.microsoft.com/office/powerpoint/2010/main" val="17275688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8436D2-C349-4E5C-61EF-DF2174A71BFC}"/>
              </a:ext>
            </a:extLst>
          </p:cNvPr>
          <p:cNvSpPr>
            <a:spLocks noGrp="1"/>
          </p:cNvSpPr>
          <p:nvPr>
            <p:ph type="title"/>
          </p:nvPr>
        </p:nvSpPr>
        <p:spPr/>
        <p:txBody>
          <a:bodyPr>
            <a:normAutofit/>
          </a:bodyPr>
          <a:lstStyle/>
          <a:p>
            <a:r>
              <a:rPr lang="en-US" b="1" dirty="0"/>
              <a:t>Introduction &amp; Research Question</a:t>
            </a:r>
            <a:endParaRPr lang="en-US" dirty="0"/>
          </a:p>
        </p:txBody>
      </p:sp>
      <p:sp>
        <p:nvSpPr>
          <p:cNvPr id="3" name="Content Placeholder 2">
            <a:extLst>
              <a:ext uri="{FF2B5EF4-FFF2-40B4-BE49-F238E27FC236}">
                <a16:creationId xmlns:a16="http://schemas.microsoft.com/office/drawing/2014/main" id="{C1E9CE7E-32B9-3967-BB71-0F3E7AB55964}"/>
              </a:ext>
            </a:extLst>
          </p:cNvPr>
          <p:cNvSpPr>
            <a:spLocks noGrp="1"/>
          </p:cNvSpPr>
          <p:nvPr>
            <p:ph idx="1"/>
          </p:nvPr>
        </p:nvSpPr>
        <p:spPr/>
        <p:txBody>
          <a:bodyPr/>
          <a:lstStyle/>
          <a:p>
            <a:r>
              <a:rPr lang="en-US" b="1" dirty="0"/>
              <a:t>Goal</a:t>
            </a:r>
            <a:r>
              <a:rPr lang="en-US" dirty="0"/>
              <a:t>: Use a high‑noise, non‑stationary simulated stock market as a </a:t>
            </a:r>
            <a:r>
              <a:rPr lang="en-US" i="1" dirty="0"/>
              <a:t>research playground</a:t>
            </a:r>
            <a:r>
              <a:rPr lang="en-US" dirty="0"/>
              <a:t> to study AI robustness, adaptation, and complex‑system dynamics.</a:t>
            </a:r>
          </a:p>
          <a:p>
            <a:r>
              <a:rPr lang="en-US" b="1" dirty="0"/>
              <a:t>Research Question</a:t>
            </a:r>
            <a:r>
              <a:rPr lang="en-US" dirty="0"/>
              <a:t>: How does an Adaptive Reinforcement Learning (ARL) agent perform, adapt, and influence an evolving population of heuristic traders (EGT) in this environment?</a:t>
            </a:r>
          </a:p>
          <a:p>
            <a:pPr marL="0" indent="0">
              <a:buNone/>
            </a:pPr>
            <a:endParaRPr lang="en-US" dirty="0"/>
          </a:p>
        </p:txBody>
      </p:sp>
    </p:spTree>
    <p:extLst>
      <p:ext uri="{BB962C8B-B14F-4D97-AF65-F5344CB8AC3E}">
        <p14:creationId xmlns:p14="http://schemas.microsoft.com/office/powerpoint/2010/main" val="32891683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A1BFB-DCD3-6DE5-7359-6A3CDD184496}"/>
              </a:ext>
            </a:extLst>
          </p:cNvPr>
          <p:cNvSpPr>
            <a:spLocks noGrp="1"/>
          </p:cNvSpPr>
          <p:nvPr>
            <p:ph type="title"/>
          </p:nvPr>
        </p:nvSpPr>
        <p:spPr/>
        <p:txBody>
          <a:bodyPr/>
          <a:lstStyle/>
          <a:p>
            <a:r>
              <a:rPr lang="en-US" b="1" dirty="0"/>
              <a:t>Motivation</a:t>
            </a:r>
            <a:endParaRPr lang="en-US" dirty="0"/>
          </a:p>
        </p:txBody>
      </p:sp>
      <p:sp>
        <p:nvSpPr>
          <p:cNvPr id="3" name="Content Placeholder 2">
            <a:extLst>
              <a:ext uri="{FF2B5EF4-FFF2-40B4-BE49-F238E27FC236}">
                <a16:creationId xmlns:a16="http://schemas.microsoft.com/office/drawing/2014/main" id="{48BE6CC0-3AF8-4D35-2925-925C9DA26460}"/>
              </a:ext>
            </a:extLst>
          </p:cNvPr>
          <p:cNvSpPr>
            <a:spLocks noGrp="1"/>
          </p:cNvSpPr>
          <p:nvPr>
            <p:ph idx="1"/>
          </p:nvPr>
        </p:nvSpPr>
        <p:spPr/>
        <p:txBody>
          <a:bodyPr/>
          <a:lstStyle/>
          <a:p>
            <a:r>
              <a:rPr lang="en-US" dirty="0"/>
              <a:t>Markets provide adversarial, non‑stationary dynamics that stress‑test learning algorithms.</a:t>
            </a:r>
          </a:p>
          <a:p>
            <a:r>
              <a:rPr lang="en-US" dirty="0"/>
              <a:t>Safe experimentation on </a:t>
            </a:r>
            <a:r>
              <a:rPr lang="en-US" b="1" dirty="0"/>
              <a:t>general AI capabilities</a:t>
            </a:r>
            <a:r>
              <a:rPr lang="en-US" dirty="0"/>
              <a:t> without real‑world financial risk.</a:t>
            </a:r>
          </a:p>
          <a:p>
            <a:r>
              <a:rPr lang="en-US" dirty="0"/>
              <a:t>Directly ties to AI syllabus themes: search, problem solving, knowledge representation, reasoning, and learning.</a:t>
            </a:r>
          </a:p>
        </p:txBody>
      </p:sp>
    </p:spTree>
    <p:extLst>
      <p:ext uri="{BB962C8B-B14F-4D97-AF65-F5344CB8AC3E}">
        <p14:creationId xmlns:p14="http://schemas.microsoft.com/office/powerpoint/2010/main" val="35082389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DF8621-571F-AB04-E155-C55E40D62905}"/>
              </a:ext>
            </a:extLst>
          </p:cNvPr>
          <p:cNvSpPr>
            <a:spLocks noGrp="1"/>
          </p:cNvSpPr>
          <p:nvPr>
            <p:ph type="title"/>
          </p:nvPr>
        </p:nvSpPr>
        <p:spPr/>
        <p:txBody>
          <a:bodyPr/>
          <a:lstStyle/>
          <a:p>
            <a:r>
              <a:rPr lang="en-US" b="1" dirty="0"/>
              <a:t>AI Foundations</a:t>
            </a:r>
            <a:endParaRPr lang="en-US" dirty="0"/>
          </a:p>
        </p:txBody>
      </p:sp>
      <p:sp>
        <p:nvSpPr>
          <p:cNvPr id="3" name="Content Placeholder 2">
            <a:extLst>
              <a:ext uri="{FF2B5EF4-FFF2-40B4-BE49-F238E27FC236}">
                <a16:creationId xmlns:a16="http://schemas.microsoft.com/office/drawing/2014/main" id="{1C2B7280-0B9C-BB12-98CC-A56D2F415F2D}"/>
              </a:ext>
            </a:extLst>
          </p:cNvPr>
          <p:cNvSpPr>
            <a:spLocks noGrp="1"/>
          </p:cNvSpPr>
          <p:nvPr>
            <p:ph idx="1"/>
          </p:nvPr>
        </p:nvSpPr>
        <p:spPr/>
        <p:txBody>
          <a:bodyPr>
            <a:normAutofit lnSpcReduction="10000"/>
          </a:bodyPr>
          <a:lstStyle/>
          <a:p>
            <a:r>
              <a:rPr lang="en-US" dirty="0"/>
              <a:t>Search &amp; Optimization – ARL explores a discrete action‑space of bid/ask spreads.</a:t>
            </a:r>
          </a:p>
          <a:p>
            <a:r>
              <a:rPr lang="en-US" dirty="0"/>
              <a:t>Problem Solving &amp; Planning – Market simulation is an MDP (states → actions → rewards).</a:t>
            </a:r>
          </a:p>
          <a:p>
            <a:r>
              <a:rPr lang="en-US" dirty="0"/>
              <a:t>Knowledge &amp; Reasoning – State fuses market indicators (volatility, momentum, RSI) with inventory knowledge.</a:t>
            </a:r>
          </a:p>
          <a:p>
            <a:r>
              <a:rPr lang="en-US" dirty="0"/>
              <a:t>Learning Paradigms – DDQN (deep RL) combined with Evolutionary Game Theory (replicator dynamics).</a:t>
            </a:r>
          </a:p>
          <a:p>
            <a:r>
              <a:rPr lang="en-US" dirty="0"/>
              <a:t>Ethical Impact – Demonstrates AI behavior in high‑risk, multi‑agent systems.</a:t>
            </a:r>
          </a:p>
        </p:txBody>
      </p:sp>
    </p:spTree>
    <p:extLst>
      <p:ext uri="{BB962C8B-B14F-4D97-AF65-F5344CB8AC3E}">
        <p14:creationId xmlns:p14="http://schemas.microsoft.com/office/powerpoint/2010/main" val="36404700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F6B0C3-06AE-BC0C-F5D6-2A619D9BDD76}"/>
              </a:ext>
            </a:extLst>
          </p:cNvPr>
          <p:cNvSpPr>
            <a:spLocks noGrp="1"/>
          </p:cNvSpPr>
          <p:nvPr>
            <p:ph type="title"/>
          </p:nvPr>
        </p:nvSpPr>
        <p:spPr/>
        <p:txBody>
          <a:bodyPr/>
          <a:lstStyle/>
          <a:p>
            <a:r>
              <a:rPr lang="en-US" b="1" dirty="0"/>
              <a:t>Methodology – ARL Agent</a:t>
            </a:r>
            <a:endParaRPr lang="en-US" dirty="0"/>
          </a:p>
        </p:txBody>
      </p:sp>
      <p:sp>
        <p:nvSpPr>
          <p:cNvPr id="3" name="Content Placeholder 2">
            <a:extLst>
              <a:ext uri="{FF2B5EF4-FFF2-40B4-BE49-F238E27FC236}">
                <a16:creationId xmlns:a16="http://schemas.microsoft.com/office/drawing/2014/main" id="{83ED6CDE-AC54-1749-5592-735994B8AECF}"/>
              </a:ext>
            </a:extLst>
          </p:cNvPr>
          <p:cNvSpPr>
            <a:spLocks noGrp="1"/>
          </p:cNvSpPr>
          <p:nvPr>
            <p:ph idx="1"/>
          </p:nvPr>
        </p:nvSpPr>
        <p:spPr/>
        <p:txBody>
          <a:bodyPr>
            <a:normAutofit fontScale="77500" lnSpcReduction="20000"/>
          </a:bodyPr>
          <a:lstStyle/>
          <a:p>
            <a:r>
              <a:rPr lang="en-US" dirty="0"/>
              <a:t>Architecture: Double Deep Q‑Network (DDQN) for value approximation.</a:t>
            </a:r>
          </a:p>
          <a:p>
            <a:r>
              <a:rPr lang="en-US" dirty="0"/>
              <a:t>State Vector: Inventory level, volatility, momentum, normalized volume, RSI, time‑remaining.</a:t>
            </a:r>
          </a:p>
          <a:p>
            <a:r>
              <a:rPr lang="en-US" dirty="0"/>
              <a:t>Action Space: Discrete set of bid/ask spread pairs (tight, medium, wide).</a:t>
            </a:r>
          </a:p>
          <a:p>
            <a:r>
              <a:rPr lang="en-US" dirty="0"/>
              <a:t>Exploitation / Safeguard Mechanisms:</a:t>
            </a:r>
          </a:p>
          <a:p>
            <a:pPr lvl="1"/>
            <a:r>
              <a:rPr lang="en-US" dirty="0"/>
              <a:t>Exploitation – When volatility is high and the EGT population is passive, the ARL tightens spreads to capture the spread profit.</a:t>
            </a:r>
          </a:p>
          <a:p>
            <a:pPr lvl="1"/>
            <a:r>
              <a:rPr lang="en-US" dirty="0"/>
              <a:t>Safeguard – When inventory grows large or market volatility spikes, the ARL widens spreads or reduces quote frequency, limiting exposure and keeping the EGT population in check.</a:t>
            </a:r>
          </a:p>
          <a:p>
            <a:r>
              <a:rPr lang="en-US" dirty="0"/>
              <a:t>Reward Function:</a:t>
            </a:r>
          </a:p>
          <a:p>
            <a:pPr lvl="1"/>
            <a:r>
              <a:rPr lang="en-US" dirty="0"/>
              <a:t>Hybrid of absolute </a:t>
            </a:r>
            <a:r>
              <a:rPr lang="en-US" dirty="0" err="1"/>
              <a:t>PnL</a:t>
            </a:r>
            <a:r>
              <a:rPr lang="en-US" dirty="0"/>
              <a:t> and relative return.</a:t>
            </a:r>
          </a:p>
          <a:p>
            <a:pPr lvl="1"/>
            <a:r>
              <a:rPr lang="en-US" dirty="0"/>
              <a:t>Penalties for inventory risk and transaction costs.</a:t>
            </a:r>
          </a:p>
          <a:p>
            <a:pPr lvl="1"/>
            <a:r>
              <a:rPr lang="en-US" dirty="0"/>
              <a:t>Spread‑capture bonus when the ARL's quote is crossed and the market moves against the EGT population.</a:t>
            </a:r>
          </a:p>
        </p:txBody>
      </p:sp>
    </p:spTree>
    <p:extLst>
      <p:ext uri="{BB962C8B-B14F-4D97-AF65-F5344CB8AC3E}">
        <p14:creationId xmlns:p14="http://schemas.microsoft.com/office/powerpoint/2010/main" val="17160171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BDB07B-306C-57F2-1472-7298F64C2B0A}"/>
              </a:ext>
            </a:extLst>
          </p:cNvPr>
          <p:cNvSpPr>
            <a:spLocks noGrp="1"/>
          </p:cNvSpPr>
          <p:nvPr>
            <p:ph type="title"/>
          </p:nvPr>
        </p:nvSpPr>
        <p:spPr/>
        <p:txBody>
          <a:bodyPr/>
          <a:lstStyle/>
          <a:p>
            <a:r>
              <a:rPr lang="en-US" b="1" dirty="0"/>
              <a:t>Methodology – EGT Population</a:t>
            </a:r>
            <a:endParaRPr lang="en-US" dirty="0"/>
          </a:p>
        </p:txBody>
      </p:sp>
      <p:sp>
        <p:nvSpPr>
          <p:cNvPr id="3" name="Content Placeholder 2">
            <a:extLst>
              <a:ext uri="{FF2B5EF4-FFF2-40B4-BE49-F238E27FC236}">
                <a16:creationId xmlns:a16="http://schemas.microsoft.com/office/drawing/2014/main" id="{D074B8DC-132A-C6C9-8A2E-8F260AC58562}"/>
              </a:ext>
            </a:extLst>
          </p:cNvPr>
          <p:cNvSpPr>
            <a:spLocks noGrp="1"/>
          </p:cNvSpPr>
          <p:nvPr>
            <p:ph idx="1"/>
          </p:nvPr>
        </p:nvSpPr>
        <p:spPr/>
        <p:txBody>
          <a:bodyPr>
            <a:normAutofit fontScale="92500"/>
          </a:bodyPr>
          <a:lstStyle/>
          <a:p>
            <a:r>
              <a:rPr lang="en-US" dirty="0"/>
              <a:t>Heuristic Strategies: Aggressive, Passive, Momentum, Random.</a:t>
            </a:r>
          </a:p>
          <a:p>
            <a:r>
              <a:rPr lang="en-US" dirty="0"/>
              <a:t>Fitness Evaluation: Profitability of each trader over a rolling window (e.g., last 500 steps).</a:t>
            </a:r>
          </a:p>
          <a:p>
            <a:r>
              <a:rPr lang="en-US" dirty="0"/>
              <a:t>Selection Mechanism: Replicator dynamics – strategy frequencies are updated proportionally to fitness; higher‑profit strategies replicate, lower‑profit shrink.</a:t>
            </a:r>
          </a:p>
          <a:p>
            <a:r>
              <a:rPr lang="en-US" dirty="0"/>
              <a:t>Mutation: Small random perturbation (~2%) introduces new strategy variants, preserving diversity.</a:t>
            </a:r>
          </a:p>
          <a:p>
            <a:r>
              <a:rPr lang="en-US" dirty="0"/>
              <a:t>Effect on ARL: The evolving mix of strategies changes market pressure, forcing the ARL to continuously adapt its spread‑quoting policy.</a:t>
            </a:r>
          </a:p>
        </p:txBody>
      </p:sp>
    </p:spTree>
    <p:extLst>
      <p:ext uri="{BB962C8B-B14F-4D97-AF65-F5344CB8AC3E}">
        <p14:creationId xmlns:p14="http://schemas.microsoft.com/office/powerpoint/2010/main" val="16037237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B5894E-22EC-A591-1A16-C277ECF50904}"/>
              </a:ext>
            </a:extLst>
          </p:cNvPr>
          <p:cNvSpPr>
            <a:spLocks noGrp="1"/>
          </p:cNvSpPr>
          <p:nvPr>
            <p:ph type="title"/>
          </p:nvPr>
        </p:nvSpPr>
        <p:spPr/>
        <p:txBody>
          <a:bodyPr/>
          <a:lstStyle/>
          <a:p>
            <a:r>
              <a:rPr lang="en-US" b="1" dirty="0"/>
              <a:t>Interaction Loop</a:t>
            </a:r>
            <a:endParaRPr lang="en-US" dirty="0"/>
          </a:p>
        </p:txBody>
      </p:sp>
      <p:sp>
        <p:nvSpPr>
          <p:cNvPr id="3" name="Content Placeholder 2">
            <a:extLst>
              <a:ext uri="{FF2B5EF4-FFF2-40B4-BE49-F238E27FC236}">
                <a16:creationId xmlns:a16="http://schemas.microsoft.com/office/drawing/2014/main" id="{17D87570-FFBA-35F6-A3C1-9D458839B3A3}"/>
              </a:ext>
            </a:extLst>
          </p:cNvPr>
          <p:cNvSpPr>
            <a:spLocks noGrp="1"/>
          </p:cNvSpPr>
          <p:nvPr>
            <p:ph idx="1"/>
          </p:nvPr>
        </p:nvSpPr>
        <p:spPr/>
        <p:txBody>
          <a:bodyPr>
            <a:normAutofit fontScale="92500" lnSpcReduction="20000"/>
          </a:bodyPr>
          <a:lstStyle/>
          <a:p>
            <a:r>
              <a:rPr lang="en-US" dirty="0"/>
              <a:t>ARL posts bid/ask quotes based on its current Q‑network.</a:t>
            </a:r>
          </a:p>
          <a:p>
            <a:r>
              <a:rPr lang="en-US" dirty="0"/>
              <a:t>EGT traders evaluate quotes against their heuristic rules and decide to buy/sell.</a:t>
            </a:r>
          </a:p>
          <a:p>
            <a:r>
              <a:rPr lang="en-US" dirty="0"/>
              <a:t>Trades execute if a trader's price crosses the ARL's quote.</a:t>
            </a:r>
          </a:p>
          <a:p>
            <a:r>
              <a:rPr lang="en-US" dirty="0"/>
              <a:t>Payoffs:</a:t>
            </a:r>
          </a:p>
          <a:p>
            <a:pPr lvl="1"/>
            <a:r>
              <a:rPr lang="en-US" dirty="0"/>
              <a:t>ARL receives </a:t>
            </a:r>
            <a:r>
              <a:rPr lang="en-US" dirty="0" err="1"/>
              <a:t>PnL</a:t>
            </a:r>
            <a:r>
              <a:rPr lang="en-US" dirty="0"/>
              <a:t>, inventory‑risk penalty, transaction cost, and spread‑capture bonus.</a:t>
            </a:r>
          </a:p>
          <a:p>
            <a:pPr lvl="1"/>
            <a:r>
              <a:rPr lang="en-US" dirty="0"/>
              <a:t>EGT receives profit → fitness score.</a:t>
            </a:r>
          </a:p>
          <a:p>
            <a:r>
              <a:rPr lang="en-US" dirty="0"/>
              <a:t>Population Update: After a fixed number of steps, EGT frequencies are updated via replicator dynamics.</a:t>
            </a:r>
          </a:p>
          <a:p>
            <a:r>
              <a:rPr lang="en-US" dirty="0"/>
              <a:t>Learning Update: ARL stores the transition in its replay buffer and performs a DDQN training step.</a:t>
            </a:r>
          </a:p>
        </p:txBody>
      </p:sp>
    </p:spTree>
    <p:extLst>
      <p:ext uri="{BB962C8B-B14F-4D97-AF65-F5344CB8AC3E}">
        <p14:creationId xmlns:p14="http://schemas.microsoft.com/office/powerpoint/2010/main" val="31079910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1F16A-0DDF-2A09-4C54-EAF3E3158767}"/>
              </a:ext>
            </a:extLst>
          </p:cNvPr>
          <p:cNvSpPr>
            <a:spLocks noGrp="1"/>
          </p:cNvSpPr>
          <p:nvPr>
            <p:ph type="title"/>
          </p:nvPr>
        </p:nvSpPr>
        <p:spPr/>
        <p:txBody>
          <a:bodyPr/>
          <a:lstStyle/>
          <a:p>
            <a:r>
              <a:rPr lang="en-US" b="1" dirty="0"/>
              <a:t>Detailed Influence Between ARL &amp; EGT</a:t>
            </a:r>
            <a:endParaRPr lang="en-US" dirty="0"/>
          </a:p>
        </p:txBody>
      </p:sp>
      <p:sp>
        <p:nvSpPr>
          <p:cNvPr id="3" name="Content Placeholder 2">
            <a:extLst>
              <a:ext uri="{FF2B5EF4-FFF2-40B4-BE49-F238E27FC236}">
                <a16:creationId xmlns:a16="http://schemas.microsoft.com/office/drawing/2014/main" id="{02716AD3-5A45-82AD-5B2D-4809D953D6AA}"/>
              </a:ext>
            </a:extLst>
          </p:cNvPr>
          <p:cNvSpPr>
            <a:spLocks noGrp="1"/>
          </p:cNvSpPr>
          <p:nvPr>
            <p:ph idx="1"/>
          </p:nvPr>
        </p:nvSpPr>
        <p:spPr/>
        <p:txBody>
          <a:bodyPr>
            <a:normAutofit fontScale="85000" lnSpcReduction="20000"/>
          </a:bodyPr>
          <a:lstStyle/>
          <a:p>
            <a:r>
              <a:rPr lang="en-US" dirty="0"/>
              <a:t>ARL → EGT</a:t>
            </a:r>
          </a:p>
          <a:p>
            <a:pPr lvl="1"/>
            <a:r>
              <a:rPr lang="en-US" dirty="0"/>
              <a:t>Spread widening during high‑volatility periods reduces the execution probability for Aggressive traders, lowering their profit and fitness.</a:t>
            </a:r>
          </a:p>
          <a:p>
            <a:pPr lvl="1"/>
            <a:r>
              <a:rPr lang="en-US" dirty="0"/>
              <a:t>Tight spreads when inventory is low create price pressure that Aggressive traders can exploit, temporarily boosting their fitness; the ARL then learns to adjust.</a:t>
            </a:r>
          </a:p>
          <a:p>
            <a:r>
              <a:rPr lang="en-US" dirty="0"/>
              <a:t>EGT → ARL</a:t>
            </a:r>
          </a:p>
          <a:p>
            <a:pPr lvl="1"/>
            <a:r>
              <a:rPr lang="en-US" dirty="0"/>
              <a:t>A surge of Passive strategies places many limit orders near the mid‑price, increasing the likelihood that the ARL's quotes are crossed, which the ARL learns to exploit for spread capture.</a:t>
            </a:r>
          </a:p>
          <a:p>
            <a:pPr lvl="1"/>
            <a:r>
              <a:rPr lang="en-US" dirty="0"/>
              <a:t>When Aggressive or Momentum strategies dominate, trade frequency spikes, raising inventory turnover and prompting the ARL to adopt a risk‑averse (wider‑spread) policy.</a:t>
            </a:r>
          </a:p>
          <a:p>
            <a:r>
              <a:rPr lang="en-US" dirty="0"/>
              <a:t>Co‑adaptation Cycle</a:t>
            </a:r>
          </a:p>
          <a:p>
            <a:r>
              <a:rPr lang="en-US" dirty="0"/>
              <a:t>Each iteration creates a feedback loop: the ARL's quoting policy reshapes the EGT fitness landscape, and the evolving EGT mix reshapes the ARL's optimal policy.</a:t>
            </a:r>
          </a:p>
        </p:txBody>
      </p:sp>
    </p:spTree>
    <p:extLst>
      <p:ext uri="{BB962C8B-B14F-4D97-AF65-F5344CB8AC3E}">
        <p14:creationId xmlns:p14="http://schemas.microsoft.com/office/powerpoint/2010/main" val="35027221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869A86-A7DC-EFAA-F4E8-7281A5D92791}"/>
              </a:ext>
            </a:extLst>
          </p:cNvPr>
          <p:cNvSpPr>
            <a:spLocks noGrp="1"/>
          </p:cNvSpPr>
          <p:nvPr>
            <p:ph type="title"/>
          </p:nvPr>
        </p:nvSpPr>
        <p:spPr/>
        <p:txBody>
          <a:bodyPr/>
          <a:lstStyle/>
          <a:p>
            <a:r>
              <a:rPr lang="en-US" b="1" dirty="0"/>
              <a:t>Key Findings – ARL Agent</a:t>
            </a:r>
            <a:endParaRPr lang="en-US" dirty="0"/>
          </a:p>
        </p:txBody>
      </p:sp>
      <p:sp>
        <p:nvSpPr>
          <p:cNvPr id="3" name="Content Placeholder 2">
            <a:extLst>
              <a:ext uri="{FF2B5EF4-FFF2-40B4-BE49-F238E27FC236}">
                <a16:creationId xmlns:a16="http://schemas.microsoft.com/office/drawing/2014/main" id="{2DD402E4-27C4-92B8-3069-1B149C9C85E2}"/>
              </a:ext>
            </a:extLst>
          </p:cNvPr>
          <p:cNvSpPr>
            <a:spLocks noGrp="1"/>
          </p:cNvSpPr>
          <p:nvPr>
            <p:ph idx="1"/>
          </p:nvPr>
        </p:nvSpPr>
        <p:spPr/>
        <p:txBody>
          <a:bodyPr/>
          <a:lstStyle/>
          <a:p>
            <a:r>
              <a:rPr lang="en-US" dirty="0"/>
              <a:t>Positive returns (~1.5% total).</a:t>
            </a:r>
          </a:p>
          <a:p>
            <a:r>
              <a:rPr lang="en-US" dirty="0"/>
              <a:t>High risk‑adjusted performance (Sharpe ≈ 49.7, Sortino ≈ 50.1).</a:t>
            </a:r>
          </a:p>
          <a:p>
            <a:r>
              <a:rPr lang="en-US" dirty="0"/>
              <a:t>Inventory stability: Safeguard mechanism kept inventory variance low (&lt;0.02).</a:t>
            </a:r>
          </a:p>
          <a:p>
            <a:r>
              <a:rPr lang="en-US" dirty="0"/>
              <a:t>Spread capture: Earned ~0.12% per trade by exploiting low‑EGT activity periods.</a:t>
            </a:r>
          </a:p>
          <a:p>
            <a:r>
              <a:rPr lang="en-US" dirty="0"/>
              <a:t>Adaptation speed: Policy converged within ~10k steps after a regime shift in EGT composition.</a:t>
            </a:r>
          </a:p>
        </p:txBody>
      </p:sp>
    </p:spTree>
    <p:extLst>
      <p:ext uri="{BB962C8B-B14F-4D97-AF65-F5344CB8AC3E}">
        <p14:creationId xmlns:p14="http://schemas.microsoft.com/office/powerpoint/2010/main" val="26749183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C24DBF-1030-03F1-2FEE-B3A3885B0085}"/>
              </a:ext>
            </a:extLst>
          </p:cNvPr>
          <p:cNvSpPr>
            <a:spLocks noGrp="1"/>
          </p:cNvSpPr>
          <p:nvPr>
            <p:ph type="title"/>
          </p:nvPr>
        </p:nvSpPr>
        <p:spPr/>
        <p:txBody>
          <a:bodyPr/>
          <a:lstStyle/>
          <a:p>
            <a:r>
              <a:rPr lang="en-US" b="1" dirty="0"/>
              <a:t>Key Findings – EGT Population</a:t>
            </a:r>
            <a:endParaRPr lang="en-US" dirty="0"/>
          </a:p>
        </p:txBody>
      </p:sp>
      <p:sp>
        <p:nvSpPr>
          <p:cNvPr id="3" name="Content Placeholder 2">
            <a:extLst>
              <a:ext uri="{FF2B5EF4-FFF2-40B4-BE49-F238E27FC236}">
                <a16:creationId xmlns:a16="http://schemas.microsoft.com/office/drawing/2014/main" id="{95A0415A-4D88-9224-B677-2A81AF6EFBF2}"/>
              </a:ext>
            </a:extLst>
          </p:cNvPr>
          <p:cNvSpPr>
            <a:spLocks noGrp="1"/>
          </p:cNvSpPr>
          <p:nvPr>
            <p:ph idx="1"/>
          </p:nvPr>
        </p:nvSpPr>
        <p:spPr/>
        <p:txBody>
          <a:bodyPr/>
          <a:lstStyle/>
          <a:p>
            <a:r>
              <a:rPr lang="en-US" dirty="0"/>
              <a:t>Dominant convergence to Passive strategies (&gt;99%).</a:t>
            </a:r>
          </a:p>
          <a:p>
            <a:r>
              <a:rPr lang="en-US" dirty="0"/>
              <a:t>Aggressive &amp; Momentum strategies declined as the ARL widened spreads during high‑volatility phases.</a:t>
            </a:r>
          </a:p>
          <a:p>
            <a:r>
              <a:rPr lang="en-US" dirty="0"/>
              <a:t>Evolutionary cycles observed: after a Passive‑dominated regime, the ARL's tight‑spread phase allowed Aggressive to regain fitness briefly, creating short‑term oscillations.</a:t>
            </a:r>
          </a:p>
          <a:p>
            <a:r>
              <a:rPr lang="en-US" dirty="0"/>
              <a:t>Selection‑pressure evidence: Fitness plots show clear correlation between ARL spread adjustments and strategy frequency changes.</a:t>
            </a:r>
          </a:p>
        </p:txBody>
      </p:sp>
    </p:spTree>
    <p:extLst>
      <p:ext uri="{BB962C8B-B14F-4D97-AF65-F5344CB8AC3E}">
        <p14:creationId xmlns:p14="http://schemas.microsoft.com/office/powerpoint/2010/main" val="34851430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62FC68-99AE-7AF4-1837-DF12D18C7B77}"/>
              </a:ext>
            </a:extLst>
          </p:cNvPr>
          <p:cNvSpPr>
            <a:spLocks noGrp="1"/>
          </p:cNvSpPr>
          <p:nvPr>
            <p:ph type="title"/>
          </p:nvPr>
        </p:nvSpPr>
        <p:spPr/>
        <p:txBody>
          <a:bodyPr/>
          <a:lstStyle/>
          <a:p>
            <a:r>
              <a:rPr lang="en-US" b="1" dirty="0"/>
              <a:t>Positive Community Impact</a:t>
            </a:r>
            <a:endParaRPr lang="en-US" dirty="0"/>
          </a:p>
        </p:txBody>
      </p:sp>
      <p:sp>
        <p:nvSpPr>
          <p:cNvPr id="3" name="Content Placeholder 2">
            <a:extLst>
              <a:ext uri="{FF2B5EF4-FFF2-40B4-BE49-F238E27FC236}">
                <a16:creationId xmlns:a16="http://schemas.microsoft.com/office/drawing/2014/main" id="{4D3031BC-2541-289D-114A-07CE881EBB82}"/>
              </a:ext>
            </a:extLst>
          </p:cNvPr>
          <p:cNvSpPr>
            <a:spLocks noGrp="1"/>
          </p:cNvSpPr>
          <p:nvPr>
            <p:ph idx="1"/>
          </p:nvPr>
        </p:nvSpPr>
        <p:spPr/>
        <p:txBody>
          <a:bodyPr/>
          <a:lstStyle/>
          <a:p>
            <a:r>
              <a:rPr lang="en-US" dirty="0"/>
              <a:t>Open‑source release for reproducibility and extension.</a:t>
            </a:r>
          </a:p>
          <a:p>
            <a:r>
              <a:rPr lang="en-US" dirty="0"/>
              <a:t>Educational resource for AI, RL, and multi‑agent courses.</a:t>
            </a:r>
          </a:p>
          <a:p>
            <a:r>
              <a:rPr lang="en-US" dirty="0"/>
              <a:t>Research catalyst for AI safety, robustness, and complex‑system studies.</a:t>
            </a:r>
          </a:p>
          <a:p>
            <a:r>
              <a:rPr lang="en-US" dirty="0"/>
              <a:t>Cross‑domain relevance: techniques transferable to cybersecurity, autonomous systems, and other multi‑agent environments.</a:t>
            </a:r>
          </a:p>
          <a:p>
            <a:r>
              <a:rPr lang="en-US" dirty="0"/>
              <a:t>Collaboration invitation for contributions and benchmarking across institutions.</a:t>
            </a:r>
          </a:p>
        </p:txBody>
      </p:sp>
    </p:spTree>
    <p:extLst>
      <p:ext uri="{BB962C8B-B14F-4D97-AF65-F5344CB8AC3E}">
        <p14:creationId xmlns:p14="http://schemas.microsoft.com/office/powerpoint/2010/main" val="8077345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D93810-0F47-9CB9-DCF2-9D4672C6CD2B}"/>
              </a:ext>
            </a:extLst>
          </p:cNvPr>
          <p:cNvSpPr>
            <a:spLocks noGrp="1"/>
          </p:cNvSpPr>
          <p:nvPr>
            <p:ph type="title"/>
          </p:nvPr>
        </p:nvSpPr>
        <p:spPr/>
        <p:txBody>
          <a:bodyPr/>
          <a:lstStyle/>
          <a:p>
            <a:r>
              <a:rPr lang="en-US" b="1" dirty="0"/>
              <a:t>Why This Matters</a:t>
            </a:r>
            <a:endParaRPr lang="en-US" dirty="0"/>
          </a:p>
        </p:txBody>
      </p:sp>
      <p:sp>
        <p:nvSpPr>
          <p:cNvPr id="3" name="Content Placeholder 2">
            <a:extLst>
              <a:ext uri="{FF2B5EF4-FFF2-40B4-BE49-F238E27FC236}">
                <a16:creationId xmlns:a16="http://schemas.microsoft.com/office/drawing/2014/main" id="{7D4E378D-FF33-3A0E-16E7-0BA3FA85B7F5}"/>
              </a:ext>
            </a:extLst>
          </p:cNvPr>
          <p:cNvSpPr>
            <a:spLocks noGrp="1"/>
          </p:cNvSpPr>
          <p:nvPr>
            <p:ph idx="1"/>
          </p:nvPr>
        </p:nvSpPr>
        <p:spPr/>
        <p:txBody>
          <a:bodyPr/>
          <a:lstStyle/>
          <a:p>
            <a:r>
              <a:rPr lang="en-US" dirty="0"/>
              <a:t>Demonstrates intelligent behavior under uncertainty and adversarial pressure.</a:t>
            </a:r>
          </a:p>
          <a:p>
            <a:r>
              <a:rPr lang="en-US" dirty="0"/>
              <a:t>Provides a testbed for AI robustness, adaptation, and generalization.</a:t>
            </a:r>
          </a:p>
          <a:p>
            <a:r>
              <a:rPr lang="en-US" dirty="0"/>
              <a:t>Bridges RL with evolutionary dynamics, advancing multi‑agent AI research.</a:t>
            </a:r>
          </a:p>
        </p:txBody>
      </p:sp>
    </p:spTree>
    <p:extLst>
      <p:ext uri="{BB962C8B-B14F-4D97-AF65-F5344CB8AC3E}">
        <p14:creationId xmlns:p14="http://schemas.microsoft.com/office/powerpoint/2010/main" val="25976693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75AD7A-170B-B4D4-8812-0FBE62FAD3FF}"/>
              </a:ext>
            </a:extLst>
          </p:cNvPr>
          <p:cNvSpPr>
            <a:spLocks noGrp="1"/>
          </p:cNvSpPr>
          <p:nvPr>
            <p:ph type="title"/>
          </p:nvPr>
        </p:nvSpPr>
        <p:spPr/>
        <p:txBody>
          <a:bodyPr/>
          <a:lstStyle/>
          <a:p>
            <a:r>
              <a:rPr lang="en-US" b="1" dirty="0"/>
              <a:t>Running the Project</a:t>
            </a:r>
            <a:endParaRPr lang="en-US" dirty="0"/>
          </a:p>
        </p:txBody>
      </p:sp>
      <p:sp>
        <p:nvSpPr>
          <p:cNvPr id="3" name="Content Placeholder 2">
            <a:extLst>
              <a:ext uri="{FF2B5EF4-FFF2-40B4-BE49-F238E27FC236}">
                <a16:creationId xmlns:a16="http://schemas.microsoft.com/office/drawing/2014/main" id="{C5517174-33F5-FBB3-4E23-59058B86427C}"/>
              </a:ext>
            </a:extLst>
          </p:cNvPr>
          <p:cNvSpPr>
            <a:spLocks noGrp="1"/>
          </p:cNvSpPr>
          <p:nvPr>
            <p:ph idx="1"/>
          </p:nvPr>
        </p:nvSpPr>
        <p:spPr/>
        <p:txBody>
          <a:bodyPr/>
          <a:lstStyle/>
          <a:p>
            <a:r>
              <a:rPr lang="en-US" dirty="0"/>
              <a:t>pip install -r requirements.txt</a:t>
            </a:r>
          </a:p>
          <a:p>
            <a:r>
              <a:rPr lang="en-US" dirty="0"/>
              <a:t>python main.py</a:t>
            </a:r>
          </a:p>
        </p:txBody>
      </p:sp>
    </p:spTree>
    <p:extLst>
      <p:ext uri="{BB962C8B-B14F-4D97-AF65-F5344CB8AC3E}">
        <p14:creationId xmlns:p14="http://schemas.microsoft.com/office/powerpoint/2010/main" val="4176495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1AF48A-03DF-D763-0CB2-D4EDFE140179}"/>
              </a:ext>
            </a:extLst>
          </p:cNvPr>
          <p:cNvSpPr>
            <a:spLocks noGrp="1"/>
          </p:cNvSpPr>
          <p:nvPr>
            <p:ph type="title"/>
          </p:nvPr>
        </p:nvSpPr>
        <p:spPr/>
        <p:txBody>
          <a:bodyPr/>
          <a:lstStyle/>
          <a:p>
            <a:r>
              <a:rPr lang="en-US" b="1" dirty="0"/>
              <a:t>Future Work</a:t>
            </a:r>
            <a:endParaRPr lang="en-US" dirty="0"/>
          </a:p>
        </p:txBody>
      </p:sp>
      <p:sp>
        <p:nvSpPr>
          <p:cNvPr id="3" name="Content Placeholder 2">
            <a:extLst>
              <a:ext uri="{FF2B5EF4-FFF2-40B4-BE49-F238E27FC236}">
                <a16:creationId xmlns:a16="http://schemas.microsoft.com/office/drawing/2014/main" id="{63C6A4FF-3D22-852B-42AC-8784149239E5}"/>
              </a:ext>
            </a:extLst>
          </p:cNvPr>
          <p:cNvSpPr>
            <a:spLocks noGrp="1"/>
          </p:cNvSpPr>
          <p:nvPr>
            <p:ph idx="1"/>
          </p:nvPr>
        </p:nvSpPr>
        <p:spPr/>
        <p:txBody>
          <a:bodyPr/>
          <a:lstStyle/>
          <a:p>
            <a:r>
              <a:rPr lang="en-US" dirty="0"/>
              <a:t>Add richer strategy families (e.g., RL‑based EGT agents).</a:t>
            </a:r>
          </a:p>
          <a:p>
            <a:r>
              <a:rPr lang="en-US" dirty="0"/>
              <a:t>Expand state space with order‑book depth and micro‑structure features.</a:t>
            </a:r>
          </a:p>
          <a:p>
            <a:r>
              <a:rPr lang="en-US" dirty="0"/>
              <a:t>Test across diverse market regimes (bull, bear, sideways) and multiple assets.</a:t>
            </a:r>
          </a:p>
          <a:p>
            <a:r>
              <a:rPr lang="en-US" dirty="0"/>
              <a:t>Integrate explainability analyses (SHAP, saliency maps) to interpret ARL's spread decisions.</a:t>
            </a:r>
          </a:p>
          <a:p>
            <a:r>
              <a:rPr lang="en-US" dirty="0"/>
              <a:t>Investigate multi‑agent RL where several ARL agents co‑exist.</a:t>
            </a:r>
          </a:p>
          <a:p>
            <a:pPr marL="0" indent="0">
              <a:buNone/>
            </a:pPr>
            <a:endParaRPr lang="en-US" dirty="0"/>
          </a:p>
        </p:txBody>
      </p:sp>
    </p:spTree>
    <p:extLst>
      <p:ext uri="{BB962C8B-B14F-4D97-AF65-F5344CB8AC3E}">
        <p14:creationId xmlns:p14="http://schemas.microsoft.com/office/powerpoint/2010/main" val="13626640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163B31-12FA-D46A-1FCB-72E8DE2A4839}"/>
              </a:ext>
            </a:extLst>
          </p:cNvPr>
          <p:cNvSpPr>
            <a:spLocks noGrp="1"/>
          </p:cNvSpPr>
          <p:nvPr>
            <p:ph type="title"/>
          </p:nvPr>
        </p:nvSpPr>
        <p:spPr/>
        <p:txBody>
          <a:bodyPr/>
          <a:lstStyle/>
          <a:p>
            <a:r>
              <a:rPr lang="en-US" b="1" dirty="0"/>
              <a:t>Conclusion</a:t>
            </a:r>
            <a:endParaRPr lang="en-US" dirty="0"/>
          </a:p>
        </p:txBody>
      </p:sp>
      <p:sp>
        <p:nvSpPr>
          <p:cNvPr id="3" name="Content Placeholder 2">
            <a:extLst>
              <a:ext uri="{FF2B5EF4-FFF2-40B4-BE49-F238E27FC236}">
                <a16:creationId xmlns:a16="http://schemas.microsoft.com/office/drawing/2014/main" id="{2799A3D0-9C2A-EE45-5C22-064B5FF35CF6}"/>
              </a:ext>
            </a:extLst>
          </p:cNvPr>
          <p:cNvSpPr>
            <a:spLocks noGrp="1"/>
          </p:cNvSpPr>
          <p:nvPr>
            <p:ph idx="1"/>
          </p:nvPr>
        </p:nvSpPr>
        <p:spPr/>
        <p:txBody>
          <a:bodyPr/>
          <a:lstStyle/>
          <a:p>
            <a:r>
              <a:rPr lang="en-US" dirty="0"/>
              <a:t>The simulated market serves as a powerful research playground where learning, evolution, and strategic interaction emerge naturally. This project shows how an ARL agent can both exploit and safeguard against an evolving EGT population, offering valuable insights for broader AI robustness research.</a:t>
            </a:r>
          </a:p>
        </p:txBody>
      </p:sp>
    </p:spTree>
    <p:extLst>
      <p:ext uri="{BB962C8B-B14F-4D97-AF65-F5344CB8AC3E}">
        <p14:creationId xmlns:p14="http://schemas.microsoft.com/office/powerpoint/2010/main" val="232000206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58</TotalTime>
  <Words>1138</Words>
  <Application>Microsoft Office PowerPoint</Application>
  <PresentationFormat>Widescreen</PresentationFormat>
  <Paragraphs>84</Paragraphs>
  <Slides>15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Aptos</vt:lpstr>
      <vt:lpstr>Aptos Display</vt:lpstr>
      <vt:lpstr>Arial</vt:lpstr>
      <vt:lpstr>Office Theme</vt:lpstr>
      <vt:lpstr>Can an ARL Agent Outperform EGT Populations in a Simulated Market?</vt:lpstr>
      <vt:lpstr>Introduction &amp; Research Question</vt:lpstr>
      <vt:lpstr>Motivation</vt:lpstr>
      <vt:lpstr>AI Foundations</vt:lpstr>
      <vt:lpstr>Methodology – ARL Agent</vt:lpstr>
      <vt:lpstr>Methodology – EGT Population</vt:lpstr>
      <vt:lpstr>Interaction Loop</vt:lpstr>
      <vt:lpstr>Detailed Influence Between ARL &amp; EGT</vt:lpstr>
      <vt:lpstr>Key Findings – ARL Agent</vt:lpstr>
      <vt:lpstr>Key Findings – EGT Population</vt:lpstr>
      <vt:lpstr>Positive Community Impact</vt:lpstr>
      <vt:lpstr>Why This Matters</vt:lpstr>
      <vt:lpstr>Running the Project</vt:lpstr>
      <vt:lpstr>Future Work</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Rithwak Somepalli</dc:creator>
  <cp:lastModifiedBy>Rithwak Somepalli</cp:lastModifiedBy>
  <cp:revision>2</cp:revision>
  <dcterms:created xsi:type="dcterms:W3CDTF">2025-11-24T23:14:25Z</dcterms:created>
  <dcterms:modified xsi:type="dcterms:W3CDTF">2025-11-25T00:14:19Z</dcterms:modified>
</cp:coreProperties>
</file>