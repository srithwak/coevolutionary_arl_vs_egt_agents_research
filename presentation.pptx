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304" r:id="rId4"/>
    <p:sldId id="289" r:id="rId5"/>
    <p:sldId id="290" r:id="rId6"/>
    <p:sldId id="291" r:id="rId7"/>
    <p:sldId id="292" r:id="rId8"/>
    <p:sldId id="293" r:id="rId9"/>
    <p:sldId id="295" r:id="rId10"/>
    <p:sldId id="303" r:id="rId11"/>
    <p:sldId id="297" r:id="rId12"/>
    <p:sldId id="296" r:id="rId13"/>
    <p:sldId id="299" r:id="rId14"/>
    <p:sldId id="298" r:id="rId15"/>
    <p:sldId id="301" r:id="rId16"/>
    <p:sldId id="28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28" autoAdjust="0"/>
    <p:restoredTop sz="94660"/>
  </p:normalViewPr>
  <p:slideViewPr>
    <p:cSldViewPr snapToGrid="0">
      <p:cViewPr varScale="1">
        <p:scale>
          <a:sx n="90" d="100"/>
          <a:sy n="90" d="100"/>
        </p:scale>
        <p:origin x="14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8829AC-564D-4DC6-A57F-0801BB802372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29F50D-DFCC-4B3A-825A-C312089DAB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114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Include market data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7331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20FB0-B03A-9160-17EF-1B094CF0D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6C3428-9B05-F9A0-40AF-8CD8D2BFD5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7A1767-D694-231C-4A01-7817AA46F1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D8E0EA-8416-76FD-0C16-56F1BD29B1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65444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EBC4-20D3-FE4F-6D5E-9476FE969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4B4D5A-7772-EAF3-C0F1-A088CF1A94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E493EE-6EB1-DF15-8B40-C777D72B9E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0AE9E-FA52-1880-418C-98D9C7BC60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015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3A77C-893B-A10B-B390-C0B498B45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0B1FB0-C8D4-735A-A6E6-4C1CA166F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6D7EAF-9205-70C2-1725-63622F5AE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D1C90-26E1-F92E-A552-04C2B0B733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54361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D8F93-B74F-A024-15E2-072FEB47D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02B49C-3D20-731C-7108-024B27E17F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D93C45-4F02-0AD9-A25D-ED518D1A11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F212E-CED2-72BD-4F08-CFB78A0DD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4446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75079-7C97-94E0-CC30-175E589EA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B81732-C99F-D64B-7357-D53E00E726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F0381-6D43-5B31-DC76-6932019CED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Plot1 and 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4C3860-190B-9456-FBF3-0745B87777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3687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57825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9152CF-DC87-4D88-A3EF-DE0C91FE2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DAAF61-8741-3E98-7FA7-A5283A041C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54065E-3ECE-3933-69FD-7666F30CA2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Plot4 and 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9D1279-304B-91BC-16F1-C7F66E309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8209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B13723-7E81-9751-B60F-BCFA3CEA6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92B452-FFB5-F291-980D-6B2BCEC8C4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0C1012-8E05-421A-43EB-919FCC18BD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8B800-FE2D-4CA2-4C78-648AC7AA61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6654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51DD62-2596-F7C5-0C42-0DF99DB82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3604CF-6BF6-6B28-8FE0-EEA884A60C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775F9D-9328-ED15-AC82-B9F64A5E07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8478D-7155-7319-E0F3-4997AA3DE3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10605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20969-1875-73F3-C0D8-247599C9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FA39F2-91A8-91CE-DC80-6F6DA05DBA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43803-0772-606A-3873-F81F725E4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33BE9A-5543-F914-02ED-EB02EBAEFB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6417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84F04-0532-0CA3-627F-6223B3DD0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75B574-15DC-049E-38E3-239E87E9FA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AE58A6-8747-3FB9-9FC4-15BCADE0A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BD0188-DAD5-9EF1-FDF0-A17351F32B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29F50D-DFCC-4B3A-825A-C312089DAB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99561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3E9E1-4A0C-F63C-34A3-C99F58CBC4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2C669-6CE4-FCE2-C908-A6718D5EE3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242946-9088-39BE-A7EA-790F1578C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20014-2B6F-267C-6002-21A00EDFF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A576A6-F9E7-FDE2-950A-E36708E49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9814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79F52-4FF6-DD52-5C9A-8E9CA9C5A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3D30CA-C863-8976-D043-B1B1370A27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FC4F6A-F020-5FE8-6C10-4FFB7F2B6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C03918-8F21-4AC9-4A96-5D658E898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29095-3FDD-BE8D-FBBE-68C0DEEC9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820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696AE-D5D6-EA4E-52B8-E645C796B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4307F0-E067-D610-5D66-071BFE409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4F4CD-8933-D849-8D29-DF0E6DFE6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206876-C9ED-FD6F-6507-B192476DC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207317-D1CE-7941-FD4E-E2747458E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624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7E1F5-44AF-5F9D-548E-311949A31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01D57-3B7C-67BB-B1A8-A2662EC0C3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4A710-0891-FA74-8264-93EC3D20E3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7EF8A7-BD7C-B089-C9F2-1A470CCC1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7D90B0-ECD0-54D0-18BD-11FA4A5FBE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B9BC9A-2CC5-462D-1AAC-68DC3D474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374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A9AC3-36C5-09E8-1135-FF3BDD4BF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18379E-8BF1-5786-990D-533AE2EB05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88E6F6-FC4A-A2B0-076C-81061C110D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6F85A1-6624-1B99-99C4-C88FFAC90E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78CE6F-D567-83A8-C56C-7E9F61A6E7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C3F37A1-38CB-7669-5037-696E7E94B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E55C38-0B67-D491-EFD0-2EA0BF24B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1E6545-471C-15E5-495E-D15985CFD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603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DD6F3-5EE8-399F-E534-9A59842D1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BC390B-A13E-63DC-DAD9-5F84F5702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8182A35-E4F8-F1EA-CF50-2C233B41C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4758D43-15B2-E54F-FC41-840E94201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2139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66BDA8-73C7-4588-AA1C-9AB002F2E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3FF54E-8D5D-7B53-FB8E-43F59CB3A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4A6BEF-7987-721E-B7B5-448468E72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02757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6077B-A6AE-1701-5A5C-1B1EE419F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F1633-7FD5-8A1A-77BE-C983D35F64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7BD5D6-B4FC-8140-53F0-F4A561C7DD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6AE160-6EED-669A-A38B-2A869ED0F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151E89-F8ED-1692-FF2E-4CACAC19DA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F93520-9EB4-3C92-2924-E0329AB61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68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8B864-9239-7852-A358-C35E7BB55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38A9CD6-1432-1510-FFCE-E84237C52B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B8BE444-2754-BF92-C1DA-82AE1AB330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552EB-6094-7017-D647-5B430DAA1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447B59-6536-0E95-BEC1-5432C5CD8D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AD46B6-F57F-ACE7-3A80-A88E614B0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19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2E495-3590-A4A8-CEAE-AB6A134D6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F9C088-0EE3-15D5-6630-01F36539AC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4BDF01-8DCE-9129-86F8-C20627ED5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7E05B9-A853-9A5C-480F-E60EF4F33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9251C-13F4-648E-1170-6B137DEB7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7477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C05015-4787-ED1E-661B-20858260AD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2420BCE-7519-A049-3757-6CFF9F1795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D75AC0-E4BA-C48B-7318-68ADF6B1B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8BD6CC-5AA8-2410-DE04-6B00F3355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9BE9B3-D495-5047-7A83-282B34403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487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E423CA6-F4D9-277C-78F6-7194C1585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5AE43E-D23C-ACF6-09E5-F881C3277F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A5F74A-82B2-D56D-A050-E3F4C6A353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D397A9-6129-4C50-B0E5-F102EDF526C0}" type="datetimeFigureOut">
              <a:rPr lang="en-US" smtClean="0"/>
              <a:t>12/5/2025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0E049D-4148-BFA8-7DFA-AA59A4543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B8D3BC-4E8F-F1EA-EEC6-AD65D74A0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FC758-8580-4C2F-8C4C-5B6986765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74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551961"/>
            <a:ext cx="10999072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69A247-CB4C-647E-3233-44E4EE9E14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48587"/>
            <a:ext cx="9144000" cy="2387600"/>
          </a:xfrm>
        </p:spPr>
        <p:txBody>
          <a:bodyPr>
            <a:normAutofit/>
          </a:bodyPr>
          <a:lstStyle/>
          <a:p>
            <a:r>
              <a:rPr lang="en-US" sz="5400"/>
              <a:t>Can an ARL Agent Outperform EGT Populations in a Simulated Market?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B84906-9D30-7164-FCFB-21ED43ABD3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38811"/>
            <a:ext cx="9144000" cy="958475"/>
          </a:xfrm>
        </p:spPr>
        <p:txBody>
          <a:bodyPr>
            <a:normAutofit/>
          </a:bodyPr>
          <a:lstStyle/>
          <a:p>
            <a:r>
              <a:rPr lang="en-US" sz="2600" dirty="0"/>
              <a:t>Rithwak Somepalli</a:t>
            </a:r>
          </a:p>
          <a:p>
            <a:r>
              <a:rPr lang="en-US" sz="2600" dirty="0"/>
              <a:t>Praneeth Rangarajan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96464" y="6329769"/>
            <a:ext cx="11000232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Subtitle 2">
            <a:extLst>
              <a:ext uri="{FF2B5EF4-FFF2-40B4-BE49-F238E27FC236}">
                <a16:creationId xmlns:a16="http://schemas.microsoft.com/office/drawing/2014/main" id="{8C4B4F79-9038-9E6F-9E06-73240F374B5D}"/>
              </a:ext>
            </a:extLst>
          </p:cNvPr>
          <p:cNvSpPr txBox="1">
            <a:spLocks/>
          </p:cNvSpPr>
          <p:nvPr/>
        </p:nvSpPr>
        <p:spPr>
          <a:xfrm>
            <a:off x="1676400" y="3754438"/>
            <a:ext cx="914400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5688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8436D2-C349-4E5C-61EF-DF2174A71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4600" b="1"/>
              <a:t>Research Question and Motivation</a:t>
            </a:r>
            <a:endParaRPr lang="en-US" sz="46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E9CE7E-32B9-3967-BB71-0F3E7AB559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 fontScale="92500"/>
          </a:bodyPr>
          <a:lstStyle/>
          <a:p>
            <a:r>
              <a:rPr lang="en-US" sz="2000" b="1" dirty="0"/>
              <a:t>Research Question</a:t>
            </a:r>
            <a:endParaRPr lang="en-US" sz="2000" dirty="0"/>
          </a:p>
          <a:p>
            <a:pPr lvl="1"/>
            <a:r>
              <a:rPr lang="en-US" sz="2000" dirty="0"/>
              <a:t>How does an Adaptive Reinforcement Learning (ARL) agent perform and adapt against an evolving population of heuristic traders governed by Evolutionary Game Theory (EGT)?</a:t>
            </a:r>
          </a:p>
          <a:p>
            <a:r>
              <a:rPr lang="en-US" sz="2000" b="1" dirty="0"/>
              <a:t>Motivation</a:t>
            </a:r>
            <a:endParaRPr lang="en-US" sz="2000" dirty="0"/>
          </a:p>
          <a:p>
            <a:pPr lvl="1"/>
            <a:r>
              <a:rPr lang="en-US" sz="2000" b="1" dirty="0"/>
              <a:t>Problem: </a:t>
            </a:r>
            <a:r>
              <a:rPr lang="en-US" sz="2000" dirty="0"/>
              <a:t>Most RL benchmarks are static. We needed a dynamic, adversarial environment to study fundamental AI themes: search, reasoning, and multi-agent interaction.</a:t>
            </a:r>
          </a:p>
          <a:p>
            <a:pPr lvl="1"/>
            <a:r>
              <a:rPr lang="en-US" sz="2000" b="1" dirty="0"/>
              <a:t>Solution: </a:t>
            </a:r>
            <a:r>
              <a:rPr lang="en-US" sz="2000" dirty="0"/>
              <a:t>To use the stock market as a "playground" to observe how a learning agent (ARL) adapts when its environment (EGT population) fights back and evolves over time.</a:t>
            </a:r>
          </a:p>
          <a:p>
            <a:r>
              <a:rPr lang="en-US" sz="2000" dirty="0"/>
              <a:t>We treat the market not as a prediction problem, but as a complex stochastic environment for stress-testing AI reasoning and adaptation.</a:t>
            </a:r>
          </a:p>
        </p:txBody>
      </p:sp>
    </p:spTree>
    <p:extLst>
      <p:ext uri="{BB962C8B-B14F-4D97-AF65-F5344CB8AC3E}">
        <p14:creationId xmlns:p14="http://schemas.microsoft.com/office/powerpoint/2010/main" val="32891683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79D037-9DC8-0E09-7502-78AC5614B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B8A0AA-235A-34AA-9741-EC4F60D10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Previous Iterations</a:t>
            </a:r>
            <a:endParaRPr lang="en-US" sz="54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5589D-7858-0CA9-5FA8-0F443ED46E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1900" b="1" dirty="0"/>
              <a:t>Simple Q table</a:t>
            </a:r>
            <a:endParaRPr lang="en-US" sz="1900" dirty="0"/>
          </a:p>
          <a:p>
            <a:pPr lvl="1"/>
            <a:r>
              <a:rPr lang="en-US" sz="1900" dirty="0"/>
              <a:t>We started with a Q table. We compressed the real world into basic buckets, like rounding inventory to the nearest integer or treating volatility as just 'High' or 'Low’</a:t>
            </a:r>
          </a:p>
          <a:p>
            <a:pPr lvl="1"/>
            <a:r>
              <a:rPr lang="en-US" sz="1900" dirty="0"/>
              <a:t>The agent couldn't perceive real-world complexity or make subtle decisions, limiting its performance. </a:t>
            </a:r>
          </a:p>
          <a:p>
            <a:r>
              <a:rPr lang="en-US" sz="1900" b="1" dirty="0"/>
              <a:t>Deep Learning</a:t>
            </a:r>
          </a:p>
          <a:p>
            <a:pPr lvl="1"/>
            <a:r>
              <a:rPr lang="en-US" sz="1900" dirty="0"/>
              <a:t>We switched to Deep Q-Networks (DQN) using TensorFlow to handle continuous data streams (RSI, Momentum, Exact Inventory).</a:t>
            </a:r>
          </a:p>
          <a:p>
            <a:pPr lvl="1"/>
            <a:r>
              <a:rPr lang="en-US" sz="1900" dirty="0"/>
              <a:t>The Neural Network learned to make money but struggled with safety. It would "hoard" stock (accumulating massive inventory) hoping for a price jump, risking a total account blow-up. </a:t>
            </a:r>
          </a:p>
        </p:txBody>
      </p:sp>
    </p:spTree>
    <p:extLst>
      <p:ext uri="{BB962C8B-B14F-4D97-AF65-F5344CB8AC3E}">
        <p14:creationId xmlns:p14="http://schemas.microsoft.com/office/powerpoint/2010/main" val="20596334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1687DF-BC76-7043-FB6E-1B43C0854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2E0900-F9DA-5D57-3E3E-21948A733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Experimental Setup and Data</a:t>
            </a:r>
            <a:endParaRPr lang="en-US" sz="540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159F8-C27C-AEEF-AB86-570268A50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1900" b="1"/>
              <a:t>Environment: </a:t>
            </a:r>
            <a:r>
              <a:rPr lang="en-US" sz="1900"/>
              <a:t>A simulated order-book market where agents interact via "crossing quotes.</a:t>
            </a:r>
          </a:p>
          <a:p>
            <a:r>
              <a:rPr lang="en-US" sz="1900" b="1"/>
              <a:t>Data Source: </a:t>
            </a:r>
            <a:r>
              <a:rPr lang="en-US" sz="1900"/>
              <a:t>Real OHLCV data provides the seed for price, volatility, and momentum.</a:t>
            </a:r>
          </a:p>
          <a:p>
            <a:r>
              <a:rPr lang="en-US" sz="1900" b="1"/>
              <a:t>Input Features: </a:t>
            </a:r>
            <a:r>
              <a:rPr lang="en-US" sz="1900"/>
              <a:t>The agent observes 6 features: Volatility, RSI, Momentum, Normalized Volume, Inventory, and Time Remaining.</a:t>
            </a:r>
          </a:p>
          <a:p>
            <a:r>
              <a:rPr lang="en-US" sz="1900" b="1"/>
              <a:t>Reproducibility: </a:t>
            </a:r>
            <a:r>
              <a:rPr lang="en-US" sz="1900"/>
              <a:t>There is a seed feature which enables accurate reproduction of results despite the required randomness.</a:t>
            </a:r>
            <a:endParaRPr lang="en-US" sz="1900" b="1"/>
          </a:p>
          <a:p>
            <a:r>
              <a:rPr lang="en-US" sz="1900" b="1"/>
              <a:t>Goal: </a:t>
            </a:r>
            <a:r>
              <a:rPr lang="en-US" sz="1900"/>
              <a:t>Maximize a Hybrid Reward function (Profit + Spread Capture + Risk Penalty). </a:t>
            </a:r>
          </a:p>
          <a:p>
            <a:r>
              <a:rPr lang="en-US" sz="1900" b="1"/>
              <a:t>External Tools/Libraries used: </a:t>
            </a:r>
            <a:r>
              <a:rPr lang="en-US" sz="1900"/>
              <a:t>Python, TensorFlow/Keras (Deep Learning/Neural Network), NumPy &amp; Pandas (Data Processing), SciPy (Analytics), and Matplotlib (Visualization).</a:t>
            </a:r>
            <a:endParaRPr lang="en-US" sz="1900" b="1"/>
          </a:p>
        </p:txBody>
      </p:sp>
    </p:spTree>
    <p:extLst>
      <p:ext uri="{BB962C8B-B14F-4D97-AF65-F5344CB8AC3E}">
        <p14:creationId xmlns:p14="http://schemas.microsoft.com/office/powerpoint/2010/main" val="32196145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68288A-AD10-A3B7-813D-51DF7C388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EECE88-5BF6-6385-E38F-D8FB8A9AA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 dirty="0"/>
              <a:t>Agent Architecture</a:t>
            </a:r>
            <a:endParaRPr lang="en-US" sz="5400" dirty="0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20EC2-E86D-B464-4C8F-17FA23D9D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/>
              <a:t>We utilize a standard Feed-Forward Neural Network (MLP).</a:t>
            </a:r>
          </a:p>
          <a:p>
            <a:r>
              <a:rPr lang="en-US" sz="2400" b="1"/>
              <a:t>Architecture: </a:t>
            </a:r>
            <a:r>
              <a:rPr lang="en-US" sz="2400"/>
              <a:t>Input Layer (6 neurons), Hidden Layers (64 units, ReLU activation), Output Layer (5 discrete spread actions).</a:t>
            </a:r>
          </a:p>
          <a:p>
            <a:r>
              <a:rPr lang="en-US" sz="2400"/>
              <a:t>We use Rectified Linear Units (ReLU) instead of sigmoid step-functions to handle the non-linear dynamics of market volatility.</a:t>
            </a:r>
          </a:p>
        </p:txBody>
      </p:sp>
    </p:spTree>
    <p:extLst>
      <p:ext uri="{BB962C8B-B14F-4D97-AF65-F5344CB8AC3E}">
        <p14:creationId xmlns:p14="http://schemas.microsoft.com/office/powerpoint/2010/main" val="1856765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DDA837-FA51-A879-2E3C-66E1F9E87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7DFF7D-88A6-7D07-E739-0EE87F783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Learning Mechanism</a:t>
            </a:r>
            <a:endParaRPr lang="en-US" sz="540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33AE75-D950-42AC-4ADF-196760B32F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b="1" dirty="0"/>
              <a:t>Process: </a:t>
            </a:r>
            <a:r>
              <a:rPr lang="en-US" sz="2400" dirty="0"/>
              <a:t>After every interaction, the agent calculates the error. This error is back-propagated from the output layer to the input layer to adjust the weights.</a:t>
            </a:r>
          </a:p>
          <a:p>
            <a:r>
              <a:rPr lang="en-US" sz="2400" b="1" dirty="0"/>
              <a:t>Optimization: </a:t>
            </a:r>
            <a:r>
              <a:rPr lang="en-US" sz="2400" dirty="0"/>
              <a:t>We use the Adam optimizer (Stochastic Gradient Descent) to find the global minimum in the error surface. 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2169645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361833-F52B-E982-EE83-13840802A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57B963-759C-38B0-4A24-5B9D410AA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The Adversary</a:t>
            </a:r>
            <a:endParaRPr lang="en-US" sz="5400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84DDB-A043-3916-1F92-939A79C6ED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/>
              <a:t>The "Adversary" is not a single agent, but a population of heuristic traders (Aggressive, Passive, Momentum, Random).</a:t>
            </a:r>
          </a:p>
          <a:p>
            <a:r>
              <a:rPr lang="en-US" sz="2400" b="1"/>
              <a:t>Genetic Algorithm:</a:t>
            </a:r>
          </a:p>
          <a:p>
            <a:pPr lvl="1"/>
            <a:r>
              <a:rPr lang="en-US" b="1"/>
              <a:t>Fitness Functions: </a:t>
            </a:r>
            <a:r>
              <a:rPr lang="en-US"/>
              <a:t>Rolling profitability</a:t>
            </a:r>
          </a:p>
          <a:p>
            <a:pPr lvl="1"/>
            <a:r>
              <a:rPr lang="en-US" b="1"/>
              <a:t>Selection: </a:t>
            </a:r>
            <a:r>
              <a:rPr lang="en-US"/>
              <a:t>Strategies that make money reproduce and increase their population share. Strategies that lose money die out.</a:t>
            </a:r>
          </a:p>
          <a:p>
            <a:pPr lvl="1"/>
            <a:r>
              <a:rPr lang="en-US" b="1"/>
              <a:t>Mutation: </a:t>
            </a:r>
            <a:r>
              <a:rPr lang="en-US"/>
              <a:t>A 2% mutation rate introduces random noise to prevent the population from getting stuck in a local optimum. 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906398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4F899A-82DB-32BA-11CA-FB170407C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D4DA82-A375-32FC-9970-27879B727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Interaction Loop</a:t>
            </a:r>
            <a:endParaRPr lang="en-US" sz="54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0C0B37-C476-2E80-8C30-F6619428BF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000" b="1" dirty="0"/>
              <a:t>Sensing: </a:t>
            </a:r>
            <a:r>
              <a:rPr lang="en-US" sz="2000" dirty="0"/>
              <a:t>The MLP processes market features (Volatility, RSI).</a:t>
            </a:r>
          </a:p>
          <a:p>
            <a:r>
              <a:rPr lang="en-US" sz="2000" b="1" dirty="0"/>
              <a:t>Action: </a:t>
            </a:r>
            <a:r>
              <a:rPr lang="en-US" sz="2000" dirty="0"/>
              <a:t>The Agent posts a Bid/Ask Spread (e.g., Tight or Wide).</a:t>
            </a:r>
          </a:p>
          <a:p>
            <a:r>
              <a:rPr lang="en-US" sz="2000" b="1" dirty="0"/>
              <a:t>Reaction: </a:t>
            </a:r>
            <a:r>
              <a:rPr lang="en-US" sz="2000" dirty="0"/>
              <a:t>The EGT population evaluates the price; trades execute if quotes cross.</a:t>
            </a:r>
          </a:p>
          <a:p>
            <a:r>
              <a:rPr lang="en-US" sz="2000" b="1" dirty="0"/>
              <a:t>Feedback</a:t>
            </a:r>
          </a:p>
          <a:p>
            <a:pPr lvl="1"/>
            <a:r>
              <a:rPr lang="en-US" sz="2000"/>
              <a:t>Agent receives Reward (Profit - Risk).</a:t>
            </a:r>
          </a:p>
          <a:p>
            <a:pPr lvl="1"/>
            <a:r>
              <a:rPr lang="en-US" sz="2000"/>
              <a:t>EGT Agents receive Fitness (Profit).</a:t>
            </a:r>
            <a:endParaRPr lang="en-US" sz="2000" dirty="0"/>
          </a:p>
          <a:p>
            <a:r>
              <a:rPr lang="en-US" sz="2000" b="1" dirty="0"/>
              <a:t>Update: </a:t>
            </a:r>
            <a:r>
              <a:rPr lang="en-US" sz="2000" dirty="0"/>
              <a:t>Agent updates Weights (Backprop); Population updates Distribution (Evolution).</a:t>
            </a:r>
            <a:endParaRPr 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6964486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17904E-A005-2D12-84D9-CD989C7A6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AAAE94E3-A7DB-4868-B1E3-E49703488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A3BC68-1A93-B12F-B8C7-6728940C5F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560" y="856180"/>
            <a:ext cx="5279408" cy="1128068"/>
          </a:xfrm>
        </p:spPr>
        <p:txBody>
          <a:bodyPr anchor="ctr">
            <a:normAutofit/>
          </a:bodyPr>
          <a:lstStyle/>
          <a:p>
            <a:r>
              <a:rPr lang="en-US" sz="4000" b="1" dirty="0"/>
              <a:t>Results- Profitability</a:t>
            </a:r>
            <a:endParaRPr lang="en-US" sz="40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DE889C7-FAD6-4397-98E2-05D5034844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1083484"/>
            <a:ext cx="355196" cy="673460"/>
            <a:chOff x="0" y="823811"/>
            <a:chExt cx="355196" cy="673460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F399A70F-F8CD-4992-9EF5-6CF15472E7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823811"/>
              <a:ext cx="87363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48F4FEDC-6D80-458C-A665-075D9B9500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9341" y="823811"/>
              <a:ext cx="195855" cy="67346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3873B707-463F-40B0-8227-E8CC6C67EB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65085" y="2123821"/>
            <a:ext cx="4975066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2678B-0DDA-DC10-08A1-2B74A64D6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719" y="2330505"/>
            <a:ext cx="5278066" cy="3979585"/>
          </a:xfrm>
        </p:spPr>
        <p:txBody>
          <a:bodyPr anchor="ctr">
            <a:normAutofit/>
          </a:bodyPr>
          <a:lstStyle/>
          <a:p>
            <a:r>
              <a:rPr lang="en-US" sz="2000" dirty="0"/>
              <a:t>Achieved ~0.7% total return.</a:t>
            </a:r>
          </a:p>
          <a:p>
            <a:r>
              <a:rPr lang="en-US" sz="2000" dirty="0"/>
              <a:t>Agent struggled at parts where the trend wasn’t seen before.</a:t>
            </a:r>
          </a:p>
          <a:p>
            <a:r>
              <a:rPr lang="en-US" sz="2000" dirty="0"/>
              <a:t>The AI didn’t make any risky trades. </a:t>
            </a:r>
          </a:p>
          <a:p>
            <a:r>
              <a:rPr lang="en-US" sz="2000" dirty="0"/>
              <a:t>Although in other data sets there were times when it lost money, it made a profit at the end.</a:t>
            </a:r>
          </a:p>
          <a:p>
            <a:r>
              <a:rPr lang="en-US" sz="2000" dirty="0"/>
              <a:t>The AI learned how to make money. It started knowing nothing, made mistakes, learned from them via gradient descent, and ended up profitable.</a:t>
            </a:r>
            <a:endParaRPr lang="en-US" sz="2000" b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13237C8-E62C-4F0D-A318-BD6FB6C2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697670" y="0"/>
            <a:ext cx="149433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9C9EAEA-39D0-4B0E-A0EB-51E7B267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9687" y="357447"/>
            <a:ext cx="4845488" cy="2923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graph showing the price of a stock market&#10;&#10;AI-generated content may be incorrect.">
            <a:extLst>
              <a:ext uri="{FF2B5EF4-FFF2-40B4-BE49-F238E27FC236}">
                <a16:creationId xmlns:a16="http://schemas.microsoft.com/office/drawing/2014/main" id="{F09E981B-C047-DF2A-FCBB-02D7C9417A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970" y="581892"/>
            <a:ext cx="3358339" cy="2518756"/>
          </a:xfrm>
          <a:prstGeom prst="rect">
            <a:avLst/>
          </a:prstGeom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8CB5D2D7-DF65-4E86-BFBA-FFB9B5ACE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49687" y="3505479"/>
            <a:ext cx="4845488" cy="292358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graph showing a line&#10;&#10;AI-generated content may be incorrect.">
            <a:extLst>
              <a:ext uri="{FF2B5EF4-FFF2-40B4-BE49-F238E27FC236}">
                <a16:creationId xmlns:a16="http://schemas.microsoft.com/office/drawing/2014/main" id="{55F6F023-8BD1-B5B6-402A-4B6EE6F8AA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038" y="3707894"/>
            <a:ext cx="3358339" cy="2518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75809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4C2AC11E-3162-4990-A36E-92B07ECF16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" name="Rectangle 29">
            <a:extLst>
              <a:ext uri="{FF2B5EF4-FFF2-40B4-BE49-F238E27FC236}">
                <a16:creationId xmlns:a16="http://schemas.microsoft.com/office/drawing/2014/main" id="{9073D962-D3D2-4A72-8593-65C213CBF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9574" y="633619"/>
            <a:ext cx="4520912" cy="5495925"/>
          </a:xfrm>
          <a:prstGeom prst="rect">
            <a:avLst/>
          </a:prstGeom>
          <a:ln w="9525">
            <a:solidFill>
              <a:srgbClr val="DEDEDE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DE57D7D9-731D-CAF8-EF3D-607B749E52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78408"/>
            <a:ext cx="3721608" cy="1106424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800" b="1"/>
              <a:t>Results- Causality</a:t>
            </a:r>
            <a:endParaRPr lang="en-US" sz="280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387511B-F6E1-4929-AC90-94FB8B6B0F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565" y="1181536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58F78C-27AB-465F-AA33-15E08AF267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77456" y="2185416"/>
            <a:ext cx="3683187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3D653BC-017F-3C2F-9CC6-F4FB157677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68296"/>
            <a:ext cx="3721608" cy="3502152"/>
          </a:xfrm>
        </p:spPr>
        <p:txBody>
          <a:bodyPr>
            <a:normAutofit lnSpcReduction="10000"/>
          </a:bodyPr>
          <a:lstStyle/>
          <a:p>
            <a:r>
              <a:rPr lang="en-US" sz="1300" dirty="0"/>
              <a:t>Bottom right image is without ARL agent, where Aggressive and Momentum traders dominated. </a:t>
            </a:r>
          </a:p>
          <a:p>
            <a:r>
              <a:rPr lang="en-US" sz="1300" dirty="0"/>
              <a:t>When tested with ARL agent, it kept the strategies in check.</a:t>
            </a:r>
          </a:p>
          <a:p>
            <a:r>
              <a:rPr lang="en-US" sz="1300" dirty="0"/>
              <a:t>For each trend of the market data, the agent chose a working strategy and controlled the population to profit the most. </a:t>
            </a:r>
          </a:p>
          <a:p>
            <a:r>
              <a:rPr lang="en-US" sz="1300" dirty="0"/>
              <a:t>Since the Market Data was identical for both runs, the drastic shifts between the population were caused by the agent’s strategic adaptation.</a:t>
            </a:r>
          </a:p>
          <a:p>
            <a:r>
              <a:rPr lang="en-US" sz="1300" dirty="0"/>
              <a:t>The dependency plot shows that the AI influences the population when it wants a change.</a:t>
            </a:r>
          </a:p>
          <a:p>
            <a:r>
              <a:rPr lang="en-US" sz="1300" dirty="0"/>
              <a:t>When satisfied (change in population = 0), there is no interaction to measure.</a:t>
            </a:r>
          </a:p>
        </p:txBody>
      </p:sp>
      <p:pic>
        <p:nvPicPr>
          <p:cNvPr id="9" name="Picture 8" descr="A graph with orange lines&#10;&#10;AI-generated content may be incorrect.">
            <a:extLst>
              <a:ext uri="{FF2B5EF4-FFF2-40B4-BE49-F238E27FC236}">
                <a16:creationId xmlns:a16="http://schemas.microsoft.com/office/drawing/2014/main" id="{70381A0A-D05E-CD61-076C-85FDFBFD9E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1303" y="759652"/>
            <a:ext cx="3248351" cy="2436264"/>
          </a:xfrm>
          <a:prstGeom prst="rect">
            <a:avLst/>
          </a:prstGeom>
        </p:spPr>
      </p:pic>
      <p:pic>
        <p:nvPicPr>
          <p:cNvPr id="11" name="Picture 10" descr="A graph of different colored bars&#10;&#10;AI-generated content may be incorrect.">
            <a:extLst>
              <a:ext uri="{FF2B5EF4-FFF2-40B4-BE49-F238E27FC236}">
                <a16:creationId xmlns:a16="http://schemas.microsoft.com/office/drawing/2014/main" id="{956A8E30-1881-BB6D-47E9-A7C40CEED2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3268" y="3564164"/>
            <a:ext cx="3248352" cy="2436264"/>
          </a:xfrm>
          <a:prstGeom prst="rect">
            <a:avLst/>
          </a:prstGeom>
        </p:spPr>
      </p:pic>
      <p:pic>
        <p:nvPicPr>
          <p:cNvPr id="7" name="Picture 6" descr="A graph of different colors&#10;&#10;AI-generated content may be incorrect.">
            <a:extLst>
              <a:ext uri="{FF2B5EF4-FFF2-40B4-BE49-F238E27FC236}">
                <a16:creationId xmlns:a16="http://schemas.microsoft.com/office/drawing/2014/main" id="{D6A4C6DC-AB1B-C64B-2A93-725408B086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9914" y="3562699"/>
            <a:ext cx="3248352" cy="2436265"/>
          </a:xfrm>
          <a:prstGeom prst="rect">
            <a:avLst/>
          </a:prstGeom>
        </p:spPr>
      </p:pic>
      <p:pic>
        <p:nvPicPr>
          <p:cNvPr id="5" name="Picture 4" descr="A graph showing the price of a stock market&#10;&#10;AI-generated content may be incorrect.">
            <a:extLst>
              <a:ext uri="{FF2B5EF4-FFF2-40B4-BE49-F238E27FC236}">
                <a16:creationId xmlns:a16="http://schemas.microsoft.com/office/drawing/2014/main" id="{3880B2FA-34D1-E054-9950-E3B2CA1B056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3268" y="759651"/>
            <a:ext cx="3248352" cy="243626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267D94A-2D54-00DF-FEEC-7B91CD8537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5565" y="1181537"/>
            <a:ext cx="147195" cy="704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8982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4BE7F4-4A37-BDE2-AE94-CB4CDDD9D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149FB5C3-7336-4FE0-A30C-CC0A3646D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2" name="Rectangle 41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548DE2-0A9D-D7BD-C282-547BE017C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anchor="b">
            <a:normAutofit/>
          </a:bodyPr>
          <a:lstStyle/>
          <a:p>
            <a:r>
              <a:rPr lang="af-ZA" sz="4000" b="1" dirty="0"/>
              <a:t>Results- Strategy</a:t>
            </a:r>
            <a:endParaRPr lang="en-US" sz="4000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997FF-C878-B61B-B3C3-130D90585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715" y="2508105"/>
            <a:ext cx="5040285" cy="3632493"/>
          </a:xfrm>
        </p:spPr>
        <p:txBody>
          <a:bodyPr anchor="ctr">
            <a:normAutofit/>
          </a:bodyPr>
          <a:lstStyle/>
          <a:p>
            <a:r>
              <a:rPr lang="en-US" sz="1600" dirty="0"/>
              <a:t>The top image shows that the AI tried different spread widths before deciding on one to make profit.</a:t>
            </a:r>
          </a:p>
          <a:p>
            <a:r>
              <a:rPr lang="en-US" sz="1600" dirty="0"/>
              <a:t>The gray line is how often the agent acts to learn/explore. At first, it's closer to 1, but as time passes it gets to 0, showing that its not acting randomly, but on what it has learnt.</a:t>
            </a:r>
          </a:p>
          <a:p>
            <a:r>
              <a:rPr lang="en-US" sz="1600" dirty="0"/>
              <a:t>When the spikes are small, the price gap in bid/ask spread is tight, which attracts traders. When spikes are big, the spread is wide, and it is repelling traders. </a:t>
            </a:r>
          </a:p>
          <a:p>
            <a:r>
              <a:rPr lang="en-US" sz="1600" dirty="0"/>
              <a:t>There are big spikes when there is a crash in the market, showing that the agent is actively trying to stop itself from being exploited.</a:t>
            </a:r>
          </a:p>
        </p:txBody>
      </p:sp>
      <p:pic>
        <p:nvPicPr>
          <p:cNvPr id="7" name="Picture 6" descr="A graph of a chart&#10;&#10;AI-generated content may be incorrect.">
            <a:extLst>
              <a:ext uri="{FF2B5EF4-FFF2-40B4-BE49-F238E27FC236}">
                <a16:creationId xmlns:a16="http://schemas.microsoft.com/office/drawing/2014/main" id="{AF160EE7-DF33-1848-8589-B871757099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0446" y="774285"/>
            <a:ext cx="3441562" cy="2581173"/>
          </a:xfrm>
          <a:prstGeom prst="rect">
            <a:avLst/>
          </a:prstGeom>
        </p:spPr>
      </p:pic>
      <p:pic>
        <p:nvPicPr>
          <p:cNvPr id="5" name="Picture 4" descr="A graph of a graph&#10;&#10;AI-generated content may be incorrect.">
            <a:extLst>
              <a:ext uri="{FF2B5EF4-FFF2-40B4-BE49-F238E27FC236}">
                <a16:creationId xmlns:a16="http://schemas.microsoft.com/office/drawing/2014/main" id="{A3E09B69-E26B-63B6-8CA9-CB008A7598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0446" y="3575074"/>
            <a:ext cx="3441562" cy="2581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6950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57B853-2B7D-E8F8-FDE9-C556A5D54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EB708185-20C0-40F2-8F2D-8EB9E34B3C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9A6B5CE-CB1D-48EE-8B43-E952235C83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340441" y="2666183"/>
            <a:ext cx="5860051" cy="527712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3F3EAA5-4E15-400B-BBA3-82B3F49A21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2BA2E40-BE9B-4C54-9CDD-40EE804CCE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0" name="Rectangle 49">
            <a:extLst>
              <a:ext uri="{FF2B5EF4-FFF2-40B4-BE49-F238E27FC236}">
                <a16:creationId xmlns:a16="http://schemas.microsoft.com/office/drawing/2014/main" id="{0DA909B4-15FF-46A6-8A7F-7AEF977FE9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9528" y="517897"/>
            <a:ext cx="11111729" cy="585796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D3EDDA2-0AA5-1A81-8047-8A4E33335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7025" y="922644"/>
            <a:ext cx="5040285" cy="1169585"/>
          </a:xfrm>
        </p:spPr>
        <p:txBody>
          <a:bodyPr anchor="b">
            <a:normAutofit/>
          </a:bodyPr>
          <a:lstStyle/>
          <a:p>
            <a:r>
              <a:rPr lang="en-US" sz="4000" b="1" dirty="0"/>
              <a:t>Results- Methodology</a:t>
            </a:r>
            <a:endParaRPr lang="en-US" sz="40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1382A32C-5B0C-4B1C-A074-76C6DBCC9F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1055714" y="2263365"/>
            <a:ext cx="4937760" cy="2743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1F8855-E818-4AE1-3BDE-006BAFEB9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5715" y="2508105"/>
            <a:ext cx="5040285" cy="3632493"/>
          </a:xfrm>
        </p:spPr>
        <p:txBody>
          <a:bodyPr anchor="ctr">
            <a:normAutofit/>
          </a:bodyPr>
          <a:lstStyle/>
          <a:p>
            <a:r>
              <a:rPr lang="af-ZA" sz="1700" dirty="0"/>
              <a:t>The histogram shows that the AI isn’t lucky, it consistently made small wins which added up over time.</a:t>
            </a:r>
          </a:p>
          <a:p>
            <a:r>
              <a:rPr lang="af-ZA" sz="1700" dirty="0"/>
              <a:t>The graph shows drawdown over time. When the agent makes a mistake or the market turns abruptly, it adapted its policy to recover from the loss, instead of tilting and losing more. </a:t>
            </a:r>
          </a:p>
          <a:p>
            <a:r>
              <a:rPr lang="en-US" sz="1700" dirty="0"/>
              <a:t>The bright center line proves the agent learned to keep its inventory near zero, validating that it understands risk management. </a:t>
            </a:r>
          </a:p>
          <a:p>
            <a:r>
              <a:rPr lang="en-US" sz="1700" dirty="0"/>
              <a:t>It makes money by trading flow, not by taking dangerous bets on the direction of the stock.</a:t>
            </a:r>
          </a:p>
        </p:txBody>
      </p:sp>
      <p:pic>
        <p:nvPicPr>
          <p:cNvPr id="13" name="Picture 12" descr="A graph of a step return&#10;&#10;AI-generated content may be incorrect.">
            <a:extLst>
              <a:ext uri="{FF2B5EF4-FFF2-40B4-BE49-F238E27FC236}">
                <a16:creationId xmlns:a16="http://schemas.microsoft.com/office/drawing/2014/main" id="{04BFA4C1-B749-3807-D0C6-DA8E947F163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80" r="6202" b="6"/>
          <a:stretch>
            <a:fillRect/>
          </a:stretch>
        </p:blipFill>
        <p:spPr>
          <a:xfrm>
            <a:off x="6946666" y="774285"/>
            <a:ext cx="2112264" cy="1999673"/>
          </a:xfrm>
          <a:prstGeom prst="rect">
            <a:avLst/>
          </a:prstGeom>
        </p:spPr>
      </p:pic>
      <p:pic>
        <p:nvPicPr>
          <p:cNvPr id="7" name="Picture 6" descr="A graph showing a graph&#10;&#10;AI-generated content may be incorrect.">
            <a:extLst>
              <a:ext uri="{FF2B5EF4-FFF2-40B4-BE49-F238E27FC236}">
                <a16:creationId xmlns:a16="http://schemas.microsoft.com/office/drawing/2014/main" id="{06807FFC-A01A-9A72-B5EF-969C6A79ED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56" r="3126" b="6"/>
          <a:stretch>
            <a:fillRect/>
          </a:stretch>
        </p:blipFill>
        <p:spPr>
          <a:xfrm>
            <a:off x="9223523" y="774285"/>
            <a:ext cx="2112264" cy="1999673"/>
          </a:xfrm>
          <a:prstGeom prst="rect">
            <a:avLst/>
          </a:prstGeom>
        </p:spPr>
      </p:pic>
      <p:pic>
        <p:nvPicPr>
          <p:cNvPr id="5" name="Picture 4" descr="A graph showing a number of data&#10;&#10;AI-generated content may be incorrect.">
            <a:extLst>
              <a:ext uri="{FF2B5EF4-FFF2-40B4-BE49-F238E27FC236}">
                <a16:creationId xmlns:a16="http://schemas.microsoft.com/office/drawing/2014/main" id="{B5335CB0-0D3C-573D-4EA1-C431CFC51BB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42" r="12193" b="-1"/>
          <a:stretch>
            <a:fillRect/>
          </a:stretch>
        </p:blipFill>
        <p:spPr>
          <a:xfrm>
            <a:off x="6946667" y="2942704"/>
            <a:ext cx="4389120" cy="3213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8592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DD47-23A6-1D83-05B1-379A41033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104D31-B229-547D-F85F-F31F9AD48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Novelty and Contribution</a:t>
            </a:r>
            <a:endParaRPr lang="en-US" sz="54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4944F1-3B7E-7B7E-6F82-84D131BE84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dirty="0"/>
              <a:t>There have been research projects with:</a:t>
            </a:r>
          </a:p>
          <a:p>
            <a:pPr lvl="1"/>
            <a:r>
              <a:rPr lang="en-US" sz="2000" dirty="0"/>
              <a:t>RL agent vs fixed environment</a:t>
            </a:r>
          </a:p>
          <a:p>
            <a:pPr lvl="1"/>
            <a:r>
              <a:rPr lang="en-US" sz="2000" dirty="0"/>
              <a:t>GA evolving strategies with no RL</a:t>
            </a:r>
          </a:p>
          <a:p>
            <a:pPr lvl="1"/>
            <a:r>
              <a:rPr lang="en-US" sz="2000" dirty="0"/>
              <a:t>multiple RL agents but no evolutionary dynamics</a:t>
            </a:r>
          </a:p>
          <a:p>
            <a:pPr lvl="1"/>
            <a:r>
              <a:rPr lang="en-US" sz="2000" dirty="0"/>
              <a:t>EGT populations but no deep learning agent.</a:t>
            </a:r>
          </a:p>
          <a:p>
            <a:r>
              <a:rPr lang="en-US" sz="2400" dirty="0"/>
              <a:t>We could not find any that involve all 4 of these ideas in one simulation. </a:t>
            </a:r>
          </a:p>
          <a:p>
            <a:r>
              <a:rPr lang="en-US" sz="2400" dirty="0"/>
              <a:t>Unlike static back testing tools, this framework features an evolving trader population, providing a dynamic environment for validating predictive models.</a:t>
            </a:r>
          </a:p>
        </p:txBody>
      </p:sp>
    </p:spTree>
    <p:extLst>
      <p:ext uri="{BB962C8B-B14F-4D97-AF65-F5344CB8AC3E}">
        <p14:creationId xmlns:p14="http://schemas.microsoft.com/office/powerpoint/2010/main" val="30840275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1A9963-9CE1-41DF-CF1B-65B3F8902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4BDD54-BC0B-F157-0552-1E9D324B8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Bias and Future Work</a:t>
            </a:r>
            <a:endParaRPr lang="en-US" sz="54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58CCC-8167-95A9-4D67-20CE5CF59B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200"/>
              <a:t>The model might overfit to the specific volatility patterns of the provided dataset.</a:t>
            </a:r>
          </a:p>
          <a:p>
            <a:r>
              <a:rPr lang="en-US" sz="2200"/>
              <a:t>A simple 2-layer MLP may limit expressiveness compared to deeper architectures.</a:t>
            </a:r>
          </a:p>
          <a:p>
            <a:r>
              <a:rPr lang="en-US" sz="2200" b="1"/>
              <a:t>Possible Future Work: </a:t>
            </a:r>
          </a:p>
          <a:p>
            <a:pPr lvl="1"/>
            <a:r>
              <a:rPr lang="en-US" sz="2200"/>
              <a:t>Implement Recurrent Neural Networks (RNNs) to capture time-series dependencies better. </a:t>
            </a:r>
          </a:p>
          <a:p>
            <a:pPr lvl="1"/>
            <a:r>
              <a:rPr lang="en-US" sz="2200"/>
              <a:t>Replace heuristic EGT agents with other RL agents (Multi-Agent Reinforcement Learning) for a "smarter" enemy.</a:t>
            </a:r>
            <a:endParaRPr lang="en-US" sz="2200" b="1"/>
          </a:p>
        </p:txBody>
      </p:sp>
    </p:spTree>
    <p:extLst>
      <p:ext uri="{BB962C8B-B14F-4D97-AF65-F5344CB8AC3E}">
        <p14:creationId xmlns:p14="http://schemas.microsoft.com/office/powerpoint/2010/main" val="25407894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44F032-3989-26DC-9FE6-6125203BF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626F5ED-D8BA-33C5-574B-C688B1A76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38" y="386930"/>
            <a:ext cx="9236700" cy="1188950"/>
          </a:xfrm>
        </p:spPr>
        <p:txBody>
          <a:bodyPr anchor="b">
            <a:normAutofit/>
          </a:bodyPr>
          <a:lstStyle/>
          <a:p>
            <a:r>
              <a:rPr lang="en-US" sz="5400" b="1"/>
              <a:t>Conclusion</a:t>
            </a:r>
            <a:endParaRPr lang="en-US" sz="540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" y="1998368"/>
            <a:ext cx="11695083" cy="782176"/>
            <a:chOff x="-2" y="1998368"/>
            <a:chExt cx="11695083" cy="78217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5" name="Rectangle 24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11383362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80F32-E6BE-5841-22B1-54EBCDB057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3660" y="2599509"/>
            <a:ext cx="10143668" cy="3435531"/>
          </a:xfrm>
        </p:spPr>
        <p:txBody>
          <a:bodyPr anchor="ctr">
            <a:normAutofit/>
          </a:bodyPr>
          <a:lstStyle/>
          <a:p>
            <a:r>
              <a:rPr lang="en-US" sz="2400" dirty="0"/>
              <a:t>We successfully built a simulation where a Neural Network agent fought and exploited against an evolving Genetic Algorithm population.</a:t>
            </a:r>
          </a:p>
          <a:p>
            <a:r>
              <a:rPr lang="en-US" sz="2400" dirty="0"/>
              <a:t>The agent didn't just memorize prices; it learned Safe AI behaviors (inventory management) and Strategic Adaptation (countering aggressive traders).</a:t>
            </a:r>
          </a:p>
          <a:p>
            <a:r>
              <a:rPr lang="en-US" sz="2400" dirty="0"/>
              <a:t>This proves that RL agents can survive and stabilize in non-stationary, adversarial environments, and even control the environment to accomplish its goal.</a:t>
            </a:r>
          </a:p>
        </p:txBody>
      </p:sp>
    </p:spTree>
    <p:extLst>
      <p:ext uri="{BB962C8B-B14F-4D97-AF65-F5344CB8AC3E}">
        <p14:creationId xmlns:p14="http://schemas.microsoft.com/office/powerpoint/2010/main" val="32288761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EE578-B6ED-0102-6AA0-CF8EEC4365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253E-0B67-CC2E-623F-4E78087E6C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3862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C3731F5-336E-4E6B-A514-3EDD24CA1AC0}">
  <we:reference id="wa200005566" version="3.0.0.3" store="en-US" storeType="OMEX"/>
  <we:alternateReferences>
    <we:reference id="wa200005566" version="3.0.0.3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491</TotalTime>
  <Words>1294</Words>
  <Application>Microsoft Office PowerPoint</Application>
  <PresentationFormat>Widescreen</PresentationFormat>
  <Paragraphs>101</Paragraphs>
  <Slides>16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Office Theme</vt:lpstr>
      <vt:lpstr>Can an ARL Agent Outperform EGT Populations in a Simulated Market?</vt:lpstr>
      <vt:lpstr>Research Question and Motivation</vt:lpstr>
      <vt:lpstr>Previous Iterations</vt:lpstr>
      <vt:lpstr>Experimental Setup and Data</vt:lpstr>
      <vt:lpstr>Agent Architecture</vt:lpstr>
      <vt:lpstr>Learning Mechanism</vt:lpstr>
      <vt:lpstr>The Adversary</vt:lpstr>
      <vt:lpstr>Interaction Loop</vt:lpstr>
      <vt:lpstr>Results- Profitability</vt:lpstr>
      <vt:lpstr>Results- Causality</vt:lpstr>
      <vt:lpstr>Results- Strategy</vt:lpstr>
      <vt:lpstr>Results- Methodology</vt:lpstr>
      <vt:lpstr>Novelty and Contribution</vt:lpstr>
      <vt:lpstr>Bias and Future Work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Rithwak Somepalli</dc:creator>
  <cp:lastModifiedBy>Rithwak Somepalli</cp:lastModifiedBy>
  <cp:revision>23</cp:revision>
  <dcterms:created xsi:type="dcterms:W3CDTF">2025-11-24T23:14:25Z</dcterms:created>
  <dcterms:modified xsi:type="dcterms:W3CDTF">2025-12-06T01:25:45Z</dcterms:modified>
</cp:coreProperties>
</file>