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2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89" r:id="rId4"/>
    <p:sldId id="304" r:id="rId5"/>
    <p:sldId id="290" r:id="rId6"/>
    <p:sldId id="291" r:id="rId7"/>
    <p:sldId id="292" r:id="rId8"/>
    <p:sldId id="293" r:id="rId9"/>
    <p:sldId id="295" r:id="rId10"/>
    <p:sldId id="303" r:id="rId11"/>
    <p:sldId id="297" r:id="rId12"/>
    <p:sldId id="296" r:id="rId13"/>
    <p:sldId id="299" r:id="rId14"/>
    <p:sldId id="298" r:id="rId15"/>
    <p:sldId id="301" r:id="rId1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428" autoAdjust="0"/>
    <p:restoredTop sz="94660"/>
  </p:normalViewPr>
  <p:slideViewPr>
    <p:cSldViewPr snapToGrid="0">
      <p:cViewPr>
        <p:scale>
          <a:sx n="125" d="100"/>
          <a:sy n="125" d="100"/>
        </p:scale>
        <p:origin x="72" y="-10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007F0B82-8502-4779-B367-90D85B175B0C}" type="doc">
      <dgm:prSet loTypeId="urn:microsoft.com/office/officeart/2005/8/layout/hList1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17A428FB-5BB8-449A-8CFB-B83F1BA4D3A7}">
      <dgm:prSet/>
      <dgm:spPr/>
      <dgm:t>
        <a:bodyPr/>
        <a:lstStyle/>
        <a:p>
          <a:r>
            <a:rPr lang="en-US" b="1"/>
            <a:t>Simple Q table</a:t>
          </a:r>
          <a:endParaRPr lang="en-US"/>
        </a:p>
      </dgm:t>
    </dgm:pt>
    <dgm:pt modelId="{0D3D0837-37B9-4840-B7EC-F4A51D804F58}" type="parTrans" cxnId="{4C63825B-808B-492E-9EA4-BE7D556970EB}">
      <dgm:prSet/>
      <dgm:spPr/>
      <dgm:t>
        <a:bodyPr/>
        <a:lstStyle/>
        <a:p>
          <a:endParaRPr lang="en-US"/>
        </a:p>
      </dgm:t>
    </dgm:pt>
    <dgm:pt modelId="{959C37FC-9B0C-40F9-8D52-ED890FDFB402}" type="sibTrans" cxnId="{4C63825B-808B-492E-9EA4-BE7D556970EB}">
      <dgm:prSet/>
      <dgm:spPr/>
      <dgm:t>
        <a:bodyPr/>
        <a:lstStyle/>
        <a:p>
          <a:endParaRPr lang="en-US"/>
        </a:p>
      </dgm:t>
    </dgm:pt>
    <dgm:pt modelId="{1D6CA4BB-FE90-4658-934E-D33D7787DE87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dirty="0"/>
            <a:t>We compressed all data and made it less complex, in hopes that the agent would find a pattern easier. </a:t>
          </a:r>
        </a:p>
      </dgm:t>
    </dgm:pt>
    <dgm:pt modelId="{7598AF1C-4392-4E35-9287-CD2829FE4786}" type="parTrans" cxnId="{5C978D63-4213-417C-8451-F566F99FDE8A}">
      <dgm:prSet/>
      <dgm:spPr/>
      <dgm:t>
        <a:bodyPr/>
        <a:lstStyle/>
        <a:p>
          <a:endParaRPr lang="en-US"/>
        </a:p>
      </dgm:t>
    </dgm:pt>
    <dgm:pt modelId="{BA1E0D87-F6F8-4BC1-889C-867979344231}" type="sibTrans" cxnId="{5C978D63-4213-417C-8451-F566F99FDE8A}">
      <dgm:prSet/>
      <dgm:spPr/>
      <dgm:t>
        <a:bodyPr/>
        <a:lstStyle/>
        <a:p>
          <a:endParaRPr lang="en-US"/>
        </a:p>
      </dgm:t>
    </dgm:pt>
    <dgm:pt modelId="{A91B7E4A-D47B-49EB-870B-1922ED44E1B3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dirty="0"/>
            <a:t>The agent couldn’t grasp the complexity of the market and how the population changed, leading to losing trades.</a:t>
          </a:r>
        </a:p>
      </dgm:t>
    </dgm:pt>
    <dgm:pt modelId="{A6055118-CF25-41AF-AA9E-9D380721BDC7}" type="parTrans" cxnId="{EEDA5FEC-3C7E-45F0-9558-BF4058BB432F}">
      <dgm:prSet/>
      <dgm:spPr/>
      <dgm:t>
        <a:bodyPr/>
        <a:lstStyle/>
        <a:p>
          <a:endParaRPr lang="en-US"/>
        </a:p>
      </dgm:t>
    </dgm:pt>
    <dgm:pt modelId="{E15E46FF-A271-44DF-A99C-BC1215BB006B}" type="sibTrans" cxnId="{EEDA5FEC-3C7E-45F0-9558-BF4058BB432F}">
      <dgm:prSet/>
      <dgm:spPr/>
      <dgm:t>
        <a:bodyPr/>
        <a:lstStyle/>
        <a:p>
          <a:endParaRPr lang="en-US"/>
        </a:p>
      </dgm:t>
    </dgm:pt>
    <dgm:pt modelId="{92C88E0C-839B-428F-830D-0EC4090618C1}">
      <dgm:prSet/>
      <dgm:spPr/>
      <dgm:t>
        <a:bodyPr/>
        <a:lstStyle/>
        <a:p>
          <a:r>
            <a:rPr lang="en-US" b="1"/>
            <a:t>Deep Learning</a:t>
          </a:r>
          <a:endParaRPr lang="en-US"/>
        </a:p>
      </dgm:t>
    </dgm:pt>
    <dgm:pt modelId="{FB0DB8F2-98EB-4F07-836A-9FDAF281B239}" type="parTrans" cxnId="{78F6A7DE-1C17-4B64-ABC3-E6772B2E124A}">
      <dgm:prSet/>
      <dgm:spPr/>
      <dgm:t>
        <a:bodyPr/>
        <a:lstStyle/>
        <a:p>
          <a:endParaRPr lang="en-US"/>
        </a:p>
      </dgm:t>
    </dgm:pt>
    <dgm:pt modelId="{B8D5E840-199A-4B8D-9C12-58251EF751D9}" type="sibTrans" cxnId="{78F6A7DE-1C17-4B64-ABC3-E6772B2E124A}">
      <dgm:prSet/>
      <dgm:spPr/>
      <dgm:t>
        <a:bodyPr/>
        <a:lstStyle/>
        <a:p>
          <a:endParaRPr lang="en-US"/>
        </a:p>
      </dgm:t>
    </dgm:pt>
    <dgm:pt modelId="{15C791E3-0F21-4EC9-9765-326ACADF4550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dirty="0"/>
            <a:t>We switched to Deep Q-Networks (DQN) using TensorFlow to handle continuous data streams (RSI, Momentum, Exact Inventory).</a:t>
          </a:r>
        </a:p>
      </dgm:t>
    </dgm:pt>
    <dgm:pt modelId="{4E57148E-359A-4BA6-B207-50CFCAA63A8C}" type="parTrans" cxnId="{600FFA42-9620-4B75-A5A3-E68336E72D37}">
      <dgm:prSet/>
      <dgm:spPr/>
      <dgm:t>
        <a:bodyPr/>
        <a:lstStyle/>
        <a:p>
          <a:endParaRPr lang="en-US"/>
        </a:p>
      </dgm:t>
    </dgm:pt>
    <dgm:pt modelId="{74A35C53-512B-4CB3-89CD-AE1715D3D7B7}" type="sibTrans" cxnId="{600FFA42-9620-4B75-A5A3-E68336E72D37}">
      <dgm:prSet/>
      <dgm:spPr/>
      <dgm:t>
        <a:bodyPr/>
        <a:lstStyle/>
        <a:p>
          <a:endParaRPr lang="en-US"/>
        </a:p>
      </dgm:t>
    </dgm:pt>
    <dgm:pt modelId="{B1BE03DA-86C1-4739-A820-E71FCFFFC0E9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dirty="0"/>
            <a:t>The Neural Network learned to make money but struggled with safety. It would hoard stock hoping for a price jump, risking a total account blow-up. </a:t>
          </a:r>
        </a:p>
      </dgm:t>
    </dgm:pt>
    <dgm:pt modelId="{2FD225B7-28A9-4019-A26F-0F34C8C9FEF0}" type="parTrans" cxnId="{6211F2FE-91C8-4096-83CC-362D57596093}">
      <dgm:prSet/>
      <dgm:spPr/>
      <dgm:t>
        <a:bodyPr/>
        <a:lstStyle/>
        <a:p>
          <a:endParaRPr lang="en-US"/>
        </a:p>
      </dgm:t>
    </dgm:pt>
    <dgm:pt modelId="{7FFD3DD5-CBD1-4C13-8BA5-6DFEA2DA50A4}" type="sibTrans" cxnId="{6211F2FE-91C8-4096-83CC-362D57596093}">
      <dgm:prSet/>
      <dgm:spPr/>
      <dgm:t>
        <a:bodyPr/>
        <a:lstStyle/>
        <a:p>
          <a:endParaRPr lang="en-US"/>
        </a:p>
      </dgm:t>
    </dgm:pt>
    <dgm:pt modelId="{3E4DA9A7-E746-4CFB-AF21-597036DBA020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dirty="0"/>
            <a:t>We treated volatility as high and low, and rounded inventory to the nearest integer.</a:t>
          </a:r>
        </a:p>
      </dgm:t>
    </dgm:pt>
    <dgm:pt modelId="{1F689E1C-5D1C-4581-B7E1-23D231191374}" type="parTrans" cxnId="{CDD87A5F-FCC2-436A-8C48-434F0D953077}">
      <dgm:prSet/>
      <dgm:spPr/>
    </dgm:pt>
    <dgm:pt modelId="{FF88C947-552D-407A-8AC6-7A1307AFC5D5}" type="sibTrans" cxnId="{CDD87A5F-FCC2-436A-8C48-434F0D953077}">
      <dgm:prSet/>
      <dgm:spPr/>
    </dgm:pt>
    <dgm:pt modelId="{E94A4222-E2E1-480D-B4A1-CF6865DBEBE9}" type="pres">
      <dgm:prSet presAssocID="{007F0B82-8502-4779-B367-90D85B175B0C}" presName="Name0" presStyleCnt="0">
        <dgm:presLayoutVars>
          <dgm:dir/>
          <dgm:animLvl val="lvl"/>
          <dgm:resizeHandles val="exact"/>
        </dgm:presLayoutVars>
      </dgm:prSet>
      <dgm:spPr/>
    </dgm:pt>
    <dgm:pt modelId="{F483A111-30E7-4E11-8471-1E506B5A8C02}" type="pres">
      <dgm:prSet presAssocID="{17A428FB-5BB8-449A-8CFB-B83F1BA4D3A7}" presName="composite" presStyleCnt="0"/>
      <dgm:spPr/>
    </dgm:pt>
    <dgm:pt modelId="{5EB7597D-5318-4B72-B6EB-DC8122BAE7C1}" type="pres">
      <dgm:prSet presAssocID="{17A428FB-5BB8-449A-8CFB-B83F1BA4D3A7}" presName="parTx" presStyleLbl="alignNode1" presStyleIdx="0" presStyleCnt="2">
        <dgm:presLayoutVars>
          <dgm:chMax val="0"/>
          <dgm:chPref val="0"/>
          <dgm:bulletEnabled val="1"/>
        </dgm:presLayoutVars>
      </dgm:prSet>
      <dgm:spPr/>
    </dgm:pt>
    <dgm:pt modelId="{C8ADB559-AA57-4048-88FD-3483EE2C3973}" type="pres">
      <dgm:prSet presAssocID="{17A428FB-5BB8-449A-8CFB-B83F1BA4D3A7}" presName="desTx" presStyleLbl="alignAccFollowNode1" presStyleIdx="0" presStyleCnt="2">
        <dgm:presLayoutVars>
          <dgm:bulletEnabled val="1"/>
        </dgm:presLayoutVars>
      </dgm:prSet>
      <dgm:spPr/>
    </dgm:pt>
    <dgm:pt modelId="{C98B596C-D4DB-4A64-A8ED-ED55196F11BD}" type="pres">
      <dgm:prSet presAssocID="{959C37FC-9B0C-40F9-8D52-ED890FDFB402}" presName="space" presStyleCnt="0"/>
      <dgm:spPr/>
    </dgm:pt>
    <dgm:pt modelId="{B8985FFE-B036-4C25-81B0-8E3123D5F3E3}" type="pres">
      <dgm:prSet presAssocID="{92C88E0C-839B-428F-830D-0EC4090618C1}" presName="composite" presStyleCnt="0"/>
      <dgm:spPr/>
    </dgm:pt>
    <dgm:pt modelId="{D8E34134-DE2F-40D5-9AE0-8B06F28FAE46}" type="pres">
      <dgm:prSet presAssocID="{92C88E0C-839B-428F-830D-0EC4090618C1}" presName="parTx" presStyleLbl="alignNode1" presStyleIdx="1" presStyleCnt="2">
        <dgm:presLayoutVars>
          <dgm:chMax val="0"/>
          <dgm:chPref val="0"/>
          <dgm:bulletEnabled val="1"/>
        </dgm:presLayoutVars>
      </dgm:prSet>
      <dgm:spPr/>
    </dgm:pt>
    <dgm:pt modelId="{ABB1207D-8436-46E2-9F16-B8A1CBA68545}" type="pres">
      <dgm:prSet presAssocID="{92C88E0C-839B-428F-830D-0EC4090618C1}" presName="desTx" presStyleLbl="alignAccFollowNode1" presStyleIdx="1" presStyleCnt="2">
        <dgm:presLayoutVars>
          <dgm:bulletEnabled val="1"/>
        </dgm:presLayoutVars>
      </dgm:prSet>
      <dgm:spPr/>
    </dgm:pt>
  </dgm:ptLst>
  <dgm:cxnLst>
    <dgm:cxn modelId="{47FBC239-9609-46B6-A32A-EA80A9226DB8}" type="presOf" srcId="{92C88E0C-839B-428F-830D-0EC4090618C1}" destId="{D8E34134-DE2F-40D5-9AE0-8B06F28FAE46}" srcOrd="0" destOrd="0" presId="urn:microsoft.com/office/officeart/2005/8/layout/hList1"/>
    <dgm:cxn modelId="{E475E43A-7065-499A-AE52-6A16899D530B}" type="presOf" srcId="{A91B7E4A-D47B-49EB-870B-1922ED44E1B3}" destId="{C8ADB559-AA57-4048-88FD-3483EE2C3973}" srcOrd="0" destOrd="2" presId="urn:microsoft.com/office/officeart/2005/8/layout/hList1"/>
    <dgm:cxn modelId="{4C63825B-808B-492E-9EA4-BE7D556970EB}" srcId="{007F0B82-8502-4779-B367-90D85B175B0C}" destId="{17A428FB-5BB8-449A-8CFB-B83F1BA4D3A7}" srcOrd="0" destOrd="0" parTransId="{0D3D0837-37B9-4840-B7EC-F4A51D804F58}" sibTransId="{959C37FC-9B0C-40F9-8D52-ED890FDFB402}"/>
    <dgm:cxn modelId="{CDD87A5F-FCC2-436A-8C48-434F0D953077}" srcId="{17A428FB-5BB8-449A-8CFB-B83F1BA4D3A7}" destId="{3E4DA9A7-E746-4CFB-AF21-597036DBA020}" srcOrd="1" destOrd="0" parTransId="{1F689E1C-5D1C-4581-B7E1-23D231191374}" sibTransId="{FF88C947-552D-407A-8AC6-7A1307AFC5D5}"/>
    <dgm:cxn modelId="{600FFA42-9620-4B75-A5A3-E68336E72D37}" srcId="{92C88E0C-839B-428F-830D-0EC4090618C1}" destId="{15C791E3-0F21-4EC9-9765-326ACADF4550}" srcOrd="0" destOrd="0" parTransId="{4E57148E-359A-4BA6-B207-50CFCAA63A8C}" sibTransId="{74A35C53-512B-4CB3-89CD-AE1715D3D7B7}"/>
    <dgm:cxn modelId="{5C978D63-4213-417C-8451-F566F99FDE8A}" srcId="{17A428FB-5BB8-449A-8CFB-B83F1BA4D3A7}" destId="{1D6CA4BB-FE90-4658-934E-D33D7787DE87}" srcOrd="0" destOrd="0" parTransId="{7598AF1C-4392-4E35-9287-CD2829FE4786}" sibTransId="{BA1E0D87-F6F8-4BC1-889C-867979344231}"/>
    <dgm:cxn modelId="{F666D550-E1BE-4278-8403-0EBCF913479D}" type="presOf" srcId="{17A428FB-5BB8-449A-8CFB-B83F1BA4D3A7}" destId="{5EB7597D-5318-4B72-B6EB-DC8122BAE7C1}" srcOrd="0" destOrd="0" presId="urn:microsoft.com/office/officeart/2005/8/layout/hList1"/>
    <dgm:cxn modelId="{6701CA78-1F09-4338-8E7F-8249A0F26D07}" type="presOf" srcId="{3E4DA9A7-E746-4CFB-AF21-597036DBA020}" destId="{C8ADB559-AA57-4048-88FD-3483EE2C3973}" srcOrd="0" destOrd="1" presId="urn:microsoft.com/office/officeart/2005/8/layout/hList1"/>
    <dgm:cxn modelId="{1225B8A6-D3FB-4BF4-AE77-9CF008CC8977}" type="presOf" srcId="{B1BE03DA-86C1-4739-A820-E71FCFFFC0E9}" destId="{ABB1207D-8436-46E2-9F16-B8A1CBA68545}" srcOrd="0" destOrd="1" presId="urn:microsoft.com/office/officeart/2005/8/layout/hList1"/>
    <dgm:cxn modelId="{316FDABA-664C-4C6C-BB19-A364A6873EDE}" type="presOf" srcId="{007F0B82-8502-4779-B367-90D85B175B0C}" destId="{E94A4222-E2E1-480D-B4A1-CF6865DBEBE9}" srcOrd="0" destOrd="0" presId="urn:microsoft.com/office/officeart/2005/8/layout/hList1"/>
    <dgm:cxn modelId="{62A438CA-CBE5-435E-835C-95F4632CFF49}" type="presOf" srcId="{1D6CA4BB-FE90-4658-934E-D33D7787DE87}" destId="{C8ADB559-AA57-4048-88FD-3483EE2C3973}" srcOrd="0" destOrd="0" presId="urn:microsoft.com/office/officeart/2005/8/layout/hList1"/>
    <dgm:cxn modelId="{78F6A7DE-1C17-4B64-ABC3-E6772B2E124A}" srcId="{007F0B82-8502-4779-B367-90D85B175B0C}" destId="{92C88E0C-839B-428F-830D-0EC4090618C1}" srcOrd="1" destOrd="0" parTransId="{FB0DB8F2-98EB-4F07-836A-9FDAF281B239}" sibTransId="{B8D5E840-199A-4B8D-9C12-58251EF751D9}"/>
    <dgm:cxn modelId="{8FCD2FE5-6A33-4E33-83CE-757A8A361354}" type="presOf" srcId="{15C791E3-0F21-4EC9-9765-326ACADF4550}" destId="{ABB1207D-8436-46E2-9F16-B8A1CBA68545}" srcOrd="0" destOrd="0" presId="urn:microsoft.com/office/officeart/2005/8/layout/hList1"/>
    <dgm:cxn modelId="{EEDA5FEC-3C7E-45F0-9558-BF4058BB432F}" srcId="{17A428FB-5BB8-449A-8CFB-B83F1BA4D3A7}" destId="{A91B7E4A-D47B-49EB-870B-1922ED44E1B3}" srcOrd="2" destOrd="0" parTransId="{A6055118-CF25-41AF-AA9E-9D380721BDC7}" sibTransId="{E15E46FF-A271-44DF-A99C-BC1215BB006B}"/>
    <dgm:cxn modelId="{6211F2FE-91C8-4096-83CC-362D57596093}" srcId="{92C88E0C-839B-428F-830D-0EC4090618C1}" destId="{B1BE03DA-86C1-4739-A820-E71FCFFFC0E9}" srcOrd="1" destOrd="0" parTransId="{2FD225B7-28A9-4019-A26F-0F34C8C9FEF0}" sibTransId="{7FFD3DD5-CBD1-4C13-8BA5-6DFEA2DA50A4}"/>
    <dgm:cxn modelId="{FE59EA91-6486-4C43-922D-67AA26D2AB6F}" type="presParOf" srcId="{E94A4222-E2E1-480D-B4A1-CF6865DBEBE9}" destId="{F483A111-30E7-4E11-8471-1E506B5A8C02}" srcOrd="0" destOrd="0" presId="urn:microsoft.com/office/officeart/2005/8/layout/hList1"/>
    <dgm:cxn modelId="{5FB580FC-B5BA-4488-922F-1D23F46A6318}" type="presParOf" srcId="{F483A111-30E7-4E11-8471-1E506B5A8C02}" destId="{5EB7597D-5318-4B72-B6EB-DC8122BAE7C1}" srcOrd="0" destOrd="0" presId="urn:microsoft.com/office/officeart/2005/8/layout/hList1"/>
    <dgm:cxn modelId="{00215942-8302-433E-920C-80583D2BB219}" type="presParOf" srcId="{F483A111-30E7-4E11-8471-1E506B5A8C02}" destId="{C8ADB559-AA57-4048-88FD-3483EE2C3973}" srcOrd="1" destOrd="0" presId="urn:microsoft.com/office/officeart/2005/8/layout/hList1"/>
    <dgm:cxn modelId="{8D50910E-0220-4BFB-B593-8386702CE9EE}" type="presParOf" srcId="{E94A4222-E2E1-480D-B4A1-CF6865DBEBE9}" destId="{C98B596C-D4DB-4A64-A8ED-ED55196F11BD}" srcOrd="1" destOrd="0" presId="urn:microsoft.com/office/officeart/2005/8/layout/hList1"/>
    <dgm:cxn modelId="{968CFEF2-FAF7-4F84-834E-FB0E6CF7BA55}" type="presParOf" srcId="{E94A4222-E2E1-480D-B4A1-CF6865DBEBE9}" destId="{B8985FFE-B036-4C25-81B0-8E3123D5F3E3}" srcOrd="2" destOrd="0" presId="urn:microsoft.com/office/officeart/2005/8/layout/hList1"/>
    <dgm:cxn modelId="{D6CE7E09-FCAA-4FFA-967A-57AC90F96481}" type="presParOf" srcId="{B8985FFE-B036-4C25-81B0-8E3123D5F3E3}" destId="{D8E34134-DE2F-40D5-9AE0-8B06F28FAE46}" srcOrd="0" destOrd="0" presId="urn:microsoft.com/office/officeart/2005/8/layout/hList1"/>
    <dgm:cxn modelId="{26A8439A-C29E-497C-BD1B-558DE96767A8}" type="presParOf" srcId="{B8985FFE-B036-4C25-81B0-8E3123D5F3E3}" destId="{ABB1207D-8436-46E2-9F16-B8A1CBA68545}" srcOrd="1" destOrd="0" presId="urn:microsoft.com/office/officeart/2005/8/layout/h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084B3F22-4C6C-4D33-9F67-0A0598B2D328}" type="doc">
      <dgm:prSet loTypeId="urn:microsoft.com/office/officeart/2008/layout/LinedList" loCatId="list" qsTypeId="urn:microsoft.com/office/officeart/2005/8/quickstyle/simple1" qsCatId="simple" csTypeId="urn:microsoft.com/office/officeart/2005/8/colors/colorful5" csCatId="colorful" phldr="1"/>
      <dgm:spPr/>
      <dgm:t>
        <a:bodyPr/>
        <a:lstStyle/>
        <a:p>
          <a:endParaRPr lang="en-US"/>
        </a:p>
      </dgm:t>
    </dgm:pt>
    <dgm:pt modelId="{FF55427A-7611-4AFA-8130-7AE653A2DB92}">
      <dgm:prSet/>
      <dgm:spPr/>
      <dgm:t>
        <a:bodyPr/>
        <a:lstStyle/>
        <a:p>
          <a:r>
            <a:rPr lang="en-US" dirty="0"/>
            <a:t>We utilize a standard Feed-Forward Neural Network (MLP).</a:t>
          </a:r>
        </a:p>
        <a:p>
          <a:r>
            <a:rPr lang="en-US" dirty="0"/>
            <a:t>6-unit input layer → 64-unit hidden layer → 5-unit output layer.</a:t>
          </a:r>
        </a:p>
      </dgm:t>
    </dgm:pt>
    <dgm:pt modelId="{4CF4728B-3D9F-4DE1-A836-C7CBB69A168C}" type="parTrans" cxnId="{FFA4CC59-9936-4068-B8E3-37C9C3452EEE}">
      <dgm:prSet/>
      <dgm:spPr/>
      <dgm:t>
        <a:bodyPr/>
        <a:lstStyle/>
        <a:p>
          <a:endParaRPr lang="en-US"/>
        </a:p>
      </dgm:t>
    </dgm:pt>
    <dgm:pt modelId="{C686A7FC-44E0-4CA8-985A-93CF081E55C4}" type="sibTrans" cxnId="{FFA4CC59-9936-4068-B8E3-37C9C3452EEE}">
      <dgm:prSet/>
      <dgm:spPr/>
      <dgm:t>
        <a:bodyPr/>
        <a:lstStyle/>
        <a:p>
          <a:endParaRPr lang="en-US"/>
        </a:p>
      </dgm:t>
    </dgm:pt>
    <dgm:pt modelId="{0C636064-85CE-4D71-A792-DF773D4D2F45}">
      <dgm:prSet/>
      <dgm:spPr/>
      <dgm:t>
        <a:bodyPr/>
        <a:lstStyle/>
        <a:p>
          <a:r>
            <a:rPr lang="en-US" dirty="0"/>
            <a:t>The agent observes 6 features: Volatility, RSI, Momentum, Normalized Volume, Inventory, and Time Remaining.</a:t>
          </a:r>
        </a:p>
        <a:p>
          <a:r>
            <a:rPr lang="en-US" b="0" dirty="0"/>
            <a:t>The output of the network is a bid/ask spread combination to quote into the market.</a:t>
          </a:r>
          <a:endParaRPr lang="en-US" dirty="0"/>
        </a:p>
      </dgm:t>
    </dgm:pt>
    <dgm:pt modelId="{CC6E9151-1D93-4465-A60A-552EBA5C56BB}" type="parTrans" cxnId="{E18F49AA-C238-4433-87B5-3D6AEE997A56}">
      <dgm:prSet/>
      <dgm:spPr/>
      <dgm:t>
        <a:bodyPr/>
        <a:lstStyle/>
        <a:p>
          <a:endParaRPr lang="en-US"/>
        </a:p>
      </dgm:t>
    </dgm:pt>
    <dgm:pt modelId="{C6E1DE2B-95F2-406C-83DB-2B6E4DAE958B}" type="sibTrans" cxnId="{E18F49AA-C238-4433-87B5-3D6AEE997A56}">
      <dgm:prSet/>
      <dgm:spPr/>
      <dgm:t>
        <a:bodyPr/>
        <a:lstStyle/>
        <a:p>
          <a:endParaRPr lang="en-US"/>
        </a:p>
      </dgm:t>
    </dgm:pt>
    <dgm:pt modelId="{454BD57C-E7FC-4A7A-932C-98442448485B}">
      <dgm:prSet/>
      <dgm:spPr/>
      <dgm:t>
        <a:bodyPr/>
        <a:lstStyle/>
        <a:p>
          <a:r>
            <a:rPr lang="en-US" dirty="0"/>
            <a:t>We use </a:t>
          </a:r>
          <a:r>
            <a:rPr lang="en-US" dirty="0" err="1"/>
            <a:t>ReLU</a:t>
          </a:r>
          <a:r>
            <a:rPr lang="en-US" dirty="0"/>
            <a:t> instead of sigmoid because it handles non-linear patterns more simply and effectively.</a:t>
          </a:r>
        </a:p>
      </dgm:t>
    </dgm:pt>
    <dgm:pt modelId="{4DC6BE0B-FB8D-4D8E-9374-B9C4EF033177}" type="parTrans" cxnId="{E5152257-F390-46A1-A187-42C8013C0C4F}">
      <dgm:prSet/>
      <dgm:spPr/>
      <dgm:t>
        <a:bodyPr/>
        <a:lstStyle/>
        <a:p>
          <a:endParaRPr lang="en-US"/>
        </a:p>
      </dgm:t>
    </dgm:pt>
    <dgm:pt modelId="{9184F552-F27F-4C3B-89B2-0A0AE05F1492}" type="sibTrans" cxnId="{E5152257-F390-46A1-A187-42C8013C0C4F}">
      <dgm:prSet/>
      <dgm:spPr/>
      <dgm:t>
        <a:bodyPr/>
        <a:lstStyle/>
        <a:p>
          <a:endParaRPr lang="en-US"/>
        </a:p>
      </dgm:t>
    </dgm:pt>
    <dgm:pt modelId="{BCF10903-1A78-4DC3-99AD-6C60D093C626}" type="pres">
      <dgm:prSet presAssocID="{084B3F22-4C6C-4D33-9F67-0A0598B2D328}" presName="vert0" presStyleCnt="0">
        <dgm:presLayoutVars>
          <dgm:dir/>
          <dgm:animOne val="branch"/>
          <dgm:animLvl val="lvl"/>
        </dgm:presLayoutVars>
      </dgm:prSet>
      <dgm:spPr/>
    </dgm:pt>
    <dgm:pt modelId="{074DD74A-E0D7-4B47-8652-4E391023E0C6}" type="pres">
      <dgm:prSet presAssocID="{FF55427A-7611-4AFA-8130-7AE653A2DB92}" presName="thickLine" presStyleLbl="alignNode1" presStyleIdx="0" presStyleCnt="3"/>
      <dgm:spPr/>
    </dgm:pt>
    <dgm:pt modelId="{52F684C4-4412-4129-977F-54AD935A744D}" type="pres">
      <dgm:prSet presAssocID="{FF55427A-7611-4AFA-8130-7AE653A2DB92}" presName="horz1" presStyleCnt="0"/>
      <dgm:spPr/>
    </dgm:pt>
    <dgm:pt modelId="{4835DA63-03B7-4840-818D-C797D50333D4}" type="pres">
      <dgm:prSet presAssocID="{FF55427A-7611-4AFA-8130-7AE653A2DB92}" presName="tx1" presStyleLbl="revTx" presStyleIdx="0" presStyleCnt="3"/>
      <dgm:spPr/>
    </dgm:pt>
    <dgm:pt modelId="{251AFAC8-FC94-48FF-AFEF-787DF8A23374}" type="pres">
      <dgm:prSet presAssocID="{FF55427A-7611-4AFA-8130-7AE653A2DB92}" presName="vert1" presStyleCnt="0"/>
      <dgm:spPr/>
    </dgm:pt>
    <dgm:pt modelId="{C2829D2C-4B90-4B06-9B3E-8CDB16D6AF5D}" type="pres">
      <dgm:prSet presAssocID="{0C636064-85CE-4D71-A792-DF773D4D2F45}" presName="thickLine" presStyleLbl="alignNode1" presStyleIdx="1" presStyleCnt="3"/>
      <dgm:spPr/>
    </dgm:pt>
    <dgm:pt modelId="{BBE5B5E6-8BC5-41FF-9377-4FE851EE5DC8}" type="pres">
      <dgm:prSet presAssocID="{0C636064-85CE-4D71-A792-DF773D4D2F45}" presName="horz1" presStyleCnt="0"/>
      <dgm:spPr/>
    </dgm:pt>
    <dgm:pt modelId="{3453FEE3-2F02-4880-95F3-A5B4B836E1CE}" type="pres">
      <dgm:prSet presAssocID="{0C636064-85CE-4D71-A792-DF773D4D2F45}" presName="tx1" presStyleLbl="revTx" presStyleIdx="1" presStyleCnt="3"/>
      <dgm:spPr/>
    </dgm:pt>
    <dgm:pt modelId="{81B403A9-A7C0-495C-BD65-60303B9F1F43}" type="pres">
      <dgm:prSet presAssocID="{0C636064-85CE-4D71-A792-DF773D4D2F45}" presName="vert1" presStyleCnt="0"/>
      <dgm:spPr/>
    </dgm:pt>
    <dgm:pt modelId="{8498D9B1-2C2C-4A76-98FB-8AF35398B648}" type="pres">
      <dgm:prSet presAssocID="{454BD57C-E7FC-4A7A-932C-98442448485B}" presName="thickLine" presStyleLbl="alignNode1" presStyleIdx="2" presStyleCnt="3"/>
      <dgm:spPr/>
    </dgm:pt>
    <dgm:pt modelId="{B29A98E2-8AB9-461B-9D32-D5FB2174B669}" type="pres">
      <dgm:prSet presAssocID="{454BD57C-E7FC-4A7A-932C-98442448485B}" presName="horz1" presStyleCnt="0"/>
      <dgm:spPr/>
    </dgm:pt>
    <dgm:pt modelId="{836B1DE6-0772-4811-A25F-4598AAEC72B2}" type="pres">
      <dgm:prSet presAssocID="{454BD57C-E7FC-4A7A-932C-98442448485B}" presName="tx1" presStyleLbl="revTx" presStyleIdx="2" presStyleCnt="3"/>
      <dgm:spPr/>
    </dgm:pt>
    <dgm:pt modelId="{1D62F566-D43A-45EA-AE94-24483856EC8D}" type="pres">
      <dgm:prSet presAssocID="{454BD57C-E7FC-4A7A-932C-98442448485B}" presName="vert1" presStyleCnt="0"/>
      <dgm:spPr/>
    </dgm:pt>
  </dgm:ptLst>
  <dgm:cxnLst>
    <dgm:cxn modelId="{EE48DD61-0774-463D-A42B-64D8B76A3AFD}" type="presOf" srcId="{084B3F22-4C6C-4D33-9F67-0A0598B2D328}" destId="{BCF10903-1A78-4DC3-99AD-6C60D093C626}" srcOrd="0" destOrd="0" presId="urn:microsoft.com/office/officeart/2008/layout/LinedList"/>
    <dgm:cxn modelId="{705DA06C-526C-4630-A61F-3A41A111B8F4}" type="presOf" srcId="{454BD57C-E7FC-4A7A-932C-98442448485B}" destId="{836B1DE6-0772-4811-A25F-4598AAEC72B2}" srcOrd="0" destOrd="0" presId="urn:microsoft.com/office/officeart/2008/layout/LinedList"/>
    <dgm:cxn modelId="{E5152257-F390-46A1-A187-42C8013C0C4F}" srcId="{084B3F22-4C6C-4D33-9F67-0A0598B2D328}" destId="{454BD57C-E7FC-4A7A-932C-98442448485B}" srcOrd="2" destOrd="0" parTransId="{4DC6BE0B-FB8D-4D8E-9374-B9C4EF033177}" sibTransId="{9184F552-F27F-4C3B-89B2-0A0AE05F1492}"/>
    <dgm:cxn modelId="{FFA4CC59-9936-4068-B8E3-37C9C3452EEE}" srcId="{084B3F22-4C6C-4D33-9F67-0A0598B2D328}" destId="{FF55427A-7611-4AFA-8130-7AE653A2DB92}" srcOrd="0" destOrd="0" parTransId="{4CF4728B-3D9F-4DE1-A836-C7CBB69A168C}" sibTransId="{C686A7FC-44E0-4CA8-985A-93CF081E55C4}"/>
    <dgm:cxn modelId="{E18F49AA-C238-4433-87B5-3D6AEE997A56}" srcId="{084B3F22-4C6C-4D33-9F67-0A0598B2D328}" destId="{0C636064-85CE-4D71-A792-DF773D4D2F45}" srcOrd="1" destOrd="0" parTransId="{CC6E9151-1D93-4465-A60A-552EBA5C56BB}" sibTransId="{C6E1DE2B-95F2-406C-83DB-2B6E4DAE958B}"/>
    <dgm:cxn modelId="{EACFABE6-6033-4F9A-95A5-5DD2180D37E5}" type="presOf" srcId="{0C636064-85CE-4D71-A792-DF773D4D2F45}" destId="{3453FEE3-2F02-4880-95F3-A5B4B836E1CE}" srcOrd="0" destOrd="0" presId="urn:microsoft.com/office/officeart/2008/layout/LinedList"/>
    <dgm:cxn modelId="{5BE2C3F3-5DAC-458D-B7BF-0AFF6DD0F925}" type="presOf" srcId="{FF55427A-7611-4AFA-8130-7AE653A2DB92}" destId="{4835DA63-03B7-4840-818D-C797D50333D4}" srcOrd="0" destOrd="0" presId="urn:microsoft.com/office/officeart/2008/layout/LinedList"/>
    <dgm:cxn modelId="{7A89FBC7-FDF9-459F-AEFD-4C10D428F9DE}" type="presParOf" srcId="{BCF10903-1A78-4DC3-99AD-6C60D093C626}" destId="{074DD74A-E0D7-4B47-8652-4E391023E0C6}" srcOrd="0" destOrd="0" presId="urn:microsoft.com/office/officeart/2008/layout/LinedList"/>
    <dgm:cxn modelId="{37C8B018-9F1F-4399-A61D-67EFDB8CE9DB}" type="presParOf" srcId="{BCF10903-1A78-4DC3-99AD-6C60D093C626}" destId="{52F684C4-4412-4129-977F-54AD935A744D}" srcOrd="1" destOrd="0" presId="urn:microsoft.com/office/officeart/2008/layout/LinedList"/>
    <dgm:cxn modelId="{05619E7A-C4D7-43ED-A9A2-51B2CE25A13F}" type="presParOf" srcId="{52F684C4-4412-4129-977F-54AD935A744D}" destId="{4835DA63-03B7-4840-818D-C797D50333D4}" srcOrd="0" destOrd="0" presId="urn:microsoft.com/office/officeart/2008/layout/LinedList"/>
    <dgm:cxn modelId="{7B504E1F-7E88-4CC6-885C-36A3B36B7E6F}" type="presParOf" srcId="{52F684C4-4412-4129-977F-54AD935A744D}" destId="{251AFAC8-FC94-48FF-AFEF-787DF8A23374}" srcOrd="1" destOrd="0" presId="urn:microsoft.com/office/officeart/2008/layout/LinedList"/>
    <dgm:cxn modelId="{456A280C-B035-430A-9408-C27D1A215C59}" type="presParOf" srcId="{BCF10903-1A78-4DC3-99AD-6C60D093C626}" destId="{C2829D2C-4B90-4B06-9B3E-8CDB16D6AF5D}" srcOrd="2" destOrd="0" presId="urn:microsoft.com/office/officeart/2008/layout/LinedList"/>
    <dgm:cxn modelId="{3095691E-438C-43D8-8C09-EBAE7FBA43A1}" type="presParOf" srcId="{BCF10903-1A78-4DC3-99AD-6C60D093C626}" destId="{BBE5B5E6-8BC5-41FF-9377-4FE851EE5DC8}" srcOrd="3" destOrd="0" presId="urn:microsoft.com/office/officeart/2008/layout/LinedList"/>
    <dgm:cxn modelId="{FF886132-BA82-49F5-A322-33CF9B5F88A8}" type="presParOf" srcId="{BBE5B5E6-8BC5-41FF-9377-4FE851EE5DC8}" destId="{3453FEE3-2F02-4880-95F3-A5B4B836E1CE}" srcOrd="0" destOrd="0" presId="urn:microsoft.com/office/officeart/2008/layout/LinedList"/>
    <dgm:cxn modelId="{99FA0C92-D0AB-4FF8-BD9C-1A763B071B94}" type="presParOf" srcId="{BBE5B5E6-8BC5-41FF-9377-4FE851EE5DC8}" destId="{81B403A9-A7C0-495C-BD65-60303B9F1F43}" srcOrd="1" destOrd="0" presId="urn:microsoft.com/office/officeart/2008/layout/LinedList"/>
    <dgm:cxn modelId="{5DBB1339-A8C4-45CF-A52F-B9B73BADC5A8}" type="presParOf" srcId="{BCF10903-1A78-4DC3-99AD-6C60D093C626}" destId="{8498D9B1-2C2C-4A76-98FB-8AF35398B648}" srcOrd="4" destOrd="0" presId="urn:microsoft.com/office/officeart/2008/layout/LinedList"/>
    <dgm:cxn modelId="{367632FC-81F3-4E9E-8EE0-0D7FA2E465C7}" type="presParOf" srcId="{BCF10903-1A78-4DC3-99AD-6C60D093C626}" destId="{B29A98E2-8AB9-461B-9D32-D5FB2174B669}" srcOrd="5" destOrd="0" presId="urn:microsoft.com/office/officeart/2008/layout/LinedList"/>
    <dgm:cxn modelId="{E1D7B6CF-0C93-4647-A9D6-FA14425FA540}" type="presParOf" srcId="{B29A98E2-8AB9-461B-9D32-D5FB2174B669}" destId="{836B1DE6-0772-4811-A25F-4598AAEC72B2}" srcOrd="0" destOrd="0" presId="urn:microsoft.com/office/officeart/2008/layout/LinedList"/>
    <dgm:cxn modelId="{1244037E-7AA5-42BB-BCEA-C53BFC86A41E}" type="presParOf" srcId="{B29A98E2-8AB9-461B-9D32-D5FB2174B669}" destId="{1D62F566-D43A-45EA-AE94-24483856EC8D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8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4EA34A17-05E6-4AA0-A007-687C72D6C68D}" type="doc">
      <dgm:prSet loTypeId="urn:microsoft.com/office/officeart/2016/7/layout/RepeatingBendingProcessNew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FED5292E-F910-4503-9B3E-7B5679475F1D}">
      <dgm:prSet/>
      <dgm:spPr/>
      <dgm:t>
        <a:bodyPr/>
        <a:lstStyle/>
        <a:p>
          <a:r>
            <a:rPr lang="en-US" b="1" dirty="0"/>
            <a:t>Sensing: </a:t>
          </a:r>
          <a:r>
            <a:rPr lang="en-US" dirty="0"/>
            <a:t>The MLP processes market features (Volatility, RSI).</a:t>
          </a:r>
        </a:p>
      </dgm:t>
    </dgm:pt>
    <dgm:pt modelId="{675C89FD-1FE0-4403-87F2-99FA14E04ADC}" type="parTrans" cxnId="{82BAA022-110F-4736-917A-FF7B1CBE12AB}">
      <dgm:prSet/>
      <dgm:spPr/>
      <dgm:t>
        <a:bodyPr/>
        <a:lstStyle/>
        <a:p>
          <a:endParaRPr lang="en-US"/>
        </a:p>
      </dgm:t>
    </dgm:pt>
    <dgm:pt modelId="{5BF4D6D7-8040-4F2D-B1D2-3E5DA1AD1CAD}" type="sibTrans" cxnId="{82BAA022-110F-4736-917A-FF7B1CBE12AB}">
      <dgm:prSet/>
      <dgm:spPr/>
      <dgm:t>
        <a:bodyPr/>
        <a:lstStyle/>
        <a:p>
          <a:endParaRPr lang="en-US"/>
        </a:p>
      </dgm:t>
    </dgm:pt>
    <dgm:pt modelId="{9BDC8580-1435-47A0-9B87-31F5D957F343}">
      <dgm:prSet/>
      <dgm:spPr/>
      <dgm:t>
        <a:bodyPr/>
        <a:lstStyle/>
        <a:p>
          <a:r>
            <a:rPr lang="en-US" b="1" dirty="0"/>
            <a:t>Action: </a:t>
          </a:r>
          <a:r>
            <a:rPr lang="en-US" dirty="0"/>
            <a:t>The Agent posts a Bid/Ask Spread (e.g., Tight or Wide).</a:t>
          </a:r>
        </a:p>
      </dgm:t>
    </dgm:pt>
    <dgm:pt modelId="{1B04136E-9CF8-48A5-B72C-65BB0AEB0DC4}" type="parTrans" cxnId="{B7C892B0-C141-40A9-A1DD-2806972E1865}">
      <dgm:prSet/>
      <dgm:spPr/>
      <dgm:t>
        <a:bodyPr/>
        <a:lstStyle/>
        <a:p>
          <a:endParaRPr lang="en-US"/>
        </a:p>
      </dgm:t>
    </dgm:pt>
    <dgm:pt modelId="{488C70AB-EA9C-4A3E-8F67-C180AB618B3C}" type="sibTrans" cxnId="{B7C892B0-C141-40A9-A1DD-2806972E1865}">
      <dgm:prSet/>
      <dgm:spPr/>
      <dgm:t>
        <a:bodyPr/>
        <a:lstStyle/>
        <a:p>
          <a:endParaRPr lang="en-US"/>
        </a:p>
      </dgm:t>
    </dgm:pt>
    <dgm:pt modelId="{A2DB583E-B458-4AC8-B1A5-12D886BF7DF3}">
      <dgm:prSet/>
      <dgm:spPr/>
      <dgm:t>
        <a:bodyPr/>
        <a:lstStyle/>
        <a:p>
          <a:r>
            <a:rPr lang="en-US" b="1"/>
            <a:t>Reaction: </a:t>
          </a:r>
          <a:r>
            <a:rPr lang="en-US"/>
            <a:t>The EGT population evaluates the price; trades execute if quotes cross.</a:t>
          </a:r>
        </a:p>
      </dgm:t>
    </dgm:pt>
    <dgm:pt modelId="{CF160C6E-AF47-4947-BA10-5CC36442CE3F}" type="parTrans" cxnId="{B9AC7B81-D7BE-47B3-83DF-CEF745463436}">
      <dgm:prSet/>
      <dgm:spPr/>
      <dgm:t>
        <a:bodyPr/>
        <a:lstStyle/>
        <a:p>
          <a:endParaRPr lang="en-US"/>
        </a:p>
      </dgm:t>
    </dgm:pt>
    <dgm:pt modelId="{FD23B30F-2526-4161-A15F-90B220F2C5DE}" type="sibTrans" cxnId="{B9AC7B81-D7BE-47B3-83DF-CEF745463436}">
      <dgm:prSet/>
      <dgm:spPr/>
      <dgm:t>
        <a:bodyPr/>
        <a:lstStyle/>
        <a:p>
          <a:endParaRPr lang="en-US"/>
        </a:p>
      </dgm:t>
    </dgm:pt>
    <dgm:pt modelId="{26173A77-0C2C-40D8-AA10-747CC735C0AC}">
      <dgm:prSet/>
      <dgm:spPr/>
      <dgm:t>
        <a:bodyPr/>
        <a:lstStyle/>
        <a:p>
          <a:r>
            <a:rPr lang="en-US" b="1" dirty="0"/>
            <a:t>Feedback:</a:t>
          </a:r>
          <a:endParaRPr lang="en-US" dirty="0"/>
        </a:p>
      </dgm:t>
    </dgm:pt>
    <dgm:pt modelId="{FC8E9AE4-4175-402F-BA63-9079E4681674}" type="parTrans" cxnId="{35BFE025-844B-4CD1-9319-219A01376240}">
      <dgm:prSet/>
      <dgm:spPr/>
      <dgm:t>
        <a:bodyPr/>
        <a:lstStyle/>
        <a:p>
          <a:endParaRPr lang="en-US"/>
        </a:p>
      </dgm:t>
    </dgm:pt>
    <dgm:pt modelId="{33B25E3B-DB28-4FA2-9223-2C5FBA2AE5E6}" type="sibTrans" cxnId="{35BFE025-844B-4CD1-9319-219A01376240}">
      <dgm:prSet/>
      <dgm:spPr/>
      <dgm:t>
        <a:bodyPr/>
        <a:lstStyle/>
        <a:p>
          <a:endParaRPr lang="en-US"/>
        </a:p>
      </dgm:t>
    </dgm:pt>
    <dgm:pt modelId="{A5F777A9-4B0D-4E7C-A0F1-8BC51A42B2E7}">
      <dgm:prSet/>
      <dgm:spPr/>
      <dgm:t>
        <a:bodyPr/>
        <a:lstStyle/>
        <a:p>
          <a:r>
            <a:rPr lang="en-US"/>
            <a:t>Agent receives Reward (Profit - Risk).</a:t>
          </a:r>
        </a:p>
      </dgm:t>
    </dgm:pt>
    <dgm:pt modelId="{324078FF-D43C-4703-A725-0FBF5ACC5354}" type="parTrans" cxnId="{70E46255-2766-4593-BED5-EC6D153E479C}">
      <dgm:prSet/>
      <dgm:spPr/>
      <dgm:t>
        <a:bodyPr/>
        <a:lstStyle/>
        <a:p>
          <a:endParaRPr lang="en-US"/>
        </a:p>
      </dgm:t>
    </dgm:pt>
    <dgm:pt modelId="{522A7A10-CA01-4D91-BBC5-B7A3F96B439F}" type="sibTrans" cxnId="{70E46255-2766-4593-BED5-EC6D153E479C}">
      <dgm:prSet/>
      <dgm:spPr/>
      <dgm:t>
        <a:bodyPr/>
        <a:lstStyle/>
        <a:p>
          <a:endParaRPr lang="en-US"/>
        </a:p>
      </dgm:t>
    </dgm:pt>
    <dgm:pt modelId="{35B1C675-03CB-4843-9C0D-BBB01AE7B4AC}">
      <dgm:prSet/>
      <dgm:spPr/>
      <dgm:t>
        <a:bodyPr/>
        <a:lstStyle/>
        <a:p>
          <a:r>
            <a:rPr lang="en-US"/>
            <a:t>EGT Agents receive Fitness (Profit).</a:t>
          </a:r>
        </a:p>
      </dgm:t>
    </dgm:pt>
    <dgm:pt modelId="{40BD0EA2-E702-48F9-9016-7260DC512E80}" type="parTrans" cxnId="{28C7BC42-D3AD-4425-94C8-A1555C620AFF}">
      <dgm:prSet/>
      <dgm:spPr/>
      <dgm:t>
        <a:bodyPr/>
        <a:lstStyle/>
        <a:p>
          <a:endParaRPr lang="en-US"/>
        </a:p>
      </dgm:t>
    </dgm:pt>
    <dgm:pt modelId="{B7286CC2-B3D9-47BB-B216-66FA5AF0B8F1}" type="sibTrans" cxnId="{28C7BC42-D3AD-4425-94C8-A1555C620AFF}">
      <dgm:prSet/>
      <dgm:spPr/>
      <dgm:t>
        <a:bodyPr/>
        <a:lstStyle/>
        <a:p>
          <a:endParaRPr lang="en-US"/>
        </a:p>
      </dgm:t>
    </dgm:pt>
    <dgm:pt modelId="{6FD81EA5-4BA1-4F22-B4B6-B7BE94AFC321}">
      <dgm:prSet/>
      <dgm:spPr/>
      <dgm:t>
        <a:bodyPr/>
        <a:lstStyle/>
        <a:p>
          <a:r>
            <a:rPr lang="en-US" b="1" dirty="0"/>
            <a:t>Update: </a:t>
          </a:r>
          <a:r>
            <a:rPr lang="en-US" dirty="0"/>
            <a:t>Agent updates Weights (Backprop); Population updates Distribution (Evolution).</a:t>
          </a:r>
        </a:p>
      </dgm:t>
    </dgm:pt>
    <dgm:pt modelId="{2B6A3B99-2327-4A86-AF76-DAECC990BDDC}" type="parTrans" cxnId="{F82412C3-3A28-4111-AC00-CAE4CF3C7057}">
      <dgm:prSet/>
      <dgm:spPr/>
      <dgm:t>
        <a:bodyPr/>
        <a:lstStyle/>
        <a:p>
          <a:endParaRPr lang="en-US"/>
        </a:p>
      </dgm:t>
    </dgm:pt>
    <dgm:pt modelId="{582FF723-1716-4EBF-935B-2DBAE03B3589}" type="sibTrans" cxnId="{F82412C3-3A28-4111-AC00-CAE4CF3C7057}">
      <dgm:prSet/>
      <dgm:spPr/>
      <dgm:t>
        <a:bodyPr/>
        <a:lstStyle/>
        <a:p>
          <a:endParaRPr lang="en-US"/>
        </a:p>
      </dgm:t>
    </dgm:pt>
    <dgm:pt modelId="{81E2190A-997D-4833-9BA5-B2CF2513AC5D}" type="pres">
      <dgm:prSet presAssocID="{4EA34A17-05E6-4AA0-A007-687C72D6C68D}" presName="Name0" presStyleCnt="0">
        <dgm:presLayoutVars>
          <dgm:dir/>
          <dgm:resizeHandles val="exact"/>
        </dgm:presLayoutVars>
      </dgm:prSet>
      <dgm:spPr/>
    </dgm:pt>
    <dgm:pt modelId="{68BCEDE8-03D3-4EAE-BBA6-688C7954350B}" type="pres">
      <dgm:prSet presAssocID="{FED5292E-F910-4503-9B3E-7B5679475F1D}" presName="node" presStyleLbl="node1" presStyleIdx="0" presStyleCnt="5">
        <dgm:presLayoutVars>
          <dgm:bulletEnabled val="1"/>
        </dgm:presLayoutVars>
      </dgm:prSet>
      <dgm:spPr/>
    </dgm:pt>
    <dgm:pt modelId="{F65831CB-4654-4312-832B-838D2A52BB4B}" type="pres">
      <dgm:prSet presAssocID="{5BF4D6D7-8040-4F2D-B1D2-3E5DA1AD1CAD}" presName="sibTrans" presStyleLbl="sibTrans1D1" presStyleIdx="0" presStyleCnt="4"/>
      <dgm:spPr/>
    </dgm:pt>
    <dgm:pt modelId="{1966A24C-5D15-4697-B090-59523CF83D06}" type="pres">
      <dgm:prSet presAssocID="{5BF4D6D7-8040-4F2D-B1D2-3E5DA1AD1CAD}" presName="connectorText" presStyleLbl="sibTrans1D1" presStyleIdx="0" presStyleCnt="4"/>
      <dgm:spPr/>
    </dgm:pt>
    <dgm:pt modelId="{4BB45685-84D9-4670-BCDA-DCBE7D06BF85}" type="pres">
      <dgm:prSet presAssocID="{9BDC8580-1435-47A0-9B87-31F5D957F343}" presName="node" presStyleLbl="node1" presStyleIdx="1" presStyleCnt="5">
        <dgm:presLayoutVars>
          <dgm:bulletEnabled val="1"/>
        </dgm:presLayoutVars>
      </dgm:prSet>
      <dgm:spPr/>
    </dgm:pt>
    <dgm:pt modelId="{AA892CE4-1F06-4A14-9A36-78D5CF05F933}" type="pres">
      <dgm:prSet presAssocID="{488C70AB-EA9C-4A3E-8F67-C180AB618B3C}" presName="sibTrans" presStyleLbl="sibTrans1D1" presStyleIdx="1" presStyleCnt="4"/>
      <dgm:spPr/>
    </dgm:pt>
    <dgm:pt modelId="{709CF7F8-6E46-4FFC-B447-57FE215E45C7}" type="pres">
      <dgm:prSet presAssocID="{488C70AB-EA9C-4A3E-8F67-C180AB618B3C}" presName="connectorText" presStyleLbl="sibTrans1D1" presStyleIdx="1" presStyleCnt="4"/>
      <dgm:spPr/>
    </dgm:pt>
    <dgm:pt modelId="{016B63E6-EE4D-48F1-A914-C2524CF5568A}" type="pres">
      <dgm:prSet presAssocID="{A2DB583E-B458-4AC8-B1A5-12D886BF7DF3}" presName="node" presStyleLbl="node1" presStyleIdx="2" presStyleCnt="5">
        <dgm:presLayoutVars>
          <dgm:bulletEnabled val="1"/>
        </dgm:presLayoutVars>
      </dgm:prSet>
      <dgm:spPr/>
    </dgm:pt>
    <dgm:pt modelId="{193F0DCE-78C7-4312-A8D3-0BB98F7B000E}" type="pres">
      <dgm:prSet presAssocID="{FD23B30F-2526-4161-A15F-90B220F2C5DE}" presName="sibTrans" presStyleLbl="sibTrans1D1" presStyleIdx="2" presStyleCnt="4"/>
      <dgm:spPr/>
    </dgm:pt>
    <dgm:pt modelId="{6F9577B9-1A0A-4B92-949E-EEBB5CDE2D1B}" type="pres">
      <dgm:prSet presAssocID="{FD23B30F-2526-4161-A15F-90B220F2C5DE}" presName="connectorText" presStyleLbl="sibTrans1D1" presStyleIdx="2" presStyleCnt="4"/>
      <dgm:spPr/>
    </dgm:pt>
    <dgm:pt modelId="{E7D0B0BE-B45E-4831-B18A-15BD546088FA}" type="pres">
      <dgm:prSet presAssocID="{26173A77-0C2C-40D8-AA10-747CC735C0AC}" presName="node" presStyleLbl="node1" presStyleIdx="3" presStyleCnt="5">
        <dgm:presLayoutVars>
          <dgm:bulletEnabled val="1"/>
        </dgm:presLayoutVars>
      </dgm:prSet>
      <dgm:spPr/>
    </dgm:pt>
    <dgm:pt modelId="{C31C3A9F-2E4E-4CE3-8958-D402FCA11D4F}" type="pres">
      <dgm:prSet presAssocID="{33B25E3B-DB28-4FA2-9223-2C5FBA2AE5E6}" presName="sibTrans" presStyleLbl="sibTrans1D1" presStyleIdx="3" presStyleCnt="4"/>
      <dgm:spPr/>
    </dgm:pt>
    <dgm:pt modelId="{79F82074-93A7-49FA-83FE-5D68CB6B2E1B}" type="pres">
      <dgm:prSet presAssocID="{33B25E3B-DB28-4FA2-9223-2C5FBA2AE5E6}" presName="connectorText" presStyleLbl="sibTrans1D1" presStyleIdx="3" presStyleCnt="4"/>
      <dgm:spPr/>
    </dgm:pt>
    <dgm:pt modelId="{DDD1430A-9E17-42FF-8358-32721AB6382B}" type="pres">
      <dgm:prSet presAssocID="{6FD81EA5-4BA1-4F22-B4B6-B7BE94AFC321}" presName="node" presStyleLbl="node1" presStyleIdx="4" presStyleCnt="5">
        <dgm:presLayoutVars>
          <dgm:bulletEnabled val="1"/>
        </dgm:presLayoutVars>
      </dgm:prSet>
      <dgm:spPr/>
    </dgm:pt>
  </dgm:ptLst>
  <dgm:cxnLst>
    <dgm:cxn modelId="{7698C809-3B73-4477-9066-8AC4F6BFAD0F}" type="presOf" srcId="{A2DB583E-B458-4AC8-B1A5-12D886BF7DF3}" destId="{016B63E6-EE4D-48F1-A914-C2524CF5568A}" srcOrd="0" destOrd="0" presId="urn:microsoft.com/office/officeart/2016/7/layout/RepeatingBendingProcessNew"/>
    <dgm:cxn modelId="{88C7B716-9F76-4452-86A7-46BF0158C7D8}" type="presOf" srcId="{488C70AB-EA9C-4A3E-8F67-C180AB618B3C}" destId="{709CF7F8-6E46-4FFC-B447-57FE215E45C7}" srcOrd="1" destOrd="0" presId="urn:microsoft.com/office/officeart/2016/7/layout/RepeatingBendingProcessNew"/>
    <dgm:cxn modelId="{CBEE8321-E0B6-4BF8-9EA7-4D362C483D0B}" type="presOf" srcId="{FD23B30F-2526-4161-A15F-90B220F2C5DE}" destId="{6F9577B9-1A0A-4B92-949E-EEBB5CDE2D1B}" srcOrd="1" destOrd="0" presId="urn:microsoft.com/office/officeart/2016/7/layout/RepeatingBendingProcessNew"/>
    <dgm:cxn modelId="{82BAA022-110F-4736-917A-FF7B1CBE12AB}" srcId="{4EA34A17-05E6-4AA0-A007-687C72D6C68D}" destId="{FED5292E-F910-4503-9B3E-7B5679475F1D}" srcOrd="0" destOrd="0" parTransId="{675C89FD-1FE0-4403-87F2-99FA14E04ADC}" sibTransId="{5BF4D6D7-8040-4F2D-B1D2-3E5DA1AD1CAD}"/>
    <dgm:cxn modelId="{35BFE025-844B-4CD1-9319-219A01376240}" srcId="{4EA34A17-05E6-4AA0-A007-687C72D6C68D}" destId="{26173A77-0C2C-40D8-AA10-747CC735C0AC}" srcOrd="3" destOrd="0" parTransId="{FC8E9AE4-4175-402F-BA63-9079E4681674}" sibTransId="{33B25E3B-DB28-4FA2-9223-2C5FBA2AE5E6}"/>
    <dgm:cxn modelId="{14051732-0D07-4E22-A464-C5784C7EAF16}" type="presOf" srcId="{6FD81EA5-4BA1-4F22-B4B6-B7BE94AFC321}" destId="{DDD1430A-9E17-42FF-8358-32721AB6382B}" srcOrd="0" destOrd="0" presId="urn:microsoft.com/office/officeart/2016/7/layout/RepeatingBendingProcessNew"/>
    <dgm:cxn modelId="{7F8F9033-F1D8-4DD2-A81A-21519311AF46}" type="presOf" srcId="{33B25E3B-DB28-4FA2-9223-2C5FBA2AE5E6}" destId="{79F82074-93A7-49FA-83FE-5D68CB6B2E1B}" srcOrd="1" destOrd="0" presId="urn:microsoft.com/office/officeart/2016/7/layout/RepeatingBendingProcessNew"/>
    <dgm:cxn modelId="{58B3553C-9769-48ED-96AF-28F879FF0584}" type="presOf" srcId="{A5F777A9-4B0D-4E7C-A0F1-8BC51A42B2E7}" destId="{E7D0B0BE-B45E-4831-B18A-15BD546088FA}" srcOrd="0" destOrd="1" presId="urn:microsoft.com/office/officeart/2016/7/layout/RepeatingBendingProcessNew"/>
    <dgm:cxn modelId="{28C7BC42-D3AD-4425-94C8-A1555C620AFF}" srcId="{26173A77-0C2C-40D8-AA10-747CC735C0AC}" destId="{35B1C675-03CB-4843-9C0D-BBB01AE7B4AC}" srcOrd="1" destOrd="0" parTransId="{40BD0EA2-E702-48F9-9016-7260DC512E80}" sibTransId="{B7286CC2-B3D9-47BB-B216-66FA5AF0B8F1}"/>
    <dgm:cxn modelId="{70E46255-2766-4593-BED5-EC6D153E479C}" srcId="{26173A77-0C2C-40D8-AA10-747CC735C0AC}" destId="{A5F777A9-4B0D-4E7C-A0F1-8BC51A42B2E7}" srcOrd="0" destOrd="0" parTransId="{324078FF-D43C-4703-A725-0FBF5ACC5354}" sibTransId="{522A7A10-CA01-4D91-BBC5-B7A3F96B439F}"/>
    <dgm:cxn modelId="{FD665D76-B133-46BB-8259-ACFABC4B9E6E}" type="presOf" srcId="{26173A77-0C2C-40D8-AA10-747CC735C0AC}" destId="{E7D0B0BE-B45E-4831-B18A-15BD546088FA}" srcOrd="0" destOrd="0" presId="urn:microsoft.com/office/officeart/2016/7/layout/RepeatingBendingProcessNew"/>
    <dgm:cxn modelId="{B9AC7B81-D7BE-47B3-83DF-CEF745463436}" srcId="{4EA34A17-05E6-4AA0-A007-687C72D6C68D}" destId="{A2DB583E-B458-4AC8-B1A5-12D886BF7DF3}" srcOrd="2" destOrd="0" parTransId="{CF160C6E-AF47-4947-BA10-5CC36442CE3F}" sibTransId="{FD23B30F-2526-4161-A15F-90B220F2C5DE}"/>
    <dgm:cxn modelId="{6D9C6490-FBFF-4AEF-AF6E-DAF935C77822}" type="presOf" srcId="{35B1C675-03CB-4843-9C0D-BBB01AE7B4AC}" destId="{E7D0B0BE-B45E-4831-B18A-15BD546088FA}" srcOrd="0" destOrd="2" presId="urn:microsoft.com/office/officeart/2016/7/layout/RepeatingBendingProcessNew"/>
    <dgm:cxn modelId="{040C3A95-3D15-4436-AAD4-CC8BD2624513}" type="presOf" srcId="{9BDC8580-1435-47A0-9B87-31F5D957F343}" destId="{4BB45685-84D9-4670-BCDA-DCBE7D06BF85}" srcOrd="0" destOrd="0" presId="urn:microsoft.com/office/officeart/2016/7/layout/RepeatingBendingProcessNew"/>
    <dgm:cxn modelId="{AE6F8AB0-BAC5-4853-9EA7-353E7634E1A3}" type="presOf" srcId="{5BF4D6D7-8040-4F2D-B1D2-3E5DA1AD1CAD}" destId="{F65831CB-4654-4312-832B-838D2A52BB4B}" srcOrd="0" destOrd="0" presId="urn:microsoft.com/office/officeart/2016/7/layout/RepeatingBendingProcessNew"/>
    <dgm:cxn modelId="{B7C892B0-C141-40A9-A1DD-2806972E1865}" srcId="{4EA34A17-05E6-4AA0-A007-687C72D6C68D}" destId="{9BDC8580-1435-47A0-9B87-31F5D957F343}" srcOrd="1" destOrd="0" parTransId="{1B04136E-9CF8-48A5-B72C-65BB0AEB0DC4}" sibTransId="{488C70AB-EA9C-4A3E-8F67-C180AB618B3C}"/>
    <dgm:cxn modelId="{FE338DB1-0D72-4C8F-8AFA-D980CE0AD837}" type="presOf" srcId="{FED5292E-F910-4503-9B3E-7B5679475F1D}" destId="{68BCEDE8-03D3-4EAE-BBA6-688C7954350B}" srcOrd="0" destOrd="0" presId="urn:microsoft.com/office/officeart/2016/7/layout/RepeatingBendingProcessNew"/>
    <dgm:cxn modelId="{77955ABB-101C-4DD1-A68F-94B020E4CEFD}" type="presOf" srcId="{488C70AB-EA9C-4A3E-8F67-C180AB618B3C}" destId="{AA892CE4-1F06-4A14-9A36-78D5CF05F933}" srcOrd="0" destOrd="0" presId="urn:microsoft.com/office/officeart/2016/7/layout/RepeatingBendingProcessNew"/>
    <dgm:cxn modelId="{0A2F02C0-2CFD-4984-9441-A10ECFE18AF3}" type="presOf" srcId="{FD23B30F-2526-4161-A15F-90B220F2C5DE}" destId="{193F0DCE-78C7-4312-A8D3-0BB98F7B000E}" srcOrd="0" destOrd="0" presId="urn:microsoft.com/office/officeart/2016/7/layout/RepeatingBendingProcessNew"/>
    <dgm:cxn modelId="{F82412C3-3A28-4111-AC00-CAE4CF3C7057}" srcId="{4EA34A17-05E6-4AA0-A007-687C72D6C68D}" destId="{6FD81EA5-4BA1-4F22-B4B6-B7BE94AFC321}" srcOrd="4" destOrd="0" parTransId="{2B6A3B99-2327-4A86-AF76-DAECC990BDDC}" sibTransId="{582FF723-1716-4EBF-935B-2DBAE03B3589}"/>
    <dgm:cxn modelId="{893A4BCF-ED4D-4D72-BDF0-35B95F28AF99}" type="presOf" srcId="{33B25E3B-DB28-4FA2-9223-2C5FBA2AE5E6}" destId="{C31C3A9F-2E4E-4CE3-8958-D402FCA11D4F}" srcOrd="0" destOrd="0" presId="urn:microsoft.com/office/officeart/2016/7/layout/RepeatingBendingProcessNew"/>
    <dgm:cxn modelId="{9FABABDA-BC6C-4EAC-8815-58F04EE164A3}" type="presOf" srcId="{4EA34A17-05E6-4AA0-A007-687C72D6C68D}" destId="{81E2190A-997D-4833-9BA5-B2CF2513AC5D}" srcOrd="0" destOrd="0" presId="urn:microsoft.com/office/officeart/2016/7/layout/RepeatingBendingProcessNew"/>
    <dgm:cxn modelId="{8768B2DC-9A14-423B-BB44-CE47D39C8845}" type="presOf" srcId="{5BF4D6D7-8040-4F2D-B1D2-3E5DA1AD1CAD}" destId="{1966A24C-5D15-4697-B090-59523CF83D06}" srcOrd="1" destOrd="0" presId="urn:microsoft.com/office/officeart/2016/7/layout/RepeatingBendingProcessNew"/>
    <dgm:cxn modelId="{F5136A22-1007-4119-A3FC-4CD2A8A31755}" type="presParOf" srcId="{81E2190A-997D-4833-9BA5-B2CF2513AC5D}" destId="{68BCEDE8-03D3-4EAE-BBA6-688C7954350B}" srcOrd="0" destOrd="0" presId="urn:microsoft.com/office/officeart/2016/7/layout/RepeatingBendingProcessNew"/>
    <dgm:cxn modelId="{6B1296D2-8938-4011-A87F-3564E6215BBD}" type="presParOf" srcId="{81E2190A-997D-4833-9BA5-B2CF2513AC5D}" destId="{F65831CB-4654-4312-832B-838D2A52BB4B}" srcOrd="1" destOrd="0" presId="urn:microsoft.com/office/officeart/2016/7/layout/RepeatingBendingProcessNew"/>
    <dgm:cxn modelId="{2A7DB2AE-3763-4928-AC05-E373742FD625}" type="presParOf" srcId="{F65831CB-4654-4312-832B-838D2A52BB4B}" destId="{1966A24C-5D15-4697-B090-59523CF83D06}" srcOrd="0" destOrd="0" presId="urn:microsoft.com/office/officeart/2016/7/layout/RepeatingBendingProcessNew"/>
    <dgm:cxn modelId="{4B21DF53-4ADD-4484-B2CA-3A36B7BC25DF}" type="presParOf" srcId="{81E2190A-997D-4833-9BA5-B2CF2513AC5D}" destId="{4BB45685-84D9-4670-BCDA-DCBE7D06BF85}" srcOrd="2" destOrd="0" presId="urn:microsoft.com/office/officeart/2016/7/layout/RepeatingBendingProcessNew"/>
    <dgm:cxn modelId="{30305997-5B34-4B82-92DC-FA5B54BDFF03}" type="presParOf" srcId="{81E2190A-997D-4833-9BA5-B2CF2513AC5D}" destId="{AA892CE4-1F06-4A14-9A36-78D5CF05F933}" srcOrd="3" destOrd="0" presId="urn:microsoft.com/office/officeart/2016/7/layout/RepeatingBendingProcessNew"/>
    <dgm:cxn modelId="{597D5891-9C87-4E67-96D3-B44271799A27}" type="presParOf" srcId="{AA892CE4-1F06-4A14-9A36-78D5CF05F933}" destId="{709CF7F8-6E46-4FFC-B447-57FE215E45C7}" srcOrd="0" destOrd="0" presId="urn:microsoft.com/office/officeart/2016/7/layout/RepeatingBendingProcessNew"/>
    <dgm:cxn modelId="{2FAD6BD7-4BA3-4F37-AE5C-8C206BAFA9A8}" type="presParOf" srcId="{81E2190A-997D-4833-9BA5-B2CF2513AC5D}" destId="{016B63E6-EE4D-48F1-A914-C2524CF5568A}" srcOrd="4" destOrd="0" presId="urn:microsoft.com/office/officeart/2016/7/layout/RepeatingBendingProcessNew"/>
    <dgm:cxn modelId="{B961A6D0-A923-40AB-A266-7CAF2A476D2E}" type="presParOf" srcId="{81E2190A-997D-4833-9BA5-B2CF2513AC5D}" destId="{193F0DCE-78C7-4312-A8D3-0BB98F7B000E}" srcOrd="5" destOrd="0" presId="urn:microsoft.com/office/officeart/2016/7/layout/RepeatingBendingProcessNew"/>
    <dgm:cxn modelId="{81965E24-A55C-4206-A39D-0E9DBDB97069}" type="presParOf" srcId="{193F0DCE-78C7-4312-A8D3-0BB98F7B000E}" destId="{6F9577B9-1A0A-4B92-949E-EEBB5CDE2D1B}" srcOrd="0" destOrd="0" presId="urn:microsoft.com/office/officeart/2016/7/layout/RepeatingBendingProcessNew"/>
    <dgm:cxn modelId="{BB055E4A-AE6F-4BC3-A450-99F7A87CD356}" type="presParOf" srcId="{81E2190A-997D-4833-9BA5-B2CF2513AC5D}" destId="{E7D0B0BE-B45E-4831-B18A-15BD546088FA}" srcOrd="6" destOrd="0" presId="urn:microsoft.com/office/officeart/2016/7/layout/RepeatingBendingProcessNew"/>
    <dgm:cxn modelId="{0379C18E-EA93-40F9-8514-E4E1D87D4138}" type="presParOf" srcId="{81E2190A-997D-4833-9BA5-B2CF2513AC5D}" destId="{C31C3A9F-2E4E-4CE3-8958-D402FCA11D4F}" srcOrd="7" destOrd="0" presId="urn:microsoft.com/office/officeart/2016/7/layout/RepeatingBendingProcessNew"/>
    <dgm:cxn modelId="{FAA6CE79-0CBA-4B23-A95F-EB9723E83660}" type="presParOf" srcId="{C31C3A9F-2E4E-4CE3-8958-D402FCA11D4F}" destId="{79F82074-93A7-49FA-83FE-5D68CB6B2E1B}" srcOrd="0" destOrd="0" presId="urn:microsoft.com/office/officeart/2016/7/layout/RepeatingBendingProcessNew"/>
    <dgm:cxn modelId="{03EE1845-CB19-4441-BDC3-21F5DCF76050}" type="presParOf" srcId="{81E2190A-997D-4833-9BA5-B2CF2513AC5D}" destId="{DDD1430A-9E17-42FF-8358-32721AB6382B}" srcOrd="8" destOrd="0" presId="urn:microsoft.com/office/officeart/2016/7/layout/RepeatingBendingProcessNew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EB7597D-5318-4B72-B6EB-DC8122BAE7C1}">
      <dsp:nvSpPr>
        <dsp:cNvPr id="0" name=""/>
        <dsp:cNvSpPr/>
      </dsp:nvSpPr>
      <dsp:spPr>
        <a:xfrm>
          <a:off x="49" y="88135"/>
          <a:ext cx="4739985" cy="54720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35128" tIns="77216" rIns="135128" bIns="77216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b="1" kern="1200"/>
            <a:t>Simple Q table</a:t>
          </a:r>
          <a:endParaRPr lang="en-US" sz="1900" kern="1200"/>
        </a:p>
      </dsp:txBody>
      <dsp:txXfrm>
        <a:off x="49" y="88135"/>
        <a:ext cx="4739985" cy="547200"/>
      </dsp:txXfrm>
    </dsp:sp>
    <dsp:sp modelId="{C8ADB559-AA57-4048-88FD-3483EE2C3973}">
      <dsp:nvSpPr>
        <dsp:cNvPr id="0" name=""/>
        <dsp:cNvSpPr/>
      </dsp:nvSpPr>
      <dsp:spPr>
        <a:xfrm>
          <a:off x="49" y="635335"/>
          <a:ext cx="4739985" cy="2712059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1346" tIns="101346" rIns="135128" bIns="152019" numCol="1" spcCol="1270" anchor="t" anchorCtr="0">
          <a:noAutofit/>
        </a:bodyPr>
        <a:lstStyle/>
        <a:p>
          <a:pPr marL="171450" lvl="1" indent="-171450" algn="l" defTabSz="844550">
            <a:lnSpc>
              <a:spcPct val="10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900" kern="1200" dirty="0"/>
            <a:t>We compressed all data and made it less complex, in hopes that the agent would find a pattern easier. </a:t>
          </a:r>
        </a:p>
        <a:p>
          <a:pPr marL="171450" lvl="1" indent="-171450" algn="l" defTabSz="844550">
            <a:lnSpc>
              <a:spcPct val="10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900" kern="1200" dirty="0"/>
            <a:t>We treated volatility as high and low, and rounded inventory to the nearest integer.</a:t>
          </a:r>
        </a:p>
        <a:p>
          <a:pPr marL="171450" lvl="1" indent="-171450" algn="l" defTabSz="844550">
            <a:lnSpc>
              <a:spcPct val="10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900" kern="1200" dirty="0"/>
            <a:t>The agent couldn’t grasp the complexity of the market and how the population changed, leading to losing trades.</a:t>
          </a:r>
        </a:p>
      </dsp:txBody>
      <dsp:txXfrm>
        <a:off x="49" y="635335"/>
        <a:ext cx="4739985" cy="2712059"/>
      </dsp:txXfrm>
    </dsp:sp>
    <dsp:sp modelId="{D8E34134-DE2F-40D5-9AE0-8B06F28FAE46}">
      <dsp:nvSpPr>
        <dsp:cNvPr id="0" name=""/>
        <dsp:cNvSpPr/>
      </dsp:nvSpPr>
      <dsp:spPr>
        <a:xfrm>
          <a:off x="5403632" y="88135"/>
          <a:ext cx="4739985" cy="54720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35128" tIns="77216" rIns="135128" bIns="77216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b="1" kern="1200"/>
            <a:t>Deep Learning</a:t>
          </a:r>
          <a:endParaRPr lang="en-US" sz="1900" kern="1200"/>
        </a:p>
      </dsp:txBody>
      <dsp:txXfrm>
        <a:off x="5403632" y="88135"/>
        <a:ext cx="4739985" cy="547200"/>
      </dsp:txXfrm>
    </dsp:sp>
    <dsp:sp modelId="{ABB1207D-8436-46E2-9F16-B8A1CBA68545}">
      <dsp:nvSpPr>
        <dsp:cNvPr id="0" name=""/>
        <dsp:cNvSpPr/>
      </dsp:nvSpPr>
      <dsp:spPr>
        <a:xfrm>
          <a:off x="5403632" y="635335"/>
          <a:ext cx="4739985" cy="2712059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1346" tIns="101346" rIns="135128" bIns="152019" numCol="1" spcCol="1270" anchor="t" anchorCtr="0">
          <a:noAutofit/>
        </a:bodyPr>
        <a:lstStyle/>
        <a:p>
          <a:pPr marL="171450" lvl="1" indent="-171450" algn="l" defTabSz="844550">
            <a:lnSpc>
              <a:spcPct val="10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900" kern="1200" dirty="0"/>
            <a:t>We switched to Deep Q-Networks (DQN) using TensorFlow to handle continuous data streams (RSI, Momentum, Exact Inventory).</a:t>
          </a:r>
        </a:p>
        <a:p>
          <a:pPr marL="171450" lvl="1" indent="-171450" algn="l" defTabSz="844550">
            <a:lnSpc>
              <a:spcPct val="10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900" kern="1200" dirty="0"/>
            <a:t>The Neural Network learned to make money but struggled with safety. It would hoard stock hoping for a price jump, risking a total account blow-up. </a:t>
          </a:r>
        </a:p>
      </dsp:txBody>
      <dsp:txXfrm>
        <a:off x="5403632" y="635335"/>
        <a:ext cx="4739985" cy="2712059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74DD74A-E0D7-4B47-8652-4E391023E0C6}">
      <dsp:nvSpPr>
        <dsp:cNvPr id="0" name=""/>
        <dsp:cNvSpPr/>
      </dsp:nvSpPr>
      <dsp:spPr>
        <a:xfrm>
          <a:off x="0" y="1777"/>
          <a:ext cx="4530898" cy="0"/>
        </a:xfrm>
        <a:prstGeom prst="line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835DA63-03B7-4840-818D-C797D50333D4}">
      <dsp:nvSpPr>
        <dsp:cNvPr id="0" name=""/>
        <dsp:cNvSpPr/>
      </dsp:nvSpPr>
      <dsp:spPr>
        <a:xfrm>
          <a:off x="0" y="1777"/>
          <a:ext cx="4530898" cy="121196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3340" tIns="53340" rIns="53340" bIns="53340" numCol="1" spcCol="1270" anchor="t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/>
            <a:t>We utilize a standard Feed-Forward Neural Network (MLP).</a:t>
          </a:r>
        </a:p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/>
            <a:t>6-unit input layer → 64-unit hidden layer → 5-unit output layer.</a:t>
          </a:r>
        </a:p>
      </dsp:txBody>
      <dsp:txXfrm>
        <a:off x="0" y="1777"/>
        <a:ext cx="4530898" cy="1211965"/>
      </dsp:txXfrm>
    </dsp:sp>
    <dsp:sp modelId="{C2829D2C-4B90-4B06-9B3E-8CDB16D6AF5D}">
      <dsp:nvSpPr>
        <dsp:cNvPr id="0" name=""/>
        <dsp:cNvSpPr/>
      </dsp:nvSpPr>
      <dsp:spPr>
        <a:xfrm>
          <a:off x="0" y="1213742"/>
          <a:ext cx="4530898" cy="0"/>
        </a:xfrm>
        <a:prstGeom prst="line">
          <a:avLst/>
        </a:prstGeom>
        <a:solidFill>
          <a:schemeClr val="accent5">
            <a:hueOff val="-6076075"/>
            <a:satOff val="-413"/>
            <a:lumOff val="981"/>
            <a:alphaOff val="0"/>
          </a:schemeClr>
        </a:solidFill>
        <a:ln w="19050" cap="flat" cmpd="sng" algn="ctr">
          <a:solidFill>
            <a:schemeClr val="accent5">
              <a:hueOff val="-6076075"/>
              <a:satOff val="-413"/>
              <a:lumOff val="981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453FEE3-2F02-4880-95F3-A5B4B836E1CE}">
      <dsp:nvSpPr>
        <dsp:cNvPr id="0" name=""/>
        <dsp:cNvSpPr/>
      </dsp:nvSpPr>
      <dsp:spPr>
        <a:xfrm>
          <a:off x="0" y="1213742"/>
          <a:ext cx="4530898" cy="121196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3340" tIns="53340" rIns="53340" bIns="53340" numCol="1" spcCol="1270" anchor="t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/>
            <a:t>The agent observes 6 features: Volatility, RSI, Momentum, Normalized Volume, Inventory, and Time Remaining.</a:t>
          </a:r>
        </a:p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b="0" kern="1200" dirty="0"/>
            <a:t>The output of the network is a bid/ask spread combination to quote into the market.</a:t>
          </a:r>
          <a:endParaRPr lang="en-US" sz="1400" kern="1200" dirty="0"/>
        </a:p>
      </dsp:txBody>
      <dsp:txXfrm>
        <a:off x="0" y="1213742"/>
        <a:ext cx="4530898" cy="1211965"/>
      </dsp:txXfrm>
    </dsp:sp>
    <dsp:sp modelId="{8498D9B1-2C2C-4A76-98FB-8AF35398B648}">
      <dsp:nvSpPr>
        <dsp:cNvPr id="0" name=""/>
        <dsp:cNvSpPr/>
      </dsp:nvSpPr>
      <dsp:spPr>
        <a:xfrm>
          <a:off x="0" y="2425707"/>
          <a:ext cx="4530898" cy="0"/>
        </a:xfrm>
        <a:prstGeom prst="line">
          <a:avLst/>
        </a:prstGeom>
        <a:solidFill>
          <a:schemeClr val="accent5">
            <a:hueOff val="-12152150"/>
            <a:satOff val="-826"/>
            <a:lumOff val="1961"/>
            <a:alphaOff val="0"/>
          </a:schemeClr>
        </a:solidFill>
        <a:ln w="19050" cap="flat" cmpd="sng" algn="ctr">
          <a:solidFill>
            <a:schemeClr val="accent5">
              <a:hueOff val="-12152150"/>
              <a:satOff val="-826"/>
              <a:lumOff val="1961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36B1DE6-0772-4811-A25F-4598AAEC72B2}">
      <dsp:nvSpPr>
        <dsp:cNvPr id="0" name=""/>
        <dsp:cNvSpPr/>
      </dsp:nvSpPr>
      <dsp:spPr>
        <a:xfrm>
          <a:off x="0" y="2425707"/>
          <a:ext cx="4530898" cy="121196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3340" tIns="53340" rIns="53340" bIns="53340" numCol="1" spcCol="1270" anchor="t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/>
            <a:t>We use </a:t>
          </a:r>
          <a:r>
            <a:rPr lang="en-US" sz="1400" kern="1200" dirty="0" err="1"/>
            <a:t>ReLU</a:t>
          </a:r>
          <a:r>
            <a:rPr lang="en-US" sz="1400" kern="1200" dirty="0"/>
            <a:t> instead of sigmoid because it handles non-linear patterns more simply and effectively.</a:t>
          </a:r>
        </a:p>
      </dsp:txBody>
      <dsp:txXfrm>
        <a:off x="0" y="2425707"/>
        <a:ext cx="4530898" cy="1211965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65831CB-4654-4312-832B-838D2A52BB4B}">
      <dsp:nvSpPr>
        <dsp:cNvPr id="0" name=""/>
        <dsp:cNvSpPr/>
      </dsp:nvSpPr>
      <dsp:spPr>
        <a:xfrm>
          <a:off x="2899779" y="686484"/>
          <a:ext cx="530464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530464" y="45720"/>
              </a:lnTo>
            </a:path>
          </a:pathLst>
        </a:custGeom>
        <a:noFill/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3150985" y="729398"/>
        <a:ext cx="28053" cy="5610"/>
      </dsp:txXfrm>
    </dsp:sp>
    <dsp:sp modelId="{68BCEDE8-03D3-4EAE-BBA6-688C7954350B}">
      <dsp:nvSpPr>
        <dsp:cNvPr id="0" name=""/>
        <dsp:cNvSpPr/>
      </dsp:nvSpPr>
      <dsp:spPr>
        <a:xfrm>
          <a:off x="462167" y="380"/>
          <a:ext cx="2439412" cy="146364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9533" tIns="125471" rIns="119533" bIns="125471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b="1" kern="1200" dirty="0"/>
            <a:t>Sensing: </a:t>
          </a:r>
          <a:r>
            <a:rPr lang="en-US" sz="1700" kern="1200" dirty="0"/>
            <a:t>The MLP processes market features (Volatility, RSI).</a:t>
          </a:r>
        </a:p>
      </dsp:txBody>
      <dsp:txXfrm>
        <a:off x="462167" y="380"/>
        <a:ext cx="2439412" cy="1463647"/>
      </dsp:txXfrm>
    </dsp:sp>
    <dsp:sp modelId="{AA892CE4-1F06-4A14-9A36-78D5CF05F933}">
      <dsp:nvSpPr>
        <dsp:cNvPr id="0" name=""/>
        <dsp:cNvSpPr/>
      </dsp:nvSpPr>
      <dsp:spPr>
        <a:xfrm>
          <a:off x="1681873" y="1462227"/>
          <a:ext cx="3000476" cy="530464"/>
        </a:xfrm>
        <a:custGeom>
          <a:avLst/>
          <a:gdLst/>
          <a:ahLst/>
          <a:cxnLst/>
          <a:rect l="0" t="0" r="0" b="0"/>
          <a:pathLst>
            <a:path>
              <a:moveTo>
                <a:pt x="3000476" y="0"/>
              </a:moveTo>
              <a:lnTo>
                <a:pt x="3000476" y="282332"/>
              </a:lnTo>
              <a:lnTo>
                <a:pt x="0" y="282332"/>
              </a:lnTo>
              <a:lnTo>
                <a:pt x="0" y="530464"/>
              </a:lnTo>
            </a:path>
          </a:pathLst>
        </a:custGeom>
        <a:noFill/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3105799" y="1724654"/>
        <a:ext cx="152624" cy="5610"/>
      </dsp:txXfrm>
    </dsp:sp>
    <dsp:sp modelId="{4BB45685-84D9-4670-BCDA-DCBE7D06BF85}">
      <dsp:nvSpPr>
        <dsp:cNvPr id="0" name=""/>
        <dsp:cNvSpPr/>
      </dsp:nvSpPr>
      <dsp:spPr>
        <a:xfrm>
          <a:off x="3462644" y="380"/>
          <a:ext cx="2439412" cy="146364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9533" tIns="125471" rIns="119533" bIns="125471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b="1" kern="1200" dirty="0"/>
            <a:t>Action: </a:t>
          </a:r>
          <a:r>
            <a:rPr lang="en-US" sz="1700" kern="1200" dirty="0"/>
            <a:t>The Agent posts a Bid/Ask Spread (e.g., Tight or Wide).</a:t>
          </a:r>
        </a:p>
      </dsp:txBody>
      <dsp:txXfrm>
        <a:off x="3462644" y="380"/>
        <a:ext cx="2439412" cy="1463647"/>
      </dsp:txXfrm>
    </dsp:sp>
    <dsp:sp modelId="{193F0DCE-78C7-4312-A8D3-0BB98F7B000E}">
      <dsp:nvSpPr>
        <dsp:cNvPr id="0" name=""/>
        <dsp:cNvSpPr/>
      </dsp:nvSpPr>
      <dsp:spPr>
        <a:xfrm>
          <a:off x="2899779" y="2711196"/>
          <a:ext cx="530464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530464" y="45720"/>
              </a:lnTo>
            </a:path>
          </a:pathLst>
        </a:custGeom>
        <a:noFill/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3150985" y="2754110"/>
        <a:ext cx="28053" cy="5610"/>
      </dsp:txXfrm>
    </dsp:sp>
    <dsp:sp modelId="{016B63E6-EE4D-48F1-A914-C2524CF5568A}">
      <dsp:nvSpPr>
        <dsp:cNvPr id="0" name=""/>
        <dsp:cNvSpPr/>
      </dsp:nvSpPr>
      <dsp:spPr>
        <a:xfrm>
          <a:off x="462167" y="2025092"/>
          <a:ext cx="2439412" cy="146364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9533" tIns="125471" rIns="119533" bIns="125471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b="1" kern="1200"/>
            <a:t>Reaction: </a:t>
          </a:r>
          <a:r>
            <a:rPr lang="en-US" sz="1700" kern="1200"/>
            <a:t>The EGT population evaluates the price; trades execute if quotes cross.</a:t>
          </a:r>
        </a:p>
      </dsp:txBody>
      <dsp:txXfrm>
        <a:off x="462167" y="2025092"/>
        <a:ext cx="2439412" cy="1463647"/>
      </dsp:txXfrm>
    </dsp:sp>
    <dsp:sp modelId="{C31C3A9F-2E4E-4CE3-8958-D402FCA11D4F}">
      <dsp:nvSpPr>
        <dsp:cNvPr id="0" name=""/>
        <dsp:cNvSpPr/>
      </dsp:nvSpPr>
      <dsp:spPr>
        <a:xfrm>
          <a:off x="1681873" y="3486939"/>
          <a:ext cx="3000476" cy="530464"/>
        </a:xfrm>
        <a:custGeom>
          <a:avLst/>
          <a:gdLst/>
          <a:ahLst/>
          <a:cxnLst/>
          <a:rect l="0" t="0" r="0" b="0"/>
          <a:pathLst>
            <a:path>
              <a:moveTo>
                <a:pt x="3000476" y="0"/>
              </a:moveTo>
              <a:lnTo>
                <a:pt x="3000476" y="282332"/>
              </a:lnTo>
              <a:lnTo>
                <a:pt x="0" y="282332"/>
              </a:lnTo>
              <a:lnTo>
                <a:pt x="0" y="530464"/>
              </a:lnTo>
            </a:path>
          </a:pathLst>
        </a:custGeom>
        <a:noFill/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3105799" y="3749366"/>
        <a:ext cx="152624" cy="5610"/>
      </dsp:txXfrm>
    </dsp:sp>
    <dsp:sp modelId="{E7D0B0BE-B45E-4831-B18A-15BD546088FA}">
      <dsp:nvSpPr>
        <dsp:cNvPr id="0" name=""/>
        <dsp:cNvSpPr/>
      </dsp:nvSpPr>
      <dsp:spPr>
        <a:xfrm>
          <a:off x="3462644" y="2025092"/>
          <a:ext cx="2439412" cy="146364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9533" tIns="125471" rIns="119533" bIns="125471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b="1" kern="1200" dirty="0"/>
            <a:t>Feedback:</a:t>
          </a:r>
          <a:endParaRPr lang="en-US" sz="1700" kern="1200" dirty="0"/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/>
            <a:t>Agent receives Reward (Profit - Risk).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/>
            <a:t>EGT Agents receive Fitness (Profit).</a:t>
          </a:r>
        </a:p>
      </dsp:txBody>
      <dsp:txXfrm>
        <a:off x="3462644" y="2025092"/>
        <a:ext cx="2439412" cy="1463647"/>
      </dsp:txXfrm>
    </dsp:sp>
    <dsp:sp modelId="{DDD1430A-9E17-42FF-8358-32721AB6382B}">
      <dsp:nvSpPr>
        <dsp:cNvPr id="0" name=""/>
        <dsp:cNvSpPr/>
      </dsp:nvSpPr>
      <dsp:spPr>
        <a:xfrm>
          <a:off x="462167" y="4049804"/>
          <a:ext cx="2439412" cy="146364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9533" tIns="125471" rIns="119533" bIns="125471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b="1" kern="1200" dirty="0"/>
            <a:t>Update: </a:t>
          </a:r>
          <a:r>
            <a:rPr lang="en-US" sz="1700" kern="1200" dirty="0"/>
            <a:t>Agent updates Weights (Backprop); Population updates Distribution (Evolution).</a:t>
          </a:r>
        </a:p>
      </dsp:txBody>
      <dsp:txXfrm>
        <a:off x="462167" y="4049804"/>
        <a:ext cx="2439412" cy="1463647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List1">
  <dgm:title val=""/>
  <dgm:desc val=""/>
  <dgm:catLst>
    <dgm:cat type="list" pri="5000"/>
    <dgm:cat type="convert" pri="5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w" for="des" forName="parTx"/>
      <dgm:constr type="h" for="des" forName="parTx" op="equ"/>
      <dgm:constr type="w" for="des" forName="desTx"/>
      <dgm:constr type="h" for="des" forName="desTx" op="equ"/>
      <dgm:constr type="primFontSz" for="des" forName="parTx" val="65"/>
      <dgm:constr type="secFontSz" for="des" forName="desTx" refType="primFontSz" refFor="des" refForName="parTx" op="equ"/>
      <dgm:constr type="h" for="des" forName="parTx" refType="primFontSz" refFor="des" refForName="parTx" fact="0.8"/>
      <dgm:constr type="h" for="des" forName="desTx" refType="primFontSz" refFor="des" refForName="parTx" fact="1.22"/>
      <dgm:constr type="w" for="ch" forName="space" refType="w" refFor="ch" refForName="composite" op="equ" fact="0.14"/>
    </dgm:constrLst>
    <dgm:ruleLst>
      <dgm:rule type="w" for="ch" forName="composite" val="0" fact="NaN" max="NaN"/>
      <dgm:rule type="primFontSz" for="des" forName="parTx" val="5" fact="NaN" max="NaN"/>
    </dgm:ruleLst>
    <dgm:forEach name="Name4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onstrLst>
          <dgm:constr type="l" for="ch" forName="parTx"/>
          <dgm:constr type="w" for="ch" forName="parTx" refType="w"/>
          <dgm:constr type="t" for="ch" forName="parTx"/>
          <dgm:constr type="l" for="ch" forName="desTx"/>
          <dgm:constr type="w" for="ch" forName="desTx" refType="w" refFor="ch" refForName="parTx"/>
          <dgm:constr type="t" for="ch" forName="desTx" refType="h" refFor="ch" refForName="parTx"/>
        </dgm:constrLst>
        <dgm:ruleLst>
          <dgm:rule type="h" val="INF" fact="NaN" max="NaN"/>
        </dgm:ruleLst>
        <dgm:layoutNode name="parTx" styleLbl="alignNode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>
            <dgm:adjLst/>
          </dgm:shape>
          <dgm:presOf axis="self" ptType="node"/>
          <dgm:constrLst>
            <dgm:constr type="h" refType="w" op="lte" fact="0.4"/>
            <dgm:constr type="h"/>
            <dgm:constr type="tMarg" refType="primFontSz" fact="0.32"/>
            <dgm:constr type="bMarg" refType="primFontSz" fact="0.32"/>
          </dgm:constrLst>
          <dgm:ruleLst>
            <dgm:rule type="h" val="INF" fact="NaN" max="NaN"/>
          </dgm:ruleLst>
        </dgm:layoutNode>
        <dgm:layoutNode name="desTx" styleLbl="alignAccFollowNode1">
          <dgm:varLst>
            <dgm:bulletEnabled val="1"/>
          </dgm:varLst>
          <dgm:alg type="tx">
            <dgm:param type="stBulletLvl" val="1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val="65"/>
            <dgm:constr type="primFontSz" refType="secFontSz"/>
            <dgm:constr type="h"/>
            <dgm:constr type="lMarg" refType="primFontSz" fact="0.42"/>
            <dgm:constr type="tMarg" refType="primFontSz" fact="0.42"/>
            <dgm:constr type="bMarg" refType="primFontSz" fact="0.63"/>
          </dgm:constrLst>
          <dgm:ruleLst>
            <dgm:rule type="h" val="INF" fact="NaN" max="NaN"/>
          </dgm:ruleLst>
        </dgm:layoutNode>
      </dgm:layoutNode>
      <dgm:forEach name="Name5" axis="followSib" ptType="sibTrans" cnt="1">
        <dgm:layoutNode name="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16/7/layout/RepeatingBendingProcessNew">
  <dgm:title val="Repeating Bending Process New"/>
  <dgm:desc val=""/>
  <dgm:catLst>
    <dgm:cat type="process" pri="5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axis="self" func="var" arg="dir" op="equ" val="norm">
        <dgm:alg type="snake">
          <dgm:param type="grDir" val="tL"/>
          <dgm:param type="flowDir" val="row"/>
          <dgm:param type="contDir" val="sameDir"/>
          <dgm:param type="bkpt" val="endCnv"/>
        </dgm:alg>
      </dgm:if>
      <dgm:else name="Name3">
        <dgm:alg type="snake">
          <dgm:param type="grDir" val="tR"/>
          <dgm:param type="flowDir" val="row"/>
          <dgm:param type="contDir" val="sameDir"/>
          <dgm:param type="bkpt" val="endCnv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w" for="ch" forName="sibTrans" refType="w" refFor="ch" refPtType="node" op="equ" fact="0.23"/>
      <dgm:constr type="sp" refType="w" refFor="ch" refForName="sibTrans" op="equ"/>
      <dgm:constr type="userB" for="des" forName="connectorText" refType="sp"/>
      <dgm:constr type="primFontSz" for="ch" ptType="node" op="equ" val="65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h" refType="w" fact="0.6"/>
          <dgm:constr type="tMarg" refType="h" fact="0.243"/>
          <dgm:constr type="bMarg" refType="h" fact="0.243"/>
          <dgm:constr type="lMarg" refType="w" fact="0.1389"/>
          <dgm:constr type="rMarg" refType="w" fact="0.1389"/>
        </dgm:constrLst>
        <dgm:ruleLst>
          <dgm:rule type="primFontSz" val="12" fact="NaN" max="NaN"/>
        </dgm:ruleLst>
      </dgm:layoutNode>
      <dgm:forEach name="sibTransForEach" axis="followSib" ptType="sibTrans" cnt="1">
        <dgm:layoutNode name="sibTrans">
          <dgm:choose name="Name4">
            <dgm:if name="Name5" axis="self" func="var" arg="dir" op="equ" val="norm">
              <dgm:alg type="conn">
                <dgm:param type="connRout" val="bend"/>
                <dgm:param type="dim" val="1D"/>
                <dgm:param type="begPts" val="midR bCtr"/>
                <dgm:param type="endPts" val="midL tCtr"/>
              </dgm:alg>
            </dgm:if>
            <dgm:else name="Name6">
              <dgm:alg type="conn">
                <dgm:param type="connRout" val="bend"/>
                <dgm:param type="dim" val="1D"/>
                <dgm:param type="begPts" val="midL bCtr"/>
                <dgm:param type="endPts" val="midR tCtr"/>
              </dgm:alg>
            </dgm:else>
          </dgm:choose>
          <dgm:shape xmlns:r="http://schemas.openxmlformats.org/officeDocument/2006/relationships" type="conn" r:blip="" zOrderOff="-2">
            <dgm:adjLst/>
          </dgm:shape>
          <dgm:presOf axis="self"/>
          <dgm:constrLst>
            <dgm:constr type="begPad" val="-0.05"/>
            <dgm:constr type="endPad" val="0.9"/>
            <dgm:constr type="userA" for="ch" refType="connDist"/>
          </dgm:constrLst>
          <dgm:ruleLst/>
          <dgm:layoutNode name="connectorText">
            <dgm:alg type="tx">
              <dgm:param type="autoTxRot" val="upr"/>
            </dgm:alg>
            <dgm:shape xmlns:r="http://schemas.openxmlformats.org/officeDocument/2006/relationships" type="rect" r:blip="" hideGeom="1">
              <dgm:adjLst/>
            </dgm:shape>
            <dgm:presOf axis="self"/>
            <dgm:constrLst>
              <dgm:constr type="userA"/>
              <dgm:constr type="userB"/>
              <dgm:constr type="w" refType="userA" fact="0.05"/>
              <dgm:constr type="h" refType="userB" fact="0.01"/>
              <dgm:constr type="lMarg" val="1"/>
              <dgm:constr type="rMarg" val="1"/>
              <dgm:constr type="tMarg"/>
              <dgm:constr type="bMarg"/>
            </dgm:constrLst>
            <dgm:ruleLst>
              <dgm:rule type="w" val="NaN" fact="0.6" max="NaN"/>
              <dgm:rule type="h" val="NaN" fact="0.6" max="NaN"/>
              <dgm:rule type="primFontSz" val="5" fact="NaN" max="NaN"/>
            </dgm:ruleLst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08829AC-564D-4DC6-A57F-0801BB802372}" type="datetimeFigureOut">
              <a:rPr lang="en-US" smtClean="0"/>
              <a:t>12/6/2025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929F50D-DFCC-4B3A-825A-C312089DAB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81142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Include market data graph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29F50D-DFCC-4B3A-825A-C312089DAB73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273314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520FB0-B03A-9160-17EF-1B094CF0DA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86C3428-9B05-F9A0-40AF-8CD8D2BFD57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47A1767-D694-231C-4A01-7817AA46F1E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D8E0EA-8416-76FD-0C16-56F1BD29B1A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29F50D-DFCC-4B3A-825A-C312089DAB73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654444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02EBC4-20D3-FE4F-6D5E-9476FE9692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44B4D5A-7772-EAF3-C0F1-A088CF1A940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DE493EE-6EB1-DF15-8B40-C777D72B9E4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A0AE9E-FA52-1880-418C-98D9C7BC60B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29F50D-DFCC-4B3A-825A-C312089DAB73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101563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B3A77C-893B-A10B-B390-C0B498B45B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80B1FB0-C8D4-735A-A6E6-4C1CA166F01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66D7EAF-9205-70C2-1725-63622F5AED1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7D1C90-26E1-F92E-A552-04C2B0B7330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29F50D-DFCC-4B3A-825A-C312089DAB73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543611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7D8F93-B74F-A024-15E2-072FEB47D9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002B49C-3D20-731C-7108-024B27E17F2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4D93C45-4F02-0AD9-A25D-ED518D1A114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23F212E-CED2-72BD-4F08-CFB78A0DD42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29F50D-DFCC-4B3A-825A-C312089DAB73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744462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B75079-7C97-94E0-CC30-175E589EA8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0B81732-C99F-D64B-7357-D53E00E7269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ADF0381-6D43-5B31-DC76-6932019CED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Plot1 and 5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4C3860-190B-9456-FBF3-0745B87777C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29F50D-DFCC-4B3A-825A-C312089DAB73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936879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29F50D-DFCC-4B3A-825A-C312089DAB73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578250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9152CF-DC87-4D88-A3EF-DE0C91FE25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6DAAF61-8741-3E98-7FA7-A5283A041C7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654065E-3ECE-3933-69FD-7666F30CA24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Plot4 and 6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9D1279-304B-91BC-16F1-C7F66E30984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29F50D-DFCC-4B3A-825A-C312089DAB73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782099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B13723-7E81-9751-B60F-BCFA3CEA6D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392B452-FFB5-F291-980D-6B2BCEC8C46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70C1012-8E05-421A-43EB-919FCC18BD4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948B800-FE2D-4CA2-4C78-648AC7AA611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29F50D-DFCC-4B3A-825A-C312089DAB73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666544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51DD62-2596-F7C5-0C42-0DF99DB826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23604CF-6BF6-6B28-8FE0-EEA884A60C1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4775F9D-9328-ED15-AC82-B9F64A5E07F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CF8478D-7155-7319-E0F3-4997AA3DE32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29F50D-DFCC-4B3A-825A-C312089DAB73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106057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120969-1875-73F3-C0D8-247599C925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BFA39F2-91A8-91CE-DC80-6F6DA05DBA9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A843803-0772-606A-3873-F81F725E4D1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33BE9A-5543-F914-02ED-EB02EBAEFB3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29F50D-DFCC-4B3A-825A-C312089DAB73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264171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884F04-0532-0CA3-627F-6223B3DD08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775B574-15DC-049E-38E3-239E87E9FA8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7AE58A6-8747-3FB9-9FC4-15BCADE0A03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BD0188-DAD5-9EF1-FDF0-A17351F32B4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29F50D-DFCC-4B3A-825A-C312089DAB73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995617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B3E9E1-4A0C-F63C-34A3-C99F58CBC4F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D12C669-6CE4-FCE2-C908-A6718D5EE3F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242946-9088-39BE-A7EA-790F1578CB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D397A9-6129-4C50-B0E5-F102EDF526C0}" type="datetimeFigureOut">
              <a:rPr lang="en-US" smtClean="0"/>
              <a:t>12/6/2025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0120014-2B6F-267C-6002-21A00EDFF9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A576A6-F9E7-FDE2-950A-E36708E495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9FC758-8580-4C2F-8C4C-5B69867650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98145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F79F52-4FF6-DD52-5C9A-8E9CA9C5A6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3D30CA-C863-8976-D043-B1B1370A27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DFC4F6A-F020-5FE8-6C10-4FFB7F2B60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D397A9-6129-4C50-B0E5-F102EDF526C0}" type="datetimeFigureOut">
              <a:rPr lang="en-US" smtClean="0"/>
              <a:t>12/6/2025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DC03918-8F21-4AC9-4A96-5D658E898E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9E29095-3FDD-BE8D-FBBE-68C0DEEC9F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9FC758-8580-4C2F-8C4C-5B69867650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48202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E696AE-D5D6-EA4E-52B8-E645C796B9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44307F0-E067-D610-5D66-071BFE40909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4D4F4CD-8933-D849-8D29-DF0E6DFE64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D397A9-6129-4C50-B0E5-F102EDF526C0}" type="datetimeFigureOut">
              <a:rPr lang="en-US" smtClean="0"/>
              <a:t>12/6/2025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B206876-C9ED-FD6F-6507-B192476DCE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3207317-D1CE-7941-FD4E-E2747458E7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9FC758-8580-4C2F-8C4C-5B69867650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56249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F7E1F5-44AF-5F9D-548E-311949A31C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901D57-3B7C-67BB-B1A8-A2662EC0C31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0D4A710-0891-FA74-8264-93EC3D20E36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B7EF8A7-BD7C-B089-C9F2-1A470CCC14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D397A9-6129-4C50-B0E5-F102EDF526C0}" type="datetimeFigureOut">
              <a:rPr lang="en-US" smtClean="0"/>
              <a:t>12/6/2025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77D90B0-ECD0-54D0-18BD-11FA4A5FBE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EB9BC9A-2CC5-462D-1AAC-68DC3D4748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9FC758-8580-4C2F-8C4C-5B69867650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23747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2A9AC3-36C5-09E8-1135-FF3BDD4BF3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018379E-8BF1-5786-990D-533AE2EB059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B88E6F6-FC4A-A2B0-076C-81061C110DF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06F85A1-6624-1B99-99C4-C88FFAC90E6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C78CE6F-D567-83A8-C56C-7E9F61A6E7D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C3F37A1-38CB-7669-5037-696E7E94B8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D397A9-6129-4C50-B0E5-F102EDF526C0}" type="datetimeFigureOut">
              <a:rPr lang="en-US" smtClean="0"/>
              <a:t>12/6/2025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5E55C38-0B67-D491-EFD0-2EA0BF24B1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11E6545-471C-15E5-495E-D15985CFD0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9FC758-8580-4C2F-8C4C-5B69867650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36036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7DD6F3-5EE8-399F-E534-9A59842D10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4BC390B-A13E-63DC-DAD9-5F84F5702B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D397A9-6129-4C50-B0E5-F102EDF526C0}" type="datetimeFigureOut">
              <a:rPr lang="en-US" smtClean="0"/>
              <a:t>12/6/2025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8182A35-E4F8-F1EA-CF50-2C233B41C4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4758D43-15B2-E54F-FC41-840E942011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9FC758-8580-4C2F-8C4C-5B69867650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12139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466BDA8-73C7-4588-AA1C-9AB002F2E3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D397A9-6129-4C50-B0E5-F102EDF526C0}" type="datetimeFigureOut">
              <a:rPr lang="en-US" smtClean="0"/>
              <a:t>12/6/2025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13FF54E-8D5D-7B53-FB8E-43F59CB3A7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4A6BEF-7987-721E-B7B5-448468E728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9FC758-8580-4C2F-8C4C-5B69867650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027572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76077B-A6AE-1701-5A5C-1B1EE419F6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8F1633-7FD5-8A1A-77BE-C983D35F643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D7BD5D6-B4FC-8140-53F0-F4A561C7DD8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96AE160-6EED-669A-A38B-2A869ED0F3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D397A9-6129-4C50-B0E5-F102EDF526C0}" type="datetimeFigureOut">
              <a:rPr lang="en-US" smtClean="0"/>
              <a:t>12/6/2025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D151E89-F8ED-1692-FF2E-4CACAC19DA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FF93520-9EB4-3C92-2924-E0329AB616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9FC758-8580-4C2F-8C4C-5B69867650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4682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F8B864-9239-7852-A358-C35E7BB554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38A9CD6-1432-1510-FFCE-E84237C52B1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B8BE444-2754-BF92-C1DA-82AE1AB330B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B6552EB-6094-7017-D647-5B430DAA1D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D397A9-6129-4C50-B0E5-F102EDF526C0}" type="datetimeFigureOut">
              <a:rPr lang="en-US" smtClean="0"/>
              <a:t>12/6/2025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8447B59-6536-0E95-BEC1-5432C5CD8D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AD46B6-F57F-ACE7-3A80-A88E614B01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9FC758-8580-4C2F-8C4C-5B69867650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071931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12E495-3590-A4A8-CEAE-AB6A134D68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3F9C088-0EE3-15D5-6630-01F36539AC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A4BDF01-8DCE-9129-86F8-C20627ED55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D397A9-6129-4C50-B0E5-F102EDF526C0}" type="datetimeFigureOut">
              <a:rPr lang="en-US" smtClean="0"/>
              <a:t>12/6/2025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37E05B9-A853-9A5C-480F-E60EF4F33F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129251C-13F4-648E-1170-6B137DEB7F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9FC758-8580-4C2F-8C4C-5B69867650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747756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BC05015-4787-ED1E-661B-20858260AD2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2420BCE-7519-A049-3757-6CFF9F1795C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D75AC0-E4BA-C48B-7318-68ADF6B1B7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D397A9-6129-4C50-B0E5-F102EDF526C0}" type="datetimeFigureOut">
              <a:rPr lang="en-US" smtClean="0"/>
              <a:t>12/6/2025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F8BD6CC-5AA8-2410-DE04-6B00F33551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09BE9B3-D495-5047-7A83-282B344032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9FC758-8580-4C2F-8C4C-5B69867650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94879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E423CA6-F4D9-277C-78F6-7194C1585A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C5AE43E-D23C-ACF6-09E5-F881C3277F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DA5F74A-82B2-D56D-A050-E3F4C6A353C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9D397A9-6129-4C50-B0E5-F102EDF526C0}" type="datetimeFigureOut">
              <a:rPr lang="en-US" smtClean="0"/>
              <a:t>12/6/2025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E0E049D-4148-BFA8-7DFA-AA59A4543B4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B8D3BC-4E8F-F1EA-EEC6-AD65D74A0D4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A9FC758-8580-4C2F-8C4C-5B69867650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3749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5.xml.rels><?xml version="1.0" encoding="UTF-8" standalone="yes"?>
<Relationships xmlns="http://schemas.openxmlformats.org/package/2006/relationships"><Relationship Id="rId8" Type="http://schemas.microsoft.com/office/2007/relationships/diagramDrawing" Target="../diagrams/drawing2.xml"/><Relationship Id="rId3" Type="http://schemas.openxmlformats.org/officeDocument/2006/relationships/image" Target="../media/image1.png"/><Relationship Id="rId7" Type="http://schemas.openxmlformats.org/officeDocument/2006/relationships/diagramColors" Target="../diagrams/colors2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diagramQuickStyle" Target="../diagrams/quickStyle2.xml"/><Relationship Id="rId5" Type="http://schemas.openxmlformats.org/officeDocument/2006/relationships/diagramLayout" Target="../diagrams/layout2.xml"/><Relationship Id="rId4" Type="http://schemas.openxmlformats.org/officeDocument/2006/relationships/diagramData" Target="../diagrams/data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3.xml"/><Relationship Id="rId7" Type="http://schemas.microsoft.com/office/2007/relationships/diagramDrawing" Target="../diagrams/drawing3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3.xml"/><Relationship Id="rId5" Type="http://schemas.openxmlformats.org/officeDocument/2006/relationships/diagramQuickStyle" Target="../diagrams/quickStyle3.xml"/><Relationship Id="rId4" Type="http://schemas.openxmlformats.org/officeDocument/2006/relationships/diagramLayout" Target="../diagrams/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8" name="Rectangle 27">
            <a:extLst>
              <a:ext uri="{FF2B5EF4-FFF2-40B4-BE49-F238E27FC236}">
                <a16:creationId xmlns:a16="http://schemas.microsoft.com/office/drawing/2014/main" id="{9C7E0A2C-7C0A-4AAC-B3B0-6C12B2EBAE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5EB7D2A2-F448-44D4-938C-DC84CBCB3B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2000" cy="518714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871AEA07-1E14-44B4-8E55-64EF049CD6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96464" y="551961"/>
            <a:ext cx="10999072" cy="539995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A69A247-CB4C-647E-3233-44E4EE9E14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248587"/>
            <a:ext cx="9144000" cy="2387600"/>
          </a:xfrm>
        </p:spPr>
        <p:txBody>
          <a:bodyPr>
            <a:normAutofit/>
          </a:bodyPr>
          <a:lstStyle/>
          <a:p>
            <a:r>
              <a:rPr lang="en-US" sz="5400"/>
              <a:t>Can an ARL Agent Outperform EGT Populations in a Simulated Market?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1B84906-9D30-7164-FCFB-21ED43ABD30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038811"/>
            <a:ext cx="9144000" cy="958475"/>
          </a:xfrm>
        </p:spPr>
        <p:txBody>
          <a:bodyPr>
            <a:normAutofit/>
          </a:bodyPr>
          <a:lstStyle/>
          <a:p>
            <a:r>
              <a:rPr lang="en-US" sz="2600" dirty="0"/>
              <a:t>Rithwak Somepalli</a:t>
            </a:r>
          </a:p>
          <a:p>
            <a:r>
              <a:rPr lang="en-US" sz="2600" dirty="0"/>
              <a:t>Praneeth Rangarajan</a:t>
            </a:r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F7C8EA93-3210-4C62-99E9-153C275E3A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596464" y="6329769"/>
            <a:ext cx="11000232" cy="0"/>
          </a:xfrm>
          <a:prstGeom prst="line">
            <a:avLst/>
          </a:prstGeom>
          <a:ln w="1524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Subtitle 2">
            <a:extLst>
              <a:ext uri="{FF2B5EF4-FFF2-40B4-BE49-F238E27FC236}">
                <a16:creationId xmlns:a16="http://schemas.microsoft.com/office/drawing/2014/main" id="{8C4B4F79-9038-9E6F-9E06-73240F374B5D}"/>
              </a:ext>
            </a:extLst>
          </p:cNvPr>
          <p:cNvSpPr txBox="1">
            <a:spLocks/>
          </p:cNvSpPr>
          <p:nvPr/>
        </p:nvSpPr>
        <p:spPr>
          <a:xfrm>
            <a:off x="1676400" y="3754438"/>
            <a:ext cx="9144000" cy="16557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275688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DBF61EA3-B236-439E-9C0B-340980D56B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88436D2-C349-4E5C-61EF-DF2174A71B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8638" y="386930"/>
            <a:ext cx="9236700" cy="1188950"/>
          </a:xfrm>
        </p:spPr>
        <p:txBody>
          <a:bodyPr anchor="b">
            <a:normAutofit/>
          </a:bodyPr>
          <a:lstStyle/>
          <a:p>
            <a:r>
              <a:rPr lang="en-US" sz="4600" b="1"/>
              <a:t>Research Question and Motivation</a:t>
            </a:r>
            <a:endParaRPr lang="en-US" sz="4600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28FAF094-D087-493F-8DF9-A486C2D6BB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" y="1998368"/>
            <a:ext cx="11695083" cy="782176"/>
            <a:chOff x="-2" y="1998368"/>
            <a:chExt cx="11695083" cy="782176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8D7C88D8-5509-4514-925A-9CE148E5CB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11228040" y="2313027"/>
              <a:ext cx="781700" cy="15238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7275593D-F75E-4426-AE3E-2CDEFD228D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 flipV="1">
              <a:off x="-2" y="1998845"/>
              <a:ext cx="11454595" cy="78169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E659831F-0D9A-4C63-9EBB-8435B85A44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3079"/>
            <a:ext cx="11383362" cy="4147845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E9CE7E-32B9-3967-BB71-0F3E7AB5596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3660" y="2599509"/>
            <a:ext cx="10143668" cy="3435531"/>
          </a:xfrm>
        </p:spPr>
        <p:txBody>
          <a:bodyPr anchor="ctr">
            <a:normAutofit fontScale="92500"/>
          </a:bodyPr>
          <a:lstStyle/>
          <a:p>
            <a:r>
              <a:rPr lang="en-US" sz="2000" b="1" dirty="0"/>
              <a:t>Research Question</a:t>
            </a:r>
            <a:endParaRPr lang="en-US" sz="2000" dirty="0"/>
          </a:p>
          <a:p>
            <a:pPr lvl="1"/>
            <a:r>
              <a:rPr lang="en-US" sz="2000" dirty="0"/>
              <a:t>How does an Adversarial Reinforcement Learning (ARL) agent perform and adapt against an evolving population of heuristic traders governed by Evolutionary Game Theory (EGT)?</a:t>
            </a:r>
          </a:p>
          <a:p>
            <a:r>
              <a:rPr lang="en-US" sz="2000" b="1" dirty="0"/>
              <a:t>Motivation</a:t>
            </a:r>
            <a:endParaRPr lang="en-US" sz="2000" dirty="0"/>
          </a:p>
          <a:p>
            <a:pPr lvl="1"/>
            <a:r>
              <a:rPr lang="en-US" sz="2000" b="1" dirty="0"/>
              <a:t>Problem: </a:t>
            </a:r>
            <a:r>
              <a:rPr lang="en-US" sz="2000" dirty="0"/>
              <a:t>Most RL benchmarks are static. We needed a dynamic, adversarial environment to study fundamental AI themes: search, reasoning, and multi-agent interaction.</a:t>
            </a:r>
          </a:p>
          <a:p>
            <a:pPr lvl="1"/>
            <a:r>
              <a:rPr lang="en-US" sz="2000" b="1" dirty="0"/>
              <a:t>Solution: </a:t>
            </a:r>
            <a:r>
              <a:rPr lang="en-US" sz="2000" dirty="0"/>
              <a:t>To use the stock market as a "playground" to observe how a learning agent adapts when its environment (EGT population) fights back and evolves over time.</a:t>
            </a:r>
          </a:p>
          <a:p>
            <a:r>
              <a:rPr lang="en-US" sz="2000" dirty="0"/>
              <a:t>We treat the market not as a prediction problem, but as a complex stochastic environment for stress-testing AI reasoning and adaptation.</a:t>
            </a:r>
          </a:p>
        </p:txBody>
      </p:sp>
    </p:spTree>
    <p:extLst>
      <p:ext uri="{BB962C8B-B14F-4D97-AF65-F5344CB8AC3E}">
        <p14:creationId xmlns:p14="http://schemas.microsoft.com/office/powerpoint/2010/main" val="328916833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81687DF-BC76-7043-FB6E-1B43C0854F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0" name="Rectangle 29">
            <a:extLst>
              <a:ext uri="{FF2B5EF4-FFF2-40B4-BE49-F238E27FC236}">
                <a16:creationId xmlns:a16="http://schemas.microsoft.com/office/drawing/2014/main" id="{DBF61EA3-B236-439E-9C0B-340980D56B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2E0900-F9DA-5D57-3E3E-21948A7337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8638" y="386930"/>
            <a:ext cx="9236700" cy="1188950"/>
          </a:xfrm>
        </p:spPr>
        <p:txBody>
          <a:bodyPr anchor="b">
            <a:normAutofit/>
          </a:bodyPr>
          <a:lstStyle/>
          <a:p>
            <a:r>
              <a:rPr lang="en-US" sz="5400" b="1" dirty="0"/>
              <a:t>Experimental Setup and Data</a:t>
            </a:r>
            <a:endParaRPr lang="en-US" sz="5400" dirty="0"/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28FAF094-D087-493F-8DF9-A486C2D6BB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" y="1998368"/>
            <a:ext cx="11695083" cy="782176"/>
            <a:chOff x="-2" y="1998368"/>
            <a:chExt cx="11695083" cy="782176"/>
          </a:xfrm>
        </p:grpSpPr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8D7C88D8-5509-4514-925A-9CE148E5CB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11228040" y="2313027"/>
              <a:ext cx="781700" cy="15238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7275593D-F75E-4426-AE3E-2CDEFD228D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 flipV="1">
              <a:off x="-2" y="1998845"/>
              <a:ext cx="11454595" cy="78169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6" name="Rectangle 35">
            <a:extLst>
              <a:ext uri="{FF2B5EF4-FFF2-40B4-BE49-F238E27FC236}">
                <a16:creationId xmlns:a16="http://schemas.microsoft.com/office/drawing/2014/main" id="{E659831F-0D9A-4C63-9EBB-8435B85A44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3079"/>
            <a:ext cx="11383362" cy="4147845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9159F8-C27C-AEEF-AB86-570268A50C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3660" y="2599509"/>
            <a:ext cx="10143668" cy="3435531"/>
          </a:xfrm>
        </p:spPr>
        <p:txBody>
          <a:bodyPr anchor="ctr">
            <a:normAutofit/>
          </a:bodyPr>
          <a:lstStyle/>
          <a:p>
            <a:r>
              <a:rPr lang="en-US" sz="1900" b="1" dirty="0"/>
              <a:t>Environment: </a:t>
            </a:r>
            <a:r>
              <a:rPr lang="en-US" sz="1900" dirty="0"/>
              <a:t>A simulated order-book market where agents interact via "crossing quotes.</a:t>
            </a:r>
          </a:p>
          <a:p>
            <a:r>
              <a:rPr lang="en-US" sz="1900" b="1" dirty="0"/>
              <a:t>Data Source: </a:t>
            </a:r>
            <a:r>
              <a:rPr lang="en-US" sz="1900" dirty="0"/>
              <a:t>Real OHLCV data provides the seed for price, volatility, and momentum.</a:t>
            </a:r>
          </a:p>
          <a:p>
            <a:r>
              <a:rPr lang="en-US" sz="1900" b="1" dirty="0"/>
              <a:t>Reproducibility: </a:t>
            </a:r>
            <a:r>
              <a:rPr lang="en-US" sz="1900" dirty="0"/>
              <a:t>There is a seed feature which enables accurate reproduction of results despite the required randomness.</a:t>
            </a:r>
            <a:endParaRPr lang="en-US" sz="1900" b="1" dirty="0"/>
          </a:p>
          <a:p>
            <a:r>
              <a:rPr lang="en-US" sz="1900" b="1" dirty="0"/>
              <a:t>Goal: </a:t>
            </a:r>
            <a:r>
              <a:rPr lang="en-US" sz="1900" dirty="0"/>
              <a:t>Maximize a Hybrid Reward function (Profit + Spread Capture + Risk Penalty). </a:t>
            </a:r>
          </a:p>
          <a:p>
            <a:r>
              <a:rPr lang="en-US" sz="1900" b="1" dirty="0"/>
              <a:t>External Tools/Libraries used: </a:t>
            </a:r>
            <a:r>
              <a:rPr lang="en-US" sz="1900" dirty="0"/>
              <a:t>Python, TensorFlow/</a:t>
            </a:r>
            <a:r>
              <a:rPr lang="en-US" sz="1900" dirty="0" err="1"/>
              <a:t>Keras</a:t>
            </a:r>
            <a:r>
              <a:rPr lang="en-US" sz="1900" dirty="0"/>
              <a:t> (Deep Learning/Neural Network), NumPy &amp; Pandas (Data Processing), SciPy (Analytics), and Matplotlib (Visualization).</a:t>
            </a:r>
            <a:endParaRPr lang="en-US" sz="1900" b="1" dirty="0"/>
          </a:p>
        </p:txBody>
      </p:sp>
    </p:spTree>
    <p:extLst>
      <p:ext uri="{BB962C8B-B14F-4D97-AF65-F5344CB8AC3E}">
        <p14:creationId xmlns:p14="http://schemas.microsoft.com/office/powerpoint/2010/main" val="321961454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079D037-9DC8-0E09-7502-78AC5614B4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DBF61EA3-B236-439E-9C0B-340980D56B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1B8A0AA-235A-34AA-9741-EC4F60D10A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8638" y="386930"/>
            <a:ext cx="9236700" cy="1188950"/>
          </a:xfrm>
        </p:spPr>
        <p:txBody>
          <a:bodyPr anchor="b">
            <a:normAutofit/>
          </a:bodyPr>
          <a:lstStyle/>
          <a:p>
            <a:r>
              <a:rPr lang="en-US" sz="5400" b="1"/>
              <a:t>Previous Iterations</a:t>
            </a:r>
            <a:endParaRPr lang="en-US" sz="5400"/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28FAF094-D087-493F-8DF9-A486C2D6BB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" y="1998368"/>
            <a:ext cx="11695083" cy="782176"/>
            <a:chOff x="-2" y="1998368"/>
            <a:chExt cx="11695083" cy="782176"/>
          </a:xfrm>
        </p:grpSpPr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8D7C88D8-5509-4514-925A-9CE148E5CB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11228040" y="2313027"/>
              <a:ext cx="781700" cy="15238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7275593D-F75E-4426-AE3E-2CDEFD228D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 flipV="1">
              <a:off x="-2" y="1998845"/>
              <a:ext cx="11454595" cy="78169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5" name="Rectangle 24">
            <a:extLst>
              <a:ext uri="{FF2B5EF4-FFF2-40B4-BE49-F238E27FC236}">
                <a16:creationId xmlns:a16="http://schemas.microsoft.com/office/drawing/2014/main" id="{E659831F-0D9A-4C63-9EBB-8435B85A44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3079"/>
            <a:ext cx="11383362" cy="4147845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5F9EDFA1-AD79-5A97-242E-FC9675DA90C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823080043"/>
              </p:ext>
            </p:extLst>
          </p:nvPr>
        </p:nvGraphicFramePr>
        <p:xfrm>
          <a:off x="793660" y="2599509"/>
          <a:ext cx="10143668" cy="343553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05963344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468288A-AD10-A3B7-813D-51DF7C3888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4" name="Rectangle 53">
            <a:extLst>
              <a:ext uri="{FF2B5EF4-FFF2-40B4-BE49-F238E27FC236}">
                <a16:creationId xmlns:a16="http://schemas.microsoft.com/office/drawing/2014/main" id="{058A14AF-9FB5-4CC7-BA35-E8E85D3EDF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EEECE88-5BF6-6385-E38F-D8FB8A9AAD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3662" y="386930"/>
            <a:ext cx="10066122" cy="1298448"/>
          </a:xfrm>
        </p:spPr>
        <p:txBody>
          <a:bodyPr anchor="b">
            <a:normAutofit/>
          </a:bodyPr>
          <a:lstStyle/>
          <a:p>
            <a:r>
              <a:rPr lang="en-US" sz="4800" b="1"/>
              <a:t>Agent Architecture</a:t>
            </a:r>
            <a:endParaRPr lang="en-US" sz="4800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3A9A4357-BD1D-4622-A4FE-766E6AB8DE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 flipV="1">
            <a:off x="-2" y="1998845"/>
            <a:ext cx="11454595" cy="781699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E659831F-0D9A-4C63-9EBB-8435B85A44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3079"/>
            <a:ext cx="11383362" cy="4267991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 descr="A diagram of a network&#10;&#10;AI-generated content may be incorrect.">
            <a:extLst>
              <a:ext uri="{FF2B5EF4-FFF2-40B4-BE49-F238E27FC236}">
                <a16:creationId xmlns:a16="http://schemas.microsoft.com/office/drawing/2014/main" id="{63A501CD-64DA-A765-2F10-A07919481B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532" y="2873548"/>
            <a:ext cx="5150277" cy="2935657"/>
          </a:xfrm>
          <a:prstGeom prst="rect">
            <a:avLst/>
          </a:prstGeom>
        </p:spPr>
      </p:pic>
      <p:sp>
        <p:nvSpPr>
          <p:cNvPr id="60" name="Rectangle 59">
            <a:extLst>
              <a:ext uri="{FF2B5EF4-FFF2-40B4-BE49-F238E27FC236}">
                <a16:creationId xmlns:a16="http://schemas.microsoft.com/office/drawing/2014/main" id="{E6995CE5-F890-4ABA-82A2-26507CE8D2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11228040" y="2313027"/>
            <a:ext cx="781700" cy="15238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49" name="Content Placeholder 2">
            <a:extLst>
              <a:ext uri="{FF2B5EF4-FFF2-40B4-BE49-F238E27FC236}">
                <a16:creationId xmlns:a16="http://schemas.microsoft.com/office/drawing/2014/main" id="{1A7C758E-44B4-ED65-D240-7E51BE7BA01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980443262"/>
              </p:ext>
            </p:extLst>
          </p:nvPr>
        </p:nvGraphicFramePr>
        <p:xfrm>
          <a:off x="793661" y="2599509"/>
          <a:ext cx="4530898" cy="363945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4" r:lo="rId5" r:qs="rId6" r:cs="rId7"/>
          </a:graphicData>
        </a:graphic>
      </p:graphicFrame>
    </p:spTree>
    <p:extLst>
      <p:ext uri="{BB962C8B-B14F-4D97-AF65-F5344CB8AC3E}">
        <p14:creationId xmlns:p14="http://schemas.microsoft.com/office/powerpoint/2010/main" val="18567657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0DDA837-FA51-A879-2E3C-66E1F9E87E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2" name="Rectangle 51">
            <a:extLst>
              <a:ext uri="{FF2B5EF4-FFF2-40B4-BE49-F238E27FC236}">
                <a16:creationId xmlns:a16="http://schemas.microsoft.com/office/drawing/2014/main" id="{058A14AF-9FB5-4CC7-BA35-E8E85D3EDF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87DFF7D-88A6-7D07-E739-0EE87F7835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3662" y="386930"/>
            <a:ext cx="10066122" cy="1298448"/>
          </a:xfrm>
        </p:spPr>
        <p:txBody>
          <a:bodyPr anchor="b">
            <a:normAutofit/>
          </a:bodyPr>
          <a:lstStyle/>
          <a:p>
            <a:r>
              <a:rPr lang="en-US" sz="4800" b="1"/>
              <a:t>Learning Mechanism</a:t>
            </a:r>
            <a:endParaRPr lang="en-US" sz="4800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3A9A4357-BD1D-4622-A4FE-766E6AB8DE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 flipV="1">
            <a:off x="-2" y="1998845"/>
            <a:ext cx="11454595" cy="781699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E659831F-0D9A-4C63-9EBB-8435B85A44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3079"/>
            <a:ext cx="11383362" cy="4267991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33AE75-D950-42AC-4ADF-196760B32F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3661" y="2599509"/>
            <a:ext cx="4530898" cy="3639450"/>
          </a:xfrm>
        </p:spPr>
        <p:txBody>
          <a:bodyPr anchor="ctr">
            <a:normAutofit/>
          </a:bodyPr>
          <a:lstStyle/>
          <a:p>
            <a:r>
              <a:rPr lang="en-US" sz="2000" b="1" dirty="0"/>
              <a:t>Process: </a:t>
            </a:r>
            <a:r>
              <a:rPr lang="en-US" sz="2000" dirty="0"/>
              <a:t>After each step, the agent measures its error and adjusts weights by sending that error backward through the network.</a:t>
            </a:r>
          </a:p>
          <a:p>
            <a:r>
              <a:rPr lang="en-US" sz="2000" b="1" dirty="0"/>
              <a:t>Optimization: </a:t>
            </a:r>
            <a:r>
              <a:rPr lang="en-US" sz="2000" dirty="0"/>
              <a:t>We use gradient descent to steadily reduce the model’s error. </a:t>
            </a:r>
            <a:endParaRPr lang="en-US" sz="2000" b="1" dirty="0"/>
          </a:p>
        </p:txBody>
      </p:sp>
      <p:pic>
        <p:nvPicPr>
          <p:cNvPr id="5" name="Picture 4" descr="A math equations on a white background&#10;&#10;AI-generated content may be incorrect.">
            <a:extLst>
              <a:ext uri="{FF2B5EF4-FFF2-40B4-BE49-F238E27FC236}">
                <a16:creationId xmlns:a16="http://schemas.microsoft.com/office/drawing/2014/main" id="{BDBF1452-CC68-8D0F-C055-22A5A7185D3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434"/>
          <a:stretch>
            <a:fillRect/>
          </a:stretch>
        </p:blipFill>
        <p:spPr>
          <a:xfrm>
            <a:off x="5911532" y="3373383"/>
            <a:ext cx="5150277" cy="1935987"/>
          </a:xfrm>
          <a:prstGeom prst="rect">
            <a:avLst/>
          </a:prstGeom>
        </p:spPr>
      </p:pic>
      <p:sp>
        <p:nvSpPr>
          <p:cNvPr id="58" name="Rectangle 57">
            <a:extLst>
              <a:ext uri="{FF2B5EF4-FFF2-40B4-BE49-F238E27FC236}">
                <a16:creationId xmlns:a16="http://schemas.microsoft.com/office/drawing/2014/main" id="{E6995CE5-F890-4ABA-82A2-26507CE8D2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11228040" y="2313027"/>
            <a:ext cx="781700" cy="15238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96454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1361833-F52B-E982-EE83-13840802AF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0" name="Rectangle 29">
            <a:extLst>
              <a:ext uri="{FF2B5EF4-FFF2-40B4-BE49-F238E27FC236}">
                <a16:creationId xmlns:a16="http://schemas.microsoft.com/office/drawing/2014/main" id="{DBF61EA3-B236-439E-9C0B-340980D56B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257B963-759C-38B0-4A24-5B9D410AA3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8638" y="386930"/>
            <a:ext cx="9236700" cy="1188950"/>
          </a:xfrm>
        </p:spPr>
        <p:txBody>
          <a:bodyPr anchor="b">
            <a:normAutofit/>
          </a:bodyPr>
          <a:lstStyle/>
          <a:p>
            <a:r>
              <a:rPr lang="en-US" sz="5400" b="1"/>
              <a:t>The Adversary</a:t>
            </a:r>
            <a:endParaRPr lang="en-US" sz="5400"/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28FAF094-D087-493F-8DF9-A486C2D6BB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" y="1998368"/>
            <a:ext cx="11695083" cy="782176"/>
            <a:chOff x="-2" y="1998368"/>
            <a:chExt cx="11695083" cy="782176"/>
          </a:xfrm>
        </p:grpSpPr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8D7C88D8-5509-4514-925A-9CE148E5CB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11228040" y="2313027"/>
              <a:ext cx="781700" cy="15238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7275593D-F75E-4426-AE3E-2CDEFD228D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 flipV="1">
              <a:off x="-2" y="1998845"/>
              <a:ext cx="11454595" cy="78169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6" name="Rectangle 35">
            <a:extLst>
              <a:ext uri="{FF2B5EF4-FFF2-40B4-BE49-F238E27FC236}">
                <a16:creationId xmlns:a16="http://schemas.microsoft.com/office/drawing/2014/main" id="{E659831F-0D9A-4C63-9EBB-8435B85A44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3079"/>
            <a:ext cx="11383362" cy="4147845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884DDB-A043-3916-1F92-939A79C6ED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3660" y="2599509"/>
            <a:ext cx="10143668" cy="3435531"/>
          </a:xfrm>
        </p:spPr>
        <p:txBody>
          <a:bodyPr anchor="ctr">
            <a:normAutofit/>
          </a:bodyPr>
          <a:lstStyle/>
          <a:p>
            <a:r>
              <a:rPr lang="en-US" sz="2400" dirty="0"/>
              <a:t>The "Adversary" is not a single agent, but a population of heuristic traders (Aggressive, Passive, Momentum, Random).</a:t>
            </a:r>
          </a:p>
          <a:p>
            <a:r>
              <a:rPr lang="en-US" sz="2400" b="1" dirty="0"/>
              <a:t>Genetic Algorithm:</a:t>
            </a:r>
          </a:p>
          <a:p>
            <a:pPr lvl="1"/>
            <a:r>
              <a:rPr lang="en-US" b="1" dirty="0"/>
              <a:t>Fitness Functions: </a:t>
            </a:r>
            <a:r>
              <a:rPr lang="en-US" dirty="0"/>
              <a:t>Rolling profitability</a:t>
            </a:r>
          </a:p>
          <a:p>
            <a:pPr lvl="1"/>
            <a:r>
              <a:rPr lang="en-US" b="1" dirty="0"/>
              <a:t>Selection: </a:t>
            </a:r>
            <a:r>
              <a:rPr lang="en-US" dirty="0"/>
              <a:t>Strategies that make money reproduce and increase their population share. Strategies that lose money die out.</a:t>
            </a:r>
          </a:p>
          <a:p>
            <a:pPr lvl="1"/>
            <a:r>
              <a:rPr lang="en-US" b="1" dirty="0"/>
              <a:t>Mutation: </a:t>
            </a:r>
            <a:r>
              <a:rPr lang="en-US" dirty="0"/>
              <a:t>A 0.1% mutation rate introduces random noise to prevent the population from getting stuck in a local optimum. </a:t>
            </a: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190639811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04F899A-82DB-32BA-11CA-FB170407C6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0" name="Rectangle 29">
            <a:extLst>
              <a:ext uri="{FF2B5EF4-FFF2-40B4-BE49-F238E27FC236}">
                <a16:creationId xmlns:a16="http://schemas.microsoft.com/office/drawing/2014/main" id="{7517A47C-B2E5-4B79-8061-D74B1311AF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32" name="Freeform: Shape 31">
            <a:extLst>
              <a:ext uri="{FF2B5EF4-FFF2-40B4-BE49-F238E27FC236}">
                <a16:creationId xmlns:a16="http://schemas.microsoft.com/office/drawing/2014/main" id="{C505E780-2083-4CB5-A42A-5E0E2908EC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4818889" cy="6858000"/>
          </a:xfrm>
          <a:custGeom>
            <a:avLst/>
            <a:gdLst>
              <a:gd name="connsiteX0" fmla="*/ 0 w 4818889"/>
              <a:gd name="connsiteY0" fmla="*/ 0 h 6858000"/>
              <a:gd name="connsiteX1" fmla="*/ 3605911 w 4818889"/>
              <a:gd name="connsiteY1" fmla="*/ 0 h 6858000"/>
              <a:gd name="connsiteX2" fmla="*/ 3668894 w 4818889"/>
              <a:gd name="connsiteY2" fmla="*/ 69271 h 6858000"/>
              <a:gd name="connsiteX3" fmla="*/ 4818889 w 4818889"/>
              <a:gd name="connsiteY3" fmla="*/ 3429000 h 6858000"/>
              <a:gd name="connsiteX4" fmla="*/ 3668894 w 4818889"/>
              <a:gd name="connsiteY4" fmla="*/ 6788730 h 6858000"/>
              <a:gd name="connsiteX5" fmla="*/ 3605911 w 4818889"/>
              <a:gd name="connsiteY5" fmla="*/ 6858000 h 6858000"/>
              <a:gd name="connsiteX6" fmla="*/ 0 w 4818889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818889" h="6858000">
                <a:moveTo>
                  <a:pt x="0" y="0"/>
                </a:moveTo>
                <a:lnTo>
                  <a:pt x="3605911" y="0"/>
                </a:lnTo>
                <a:lnTo>
                  <a:pt x="3668894" y="69271"/>
                </a:lnTo>
                <a:cubicBezTo>
                  <a:pt x="4379420" y="929100"/>
                  <a:pt x="4818889" y="2116944"/>
                  <a:pt x="4818889" y="3429000"/>
                </a:cubicBezTo>
                <a:cubicBezTo>
                  <a:pt x="4818889" y="4741056"/>
                  <a:pt x="4379420" y="5928900"/>
                  <a:pt x="3668894" y="6788730"/>
                </a:cubicBezTo>
                <a:lnTo>
                  <a:pt x="3605911" y="6858000"/>
                </a:lnTo>
                <a:lnTo>
                  <a:pt x="0" y="6858000"/>
                </a:lnTo>
                <a:close/>
              </a:path>
            </a:pathLst>
          </a:custGeom>
          <a:ln w="9525">
            <a:solidFill>
              <a:srgbClr val="EFEFEF"/>
            </a:solidFill>
          </a:ln>
          <a:effectLst>
            <a:outerShdw blurRad="88900" dist="38100" algn="l" rotWithShape="0">
              <a:schemeClr val="bg1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34" name="Freeform: Shape 33">
            <a:extLst>
              <a:ext uri="{FF2B5EF4-FFF2-40B4-BE49-F238E27FC236}">
                <a16:creationId xmlns:a16="http://schemas.microsoft.com/office/drawing/2014/main" id="{D2C0AE1C-0118-41AE-8A10-7CDCBF10E9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4811477" cy="6858000"/>
          </a:xfrm>
          <a:custGeom>
            <a:avLst/>
            <a:gdLst>
              <a:gd name="connsiteX0" fmla="*/ 0 w 4811477"/>
              <a:gd name="connsiteY0" fmla="*/ 0 h 6858000"/>
              <a:gd name="connsiteX1" fmla="*/ 3598499 w 4811477"/>
              <a:gd name="connsiteY1" fmla="*/ 0 h 6858000"/>
              <a:gd name="connsiteX2" fmla="*/ 3661482 w 4811477"/>
              <a:gd name="connsiteY2" fmla="*/ 69271 h 6858000"/>
              <a:gd name="connsiteX3" fmla="*/ 4811477 w 4811477"/>
              <a:gd name="connsiteY3" fmla="*/ 3429000 h 6858000"/>
              <a:gd name="connsiteX4" fmla="*/ 3661482 w 4811477"/>
              <a:gd name="connsiteY4" fmla="*/ 6788730 h 6858000"/>
              <a:gd name="connsiteX5" fmla="*/ 3598499 w 4811477"/>
              <a:gd name="connsiteY5" fmla="*/ 6858000 h 6858000"/>
              <a:gd name="connsiteX6" fmla="*/ 0 w 4811477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811477" h="6858000">
                <a:moveTo>
                  <a:pt x="0" y="0"/>
                </a:moveTo>
                <a:lnTo>
                  <a:pt x="3598499" y="0"/>
                </a:lnTo>
                <a:lnTo>
                  <a:pt x="3661482" y="69271"/>
                </a:lnTo>
                <a:cubicBezTo>
                  <a:pt x="4372008" y="929100"/>
                  <a:pt x="4811477" y="2116944"/>
                  <a:pt x="4811477" y="3429000"/>
                </a:cubicBezTo>
                <a:cubicBezTo>
                  <a:pt x="4811477" y="4741056"/>
                  <a:pt x="4372008" y="5928900"/>
                  <a:pt x="3661482" y="6788730"/>
                </a:cubicBezTo>
                <a:lnTo>
                  <a:pt x="3598499" y="6858000"/>
                </a:lnTo>
                <a:lnTo>
                  <a:pt x="0" y="6858000"/>
                </a:lnTo>
                <a:close/>
              </a:path>
            </a:pathLst>
          </a:cu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CD4DA82-A375-32FC-9970-27879B7274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1792" y="1161288"/>
            <a:ext cx="3602736" cy="4526280"/>
          </a:xfrm>
        </p:spPr>
        <p:txBody>
          <a:bodyPr>
            <a:normAutofit/>
          </a:bodyPr>
          <a:lstStyle/>
          <a:p>
            <a:r>
              <a:rPr lang="en-US" sz="4000" b="1"/>
              <a:t>Interaction Loop</a:t>
            </a:r>
            <a:endParaRPr lang="en-US" sz="4000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463EEC44-1BA3-44ED-81FC-A644B04B2A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3081528"/>
            <a:ext cx="128016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AA1DE4D5-8BAF-D870-AC79-2CEF89AAE8B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830572737"/>
              </p:ext>
            </p:extLst>
          </p:nvPr>
        </p:nvGraphicFramePr>
        <p:xfrm>
          <a:off x="5303520" y="676656"/>
          <a:ext cx="6364224" cy="551383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169644861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717904E-A005-2D12-84D9-CD989C7A6B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35">
            <a:extLst>
              <a:ext uri="{FF2B5EF4-FFF2-40B4-BE49-F238E27FC236}">
                <a16:creationId xmlns:a16="http://schemas.microsoft.com/office/drawing/2014/main" id="{AAAE94E3-A7DB-4868-B1E3-E49703488B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9A3BC68-1A93-B12F-B8C7-6728940C5F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9560" y="856180"/>
            <a:ext cx="5279408" cy="1128068"/>
          </a:xfrm>
        </p:spPr>
        <p:txBody>
          <a:bodyPr anchor="ctr">
            <a:normAutofit/>
          </a:bodyPr>
          <a:lstStyle/>
          <a:p>
            <a:r>
              <a:rPr lang="en-US" sz="4000" b="1" dirty="0"/>
              <a:t>Results- Profitability</a:t>
            </a:r>
            <a:endParaRPr lang="en-US" sz="4000" dirty="0"/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1DE889C7-FAD6-4397-98E2-05D50348445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1083484"/>
            <a:ext cx="355196" cy="673460"/>
            <a:chOff x="0" y="823811"/>
            <a:chExt cx="355196" cy="673460"/>
          </a:xfrm>
        </p:grpSpPr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F399A70F-F8CD-4992-9EF5-6CF15472E73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823811"/>
              <a:ext cx="87363" cy="67346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48F4FEDC-6D80-458C-A665-075D9B9500F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59341" y="823811"/>
              <a:ext cx="195855" cy="67346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42" name="Rectangle 41">
            <a:extLst>
              <a:ext uri="{FF2B5EF4-FFF2-40B4-BE49-F238E27FC236}">
                <a16:creationId xmlns:a16="http://schemas.microsoft.com/office/drawing/2014/main" id="{3873B707-463F-40B0-8227-E8CC6C67EB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65085" y="2123821"/>
            <a:ext cx="4975066" cy="2743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42678B-0DDA-DC10-08A1-2B74A64D64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0719" y="2330505"/>
            <a:ext cx="5278066" cy="3979585"/>
          </a:xfrm>
        </p:spPr>
        <p:txBody>
          <a:bodyPr anchor="ctr">
            <a:normAutofit/>
          </a:bodyPr>
          <a:lstStyle/>
          <a:p>
            <a:r>
              <a:rPr lang="en-US" sz="2000" dirty="0"/>
              <a:t>Achieved ~0.7% total return.</a:t>
            </a:r>
          </a:p>
          <a:p>
            <a:r>
              <a:rPr lang="en-US" sz="2000" dirty="0"/>
              <a:t>Agent struggled at parts where the trend wasn’t seen before.</a:t>
            </a:r>
          </a:p>
          <a:p>
            <a:r>
              <a:rPr lang="en-US" sz="2000" dirty="0"/>
              <a:t>The AI didn’t make any risky trades. </a:t>
            </a:r>
          </a:p>
          <a:p>
            <a:r>
              <a:rPr lang="en-US" sz="2000" dirty="0"/>
              <a:t>Although in other data sets there were times when it lost money, it made a profit at the end.</a:t>
            </a:r>
          </a:p>
          <a:p>
            <a:r>
              <a:rPr lang="en-US" sz="2000" dirty="0"/>
              <a:t>The AI learned how to make money. It started knowing nothing, made mistakes, learned from them via gradient descent, and ended up profitable.</a:t>
            </a:r>
            <a:endParaRPr lang="en-US" sz="2000" b="1" dirty="0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C13237C8-E62C-4F0D-A318-BD6FB6C2D1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0697670" y="0"/>
            <a:ext cx="1494330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19C9EAEA-39D0-4B0E-A0EB-51E7B26740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849687" y="357447"/>
            <a:ext cx="4845488" cy="292358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 descr="A graph showing the price of a stock market&#10;&#10;AI-generated content may be incorrect.">
            <a:extLst>
              <a:ext uri="{FF2B5EF4-FFF2-40B4-BE49-F238E27FC236}">
                <a16:creationId xmlns:a16="http://schemas.microsoft.com/office/drawing/2014/main" id="{F09E981B-C047-DF2A-FCBB-02D7C9417A6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02970" y="581892"/>
            <a:ext cx="3358339" cy="2518756"/>
          </a:xfrm>
          <a:prstGeom prst="rect">
            <a:avLst/>
          </a:prstGeom>
        </p:spPr>
      </p:pic>
      <p:sp>
        <p:nvSpPr>
          <p:cNvPr id="48" name="Rectangle 47">
            <a:extLst>
              <a:ext uri="{FF2B5EF4-FFF2-40B4-BE49-F238E27FC236}">
                <a16:creationId xmlns:a16="http://schemas.microsoft.com/office/drawing/2014/main" id="{8CB5D2D7-DF65-4E86-BFBA-FFB9B5ACEB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849687" y="3505479"/>
            <a:ext cx="4845488" cy="292358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 descr="A graph showing a line&#10;&#10;AI-generated content may be incorrect.">
            <a:extLst>
              <a:ext uri="{FF2B5EF4-FFF2-40B4-BE49-F238E27FC236}">
                <a16:creationId xmlns:a16="http://schemas.microsoft.com/office/drawing/2014/main" id="{55F6F023-8BD1-B5B6-402A-4B6EE6F8AA7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02038" y="3707894"/>
            <a:ext cx="3358339" cy="25187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758090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8" name="Rectangle 27">
            <a:extLst>
              <a:ext uri="{FF2B5EF4-FFF2-40B4-BE49-F238E27FC236}">
                <a16:creationId xmlns:a16="http://schemas.microsoft.com/office/drawing/2014/main" id="{4C2AC11E-3162-4990-A36E-92B07ECF16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30" name="Rectangle 29">
            <a:extLst>
              <a:ext uri="{FF2B5EF4-FFF2-40B4-BE49-F238E27FC236}">
                <a16:creationId xmlns:a16="http://schemas.microsoft.com/office/drawing/2014/main" id="{9073D962-D3D2-4A72-8593-65C213CBFF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9574" y="633619"/>
            <a:ext cx="4520912" cy="5495925"/>
          </a:xfrm>
          <a:prstGeom prst="rect">
            <a:avLst/>
          </a:prstGeom>
          <a:ln w="9525">
            <a:solidFill>
              <a:srgbClr val="DEDEDE"/>
            </a:solidFill>
          </a:ln>
          <a:effectLst>
            <a:outerShdw blurRad="50800" dist="38100" dir="2700000" algn="tl" rotWithShape="0">
              <a:schemeClr val="bg1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DE57D7D9-731D-CAF8-EF3D-607B749E52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978408"/>
            <a:ext cx="3721608" cy="1106424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en-US" sz="2800" b="1"/>
              <a:t>Results- Causality</a:t>
            </a:r>
            <a:endParaRPr lang="en-US" sz="280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2387511B-F6E1-4929-AC90-94FB8B6B0F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45565" y="1181536"/>
            <a:ext cx="128016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AA58F78C-27AB-465F-AA33-15E08AF267F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77456" y="2185416"/>
            <a:ext cx="3683187" cy="9144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B3D653BC-017F-3C2F-9CC6-F4FB157677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368296"/>
            <a:ext cx="3721608" cy="3502152"/>
          </a:xfrm>
        </p:spPr>
        <p:txBody>
          <a:bodyPr>
            <a:normAutofit lnSpcReduction="10000"/>
          </a:bodyPr>
          <a:lstStyle/>
          <a:p>
            <a:r>
              <a:rPr lang="en-US" sz="1300" dirty="0"/>
              <a:t>Without ARL agent, aggressive and momentum population dominated.</a:t>
            </a:r>
          </a:p>
          <a:p>
            <a:r>
              <a:rPr lang="en-US" sz="1300" dirty="0"/>
              <a:t>When tested with ARL agent, it kept the population in check.</a:t>
            </a:r>
          </a:p>
          <a:p>
            <a:r>
              <a:rPr lang="en-US" sz="1300" dirty="0"/>
              <a:t>For each trend of the market data, the agent chose a working strategy and controlled the population to profit the most. </a:t>
            </a:r>
          </a:p>
          <a:p>
            <a:r>
              <a:rPr lang="en-US" sz="1300" dirty="0"/>
              <a:t>Since the Market Data was identical for both runs, the drastic shifts between the population were caused by the agent’s strategic adaptation.</a:t>
            </a:r>
          </a:p>
          <a:p>
            <a:r>
              <a:rPr lang="en-US" sz="1300" dirty="0"/>
              <a:t>The dependency plot shows that the AI influences the population when it wants a change.</a:t>
            </a:r>
          </a:p>
          <a:p>
            <a:r>
              <a:rPr lang="en-US" sz="1300" dirty="0"/>
              <a:t>When satisfied (change in population = 0), there is no interaction to measure, thus leading to blank spaces in dependency plot.</a:t>
            </a:r>
          </a:p>
        </p:txBody>
      </p:sp>
      <p:pic>
        <p:nvPicPr>
          <p:cNvPr id="9" name="Picture 8" descr="A graph with orange lines&#10;&#10;AI-generated content may be incorrect.">
            <a:extLst>
              <a:ext uri="{FF2B5EF4-FFF2-40B4-BE49-F238E27FC236}">
                <a16:creationId xmlns:a16="http://schemas.microsoft.com/office/drawing/2014/main" id="{70381A0A-D05E-CD61-076C-85FDFBFD9EF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11303" y="759652"/>
            <a:ext cx="3248351" cy="2436264"/>
          </a:xfrm>
          <a:prstGeom prst="rect">
            <a:avLst/>
          </a:prstGeom>
        </p:spPr>
      </p:pic>
      <p:pic>
        <p:nvPicPr>
          <p:cNvPr id="11" name="Picture 10" descr="A graph of different colored bars&#10;&#10;AI-generated content may be incorrect.">
            <a:extLst>
              <a:ext uri="{FF2B5EF4-FFF2-40B4-BE49-F238E27FC236}">
                <a16:creationId xmlns:a16="http://schemas.microsoft.com/office/drawing/2014/main" id="{956A8E30-1881-BB6D-47E9-A7C40CEED2C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33268" y="3564164"/>
            <a:ext cx="3248352" cy="2436264"/>
          </a:xfrm>
          <a:prstGeom prst="rect">
            <a:avLst/>
          </a:prstGeom>
        </p:spPr>
      </p:pic>
      <p:pic>
        <p:nvPicPr>
          <p:cNvPr id="7" name="Picture 6" descr="A graph of different colors&#10;&#10;AI-generated content may be incorrect.">
            <a:extLst>
              <a:ext uri="{FF2B5EF4-FFF2-40B4-BE49-F238E27FC236}">
                <a16:creationId xmlns:a16="http://schemas.microsoft.com/office/drawing/2014/main" id="{D6A4C6DC-AB1B-C64B-2A93-725408B086D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89914" y="3562699"/>
            <a:ext cx="3248352" cy="2436265"/>
          </a:xfrm>
          <a:prstGeom prst="rect">
            <a:avLst/>
          </a:prstGeom>
        </p:spPr>
      </p:pic>
      <p:pic>
        <p:nvPicPr>
          <p:cNvPr id="5" name="Picture 4" descr="A graph showing the price of a stock market&#10;&#10;AI-generated content may be incorrect.">
            <a:extLst>
              <a:ext uri="{FF2B5EF4-FFF2-40B4-BE49-F238E27FC236}">
                <a16:creationId xmlns:a16="http://schemas.microsoft.com/office/drawing/2014/main" id="{3880B2FA-34D1-E054-9950-E3B2CA1B056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33268" y="759651"/>
            <a:ext cx="3248352" cy="2436265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2267D94A-2D54-00DF-FEEC-7B91CD85374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45565" y="1181537"/>
            <a:ext cx="147195" cy="7040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689824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14BE7F4-4A37-BDE2-AE94-CB4CDDD9D5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1" name="Rectangle 50">
            <a:extLst>
              <a:ext uri="{FF2B5EF4-FFF2-40B4-BE49-F238E27FC236}">
                <a16:creationId xmlns:a16="http://schemas.microsoft.com/office/drawing/2014/main" id="{149FB5C3-7336-4FE0-A30C-CC0A3646D4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52" name="Group 51">
            <a:extLst>
              <a:ext uri="{FF2B5EF4-FFF2-40B4-BE49-F238E27FC236}">
                <a16:creationId xmlns:a16="http://schemas.microsoft.com/office/drawing/2014/main" id="{19A6B5CE-CB1D-48EE-8B43-E952235C837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5400000">
            <a:off x="-2340441" y="2666183"/>
            <a:ext cx="5860051" cy="527712"/>
            <a:chOff x="6081624" y="1998368"/>
            <a:chExt cx="5613457" cy="782175"/>
          </a:xfrm>
          <a:solidFill>
            <a:schemeClr val="accent4"/>
          </a:solidFill>
        </p:grpSpPr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E3F3EAA5-4E15-400B-BBA3-82B3F49A217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11228040" y="2313027"/>
              <a:ext cx="781700" cy="152382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72BA2E40-BE9B-4C54-9CDD-40EE804CCE6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 flipV="1">
              <a:off x="6081624" y="1998844"/>
              <a:ext cx="5372968" cy="7816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42" name="Rectangle 41">
            <a:extLst>
              <a:ext uri="{FF2B5EF4-FFF2-40B4-BE49-F238E27FC236}">
                <a16:creationId xmlns:a16="http://schemas.microsoft.com/office/drawing/2014/main" id="{0DA909B4-15FF-46A6-8A7F-7AEF977FE9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79528" y="517897"/>
            <a:ext cx="11111729" cy="5857966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C548DE2-0A9D-D7BD-C282-547BE017CD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57025" y="922644"/>
            <a:ext cx="5040285" cy="1169585"/>
          </a:xfrm>
        </p:spPr>
        <p:txBody>
          <a:bodyPr anchor="b">
            <a:normAutofit/>
          </a:bodyPr>
          <a:lstStyle/>
          <a:p>
            <a:r>
              <a:rPr lang="af-ZA" sz="4000" b="1" dirty="0"/>
              <a:t>Results- Strategy</a:t>
            </a:r>
            <a:endParaRPr lang="en-US" sz="4000" dirty="0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1382A32C-5B0C-4B1C-A074-76C6DBCC9F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055714" y="2263365"/>
            <a:ext cx="4937760" cy="2743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E997FF-C878-B61B-B3C3-130D90585F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5715" y="2508105"/>
            <a:ext cx="5040285" cy="3632493"/>
          </a:xfrm>
        </p:spPr>
        <p:txBody>
          <a:bodyPr anchor="ctr">
            <a:normAutofit/>
          </a:bodyPr>
          <a:lstStyle/>
          <a:p>
            <a:r>
              <a:rPr lang="en-US" sz="1600" dirty="0"/>
              <a:t>The graph shows us that its learned policy favors a narrow band of spreads over all other options.</a:t>
            </a:r>
          </a:p>
          <a:p>
            <a:r>
              <a:rPr lang="en-US" sz="1600" dirty="0"/>
              <a:t>The agent was guessing at first, but as time passes, it acts on what it has learnt, modeled by the gray line. </a:t>
            </a:r>
          </a:p>
          <a:p>
            <a:r>
              <a:rPr lang="en-US" sz="1600" dirty="0"/>
              <a:t>The red spikes show the spread width at a time step. </a:t>
            </a:r>
          </a:p>
          <a:p>
            <a:r>
              <a:rPr lang="en-US" sz="1600" dirty="0"/>
              <a:t>When there is a crash in the market, the agent is actively trying to stop itself from being exploited, hence the big spikes at times of a trend change.</a:t>
            </a:r>
          </a:p>
        </p:txBody>
      </p:sp>
      <p:pic>
        <p:nvPicPr>
          <p:cNvPr id="7" name="Picture 6" descr="A graph of a chart&#10;&#10;AI-generated content may be incorrect.">
            <a:extLst>
              <a:ext uri="{FF2B5EF4-FFF2-40B4-BE49-F238E27FC236}">
                <a16:creationId xmlns:a16="http://schemas.microsoft.com/office/drawing/2014/main" id="{AF160EE7-DF33-1848-8589-B871757099C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20446" y="774285"/>
            <a:ext cx="3441562" cy="2581173"/>
          </a:xfrm>
          <a:prstGeom prst="rect">
            <a:avLst/>
          </a:prstGeom>
        </p:spPr>
      </p:pic>
      <p:pic>
        <p:nvPicPr>
          <p:cNvPr id="5" name="Picture 4" descr="A graph of a graph&#10;&#10;AI-generated content may be incorrect.">
            <a:extLst>
              <a:ext uri="{FF2B5EF4-FFF2-40B4-BE49-F238E27FC236}">
                <a16:creationId xmlns:a16="http://schemas.microsoft.com/office/drawing/2014/main" id="{A3E09B69-E26B-63B6-8CA9-CB008A7598C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20446" y="3575074"/>
            <a:ext cx="3441562" cy="25811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769500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257B853-2B7D-E8F8-FDE9-C556A5D54C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2" name="Rectangle 31">
            <a:extLst>
              <a:ext uri="{FF2B5EF4-FFF2-40B4-BE49-F238E27FC236}">
                <a16:creationId xmlns:a16="http://schemas.microsoft.com/office/drawing/2014/main" id="{EB708185-20C0-40F2-8F2D-8EB9E34B3C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19A6B5CE-CB1D-48EE-8B43-E952235C837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5400000">
            <a:off x="-2340441" y="2666183"/>
            <a:ext cx="5860051" cy="527712"/>
            <a:chOff x="6081624" y="1998368"/>
            <a:chExt cx="5613457" cy="782175"/>
          </a:xfrm>
          <a:solidFill>
            <a:schemeClr val="accent4"/>
          </a:solidFill>
        </p:grpSpPr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E3F3EAA5-4E15-400B-BBA3-82B3F49A217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11228040" y="2313027"/>
              <a:ext cx="781700" cy="152382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72BA2E40-BE9B-4C54-9CDD-40EE804CCE6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 flipV="1">
              <a:off x="6081624" y="1998844"/>
              <a:ext cx="5372968" cy="7816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50" name="Rectangle 49">
            <a:extLst>
              <a:ext uri="{FF2B5EF4-FFF2-40B4-BE49-F238E27FC236}">
                <a16:creationId xmlns:a16="http://schemas.microsoft.com/office/drawing/2014/main" id="{0DA909B4-15FF-46A6-8A7F-7AEF977FE9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79528" y="517897"/>
            <a:ext cx="11111729" cy="5857966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D3EDDA2-0AA5-1A81-8047-8A4E33335E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57025" y="922644"/>
            <a:ext cx="5040285" cy="1169585"/>
          </a:xfrm>
        </p:spPr>
        <p:txBody>
          <a:bodyPr anchor="b">
            <a:normAutofit/>
          </a:bodyPr>
          <a:lstStyle/>
          <a:p>
            <a:r>
              <a:rPr lang="en-US" sz="4000" b="1" dirty="0"/>
              <a:t>Results- Methodology</a:t>
            </a:r>
            <a:endParaRPr lang="en-US" sz="4000" dirty="0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1382A32C-5B0C-4B1C-A074-76C6DBCC9F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055714" y="2263365"/>
            <a:ext cx="4937760" cy="2743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1F8855-E818-4AE1-3BDE-006BAFEB9F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5715" y="2508105"/>
            <a:ext cx="5040285" cy="3632493"/>
          </a:xfrm>
        </p:spPr>
        <p:txBody>
          <a:bodyPr anchor="ctr">
            <a:normAutofit/>
          </a:bodyPr>
          <a:lstStyle/>
          <a:p>
            <a:r>
              <a:rPr lang="af-ZA" sz="1700" dirty="0"/>
              <a:t>The AI isn’t lucky, it made small returns over a long period of time.</a:t>
            </a:r>
          </a:p>
          <a:p>
            <a:r>
              <a:rPr lang="af-ZA" sz="1700" dirty="0"/>
              <a:t>When the agent makes a mistake, it learnt to recover from the loss, instead of tilting and losing more like our previous iteration. </a:t>
            </a:r>
          </a:p>
          <a:p>
            <a:r>
              <a:rPr lang="en-US" sz="1700" dirty="0"/>
              <a:t>The bright center line proves the agent learned to keep its inventory near zero, validating that it understands risk management. </a:t>
            </a:r>
          </a:p>
          <a:p>
            <a:r>
              <a:rPr lang="en-US" sz="1700" dirty="0"/>
              <a:t>It makes money by trading flow, not by taking dangerous bets on the direction of the stock.</a:t>
            </a:r>
          </a:p>
        </p:txBody>
      </p:sp>
      <p:pic>
        <p:nvPicPr>
          <p:cNvPr id="13" name="Picture 12" descr="A graph of a step return&#10;&#10;AI-generated content may be incorrect.">
            <a:extLst>
              <a:ext uri="{FF2B5EF4-FFF2-40B4-BE49-F238E27FC236}">
                <a16:creationId xmlns:a16="http://schemas.microsoft.com/office/drawing/2014/main" id="{04BFA4C1-B749-3807-D0C6-DA8E947F163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580" r="6202" b="6"/>
          <a:stretch>
            <a:fillRect/>
          </a:stretch>
        </p:blipFill>
        <p:spPr>
          <a:xfrm>
            <a:off x="6946666" y="774285"/>
            <a:ext cx="2112264" cy="1999673"/>
          </a:xfrm>
          <a:prstGeom prst="rect">
            <a:avLst/>
          </a:prstGeom>
        </p:spPr>
      </p:pic>
      <p:pic>
        <p:nvPicPr>
          <p:cNvPr id="7" name="Picture 6" descr="A graph showing a graph&#10;&#10;AI-generated content may be incorrect.">
            <a:extLst>
              <a:ext uri="{FF2B5EF4-FFF2-40B4-BE49-F238E27FC236}">
                <a16:creationId xmlns:a16="http://schemas.microsoft.com/office/drawing/2014/main" id="{06807FFC-A01A-9A72-B5EF-969C6A79EDB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656" r="3126" b="6"/>
          <a:stretch>
            <a:fillRect/>
          </a:stretch>
        </p:blipFill>
        <p:spPr>
          <a:xfrm>
            <a:off x="9223523" y="774285"/>
            <a:ext cx="2112264" cy="1999673"/>
          </a:xfrm>
          <a:prstGeom prst="rect">
            <a:avLst/>
          </a:prstGeom>
        </p:spPr>
      </p:pic>
      <p:pic>
        <p:nvPicPr>
          <p:cNvPr id="5" name="Picture 4" descr="A graph showing a number of data&#10;&#10;AI-generated content may be incorrect.">
            <a:extLst>
              <a:ext uri="{FF2B5EF4-FFF2-40B4-BE49-F238E27FC236}">
                <a16:creationId xmlns:a16="http://schemas.microsoft.com/office/drawing/2014/main" id="{B5335CB0-0D3C-573D-4EA1-C431CFC51BB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42" r="12193" b="-1"/>
          <a:stretch>
            <a:fillRect/>
          </a:stretch>
        </p:blipFill>
        <p:spPr>
          <a:xfrm>
            <a:off x="6946667" y="2942704"/>
            <a:ext cx="4389120" cy="32135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785924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A06DD47-23A6-1D83-05B1-379A410339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DBF61EA3-B236-439E-9C0B-340980D56B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3104D31-B229-547D-F85F-F31F9AD489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8638" y="386930"/>
            <a:ext cx="9236700" cy="1188950"/>
          </a:xfrm>
        </p:spPr>
        <p:txBody>
          <a:bodyPr anchor="b">
            <a:normAutofit/>
          </a:bodyPr>
          <a:lstStyle/>
          <a:p>
            <a:r>
              <a:rPr lang="en-US" sz="5400" b="1"/>
              <a:t>Novelty and Contribution</a:t>
            </a:r>
            <a:endParaRPr lang="en-US" sz="5400"/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28FAF094-D087-493F-8DF9-A486C2D6BB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" y="1998368"/>
            <a:ext cx="11695083" cy="782176"/>
            <a:chOff x="-2" y="1998368"/>
            <a:chExt cx="11695083" cy="782176"/>
          </a:xfrm>
        </p:grpSpPr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8D7C88D8-5509-4514-925A-9CE148E5CB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11228040" y="2313027"/>
              <a:ext cx="781700" cy="15238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7275593D-F75E-4426-AE3E-2CDEFD228D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 flipV="1">
              <a:off x="-2" y="1998845"/>
              <a:ext cx="11454595" cy="78169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5" name="Rectangle 24">
            <a:extLst>
              <a:ext uri="{FF2B5EF4-FFF2-40B4-BE49-F238E27FC236}">
                <a16:creationId xmlns:a16="http://schemas.microsoft.com/office/drawing/2014/main" id="{E659831F-0D9A-4C63-9EBB-8435B85A44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3079"/>
            <a:ext cx="11383362" cy="4147845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4944F1-3B7E-7B7E-6F82-84D131BE84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3660" y="2599509"/>
            <a:ext cx="10143668" cy="3435531"/>
          </a:xfrm>
        </p:spPr>
        <p:txBody>
          <a:bodyPr anchor="ctr">
            <a:normAutofit/>
          </a:bodyPr>
          <a:lstStyle/>
          <a:p>
            <a:r>
              <a:rPr lang="en-US" sz="2400" dirty="0"/>
              <a:t>There have been research projects with:</a:t>
            </a:r>
          </a:p>
          <a:p>
            <a:pPr lvl="1"/>
            <a:r>
              <a:rPr lang="en-US" sz="2000" dirty="0"/>
              <a:t>RL agent vs fixed environment</a:t>
            </a:r>
          </a:p>
          <a:p>
            <a:pPr lvl="1"/>
            <a:r>
              <a:rPr lang="en-US" sz="2000" dirty="0"/>
              <a:t>GA evolving strategies with no RL</a:t>
            </a:r>
          </a:p>
          <a:p>
            <a:pPr lvl="1"/>
            <a:r>
              <a:rPr lang="en-US" sz="2000" dirty="0"/>
              <a:t>multiple RL agents but no evolutionary dynamics</a:t>
            </a:r>
          </a:p>
          <a:p>
            <a:pPr lvl="1"/>
            <a:r>
              <a:rPr lang="en-US" sz="2000" dirty="0"/>
              <a:t>EGT populations but no deep learning agent.</a:t>
            </a:r>
          </a:p>
          <a:p>
            <a:r>
              <a:rPr lang="en-US" sz="2400" dirty="0"/>
              <a:t>We could not find any that involve all 4 of these ideas in one simulation. </a:t>
            </a:r>
          </a:p>
          <a:p>
            <a:r>
              <a:rPr lang="en-US" sz="2400" dirty="0"/>
              <a:t>Unlike static back testing tools, this framework features an evolving trader population, providing a dynamic environment for validating predictive models.</a:t>
            </a:r>
          </a:p>
        </p:txBody>
      </p:sp>
    </p:spTree>
    <p:extLst>
      <p:ext uri="{BB962C8B-B14F-4D97-AF65-F5344CB8AC3E}">
        <p14:creationId xmlns:p14="http://schemas.microsoft.com/office/powerpoint/2010/main" val="308402754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11A9963-9CE1-41DF-CF1B-65B3F89025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DBF61EA3-B236-439E-9C0B-340980D56B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44BDD54-BC0B-F157-0552-1E9D324B8E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8638" y="386930"/>
            <a:ext cx="9236700" cy="1188950"/>
          </a:xfrm>
        </p:spPr>
        <p:txBody>
          <a:bodyPr anchor="b">
            <a:normAutofit/>
          </a:bodyPr>
          <a:lstStyle/>
          <a:p>
            <a:r>
              <a:rPr lang="en-US" sz="5400" b="1" dirty="0"/>
              <a:t>Bias and Future Work</a:t>
            </a:r>
            <a:endParaRPr lang="en-US" sz="5400" dirty="0"/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28FAF094-D087-493F-8DF9-A486C2D6BB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" y="1998368"/>
            <a:ext cx="11695083" cy="782176"/>
            <a:chOff x="-2" y="1998368"/>
            <a:chExt cx="11695083" cy="782176"/>
          </a:xfrm>
        </p:grpSpPr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8D7C88D8-5509-4514-925A-9CE148E5CB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11228040" y="2313027"/>
              <a:ext cx="781700" cy="15238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7275593D-F75E-4426-AE3E-2CDEFD228D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 flipV="1">
              <a:off x="-2" y="1998845"/>
              <a:ext cx="11454595" cy="78169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5" name="Rectangle 24">
            <a:extLst>
              <a:ext uri="{FF2B5EF4-FFF2-40B4-BE49-F238E27FC236}">
                <a16:creationId xmlns:a16="http://schemas.microsoft.com/office/drawing/2014/main" id="{E659831F-0D9A-4C63-9EBB-8435B85A44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3079"/>
            <a:ext cx="11383362" cy="4147845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858CCC-8167-95A9-4D67-20CE5CF59B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3660" y="2599509"/>
            <a:ext cx="10143668" cy="3435531"/>
          </a:xfrm>
        </p:spPr>
        <p:txBody>
          <a:bodyPr anchor="ctr">
            <a:normAutofit/>
          </a:bodyPr>
          <a:lstStyle/>
          <a:p>
            <a:r>
              <a:rPr lang="en-US" sz="2200" dirty="0"/>
              <a:t>The model might overfit to the specific volatility patterns of the provided dataset.</a:t>
            </a:r>
          </a:p>
          <a:p>
            <a:r>
              <a:rPr lang="en-US" sz="2200" dirty="0"/>
              <a:t>A simple 2-layer MLP may limit expressiveness compared to deeper architectures.</a:t>
            </a:r>
          </a:p>
          <a:p>
            <a:r>
              <a:rPr lang="en-US" sz="2200" b="1" dirty="0"/>
              <a:t>Possible Future Work: </a:t>
            </a:r>
          </a:p>
          <a:p>
            <a:pPr lvl="1"/>
            <a:r>
              <a:rPr lang="en-US" sz="2200" dirty="0"/>
              <a:t>Implement Recurrent Neural Networks (RNNs) to capture time-series dependencies better. </a:t>
            </a:r>
          </a:p>
          <a:p>
            <a:pPr lvl="1"/>
            <a:r>
              <a:rPr lang="en-US" sz="2200" dirty="0"/>
              <a:t>Replace heuristic EGT agents with other RL agents (Multi-Agent Reinforcement Learning) for a "smarter" enemy.</a:t>
            </a:r>
            <a:endParaRPr lang="en-US" sz="2200" b="1" dirty="0"/>
          </a:p>
        </p:txBody>
      </p:sp>
    </p:spTree>
    <p:extLst>
      <p:ext uri="{BB962C8B-B14F-4D97-AF65-F5344CB8AC3E}">
        <p14:creationId xmlns:p14="http://schemas.microsoft.com/office/powerpoint/2010/main" val="254078945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E44F032-3989-26DC-9FE6-6125203BF1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DBF61EA3-B236-439E-9C0B-340980D56B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626F5ED-D8BA-33C5-574B-C688B1A765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8638" y="386930"/>
            <a:ext cx="9236700" cy="1188950"/>
          </a:xfrm>
        </p:spPr>
        <p:txBody>
          <a:bodyPr anchor="b">
            <a:normAutofit/>
          </a:bodyPr>
          <a:lstStyle/>
          <a:p>
            <a:r>
              <a:rPr lang="en-US" sz="5400" b="1"/>
              <a:t>Conclusion</a:t>
            </a:r>
            <a:endParaRPr lang="en-US" sz="5400"/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28FAF094-D087-493F-8DF9-A486C2D6BB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" y="1998368"/>
            <a:ext cx="11695083" cy="782176"/>
            <a:chOff x="-2" y="1998368"/>
            <a:chExt cx="11695083" cy="782176"/>
          </a:xfrm>
        </p:grpSpPr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8D7C88D8-5509-4514-925A-9CE148E5CB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11228040" y="2313027"/>
              <a:ext cx="781700" cy="15238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7275593D-F75E-4426-AE3E-2CDEFD228D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 flipV="1">
              <a:off x="-2" y="1998845"/>
              <a:ext cx="11454595" cy="78169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5" name="Rectangle 24">
            <a:extLst>
              <a:ext uri="{FF2B5EF4-FFF2-40B4-BE49-F238E27FC236}">
                <a16:creationId xmlns:a16="http://schemas.microsoft.com/office/drawing/2014/main" id="{E659831F-0D9A-4C63-9EBB-8435B85A44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3079"/>
            <a:ext cx="11383362" cy="4147845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180F32-E6BE-5841-22B1-54EBCDB057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3660" y="2599509"/>
            <a:ext cx="10143668" cy="3435531"/>
          </a:xfrm>
        </p:spPr>
        <p:txBody>
          <a:bodyPr anchor="ctr">
            <a:normAutofit/>
          </a:bodyPr>
          <a:lstStyle/>
          <a:p>
            <a:r>
              <a:rPr lang="en-US" sz="2400" dirty="0"/>
              <a:t>We successfully built a simulation where a Neural Network agent fought and exploited against an evolving Genetic Algorithm population.</a:t>
            </a:r>
          </a:p>
          <a:p>
            <a:r>
              <a:rPr lang="en-US" sz="2400" dirty="0"/>
              <a:t>The agent didn't just memorize prices; it learned Safe AI behaviors (inventory management) and Strategic Adaptation (countering aggressive traders).</a:t>
            </a:r>
          </a:p>
          <a:p>
            <a:r>
              <a:rPr lang="en-US" sz="2400" dirty="0"/>
              <a:t>This proves that RL agents can survive and stabilize in non-stationary, adversarial environments, and even control the environment to accomplish its goal.</a:t>
            </a:r>
          </a:p>
        </p:txBody>
      </p:sp>
    </p:spTree>
    <p:extLst>
      <p:ext uri="{BB962C8B-B14F-4D97-AF65-F5344CB8AC3E}">
        <p14:creationId xmlns:p14="http://schemas.microsoft.com/office/powerpoint/2010/main" val="322887611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438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BC3731F5-336E-4E6B-A514-3EDD24CA1AC0}">
  <we:reference id="wa200005566" version="3.0.0.3" store="en-US" storeType="OMEX"/>
  <we:alternateReferences>
    <we:reference id="wa200005566" version="3.0.0.3" store="" storeType="OMEX"/>
  </we:alternateReferences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661</TotalTime>
  <Words>1227</Words>
  <Application>Microsoft Office PowerPoint</Application>
  <PresentationFormat>Widescreen</PresentationFormat>
  <Paragraphs>103</Paragraphs>
  <Slides>15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0" baseType="lpstr">
      <vt:lpstr>Aptos</vt:lpstr>
      <vt:lpstr>Aptos Display</vt:lpstr>
      <vt:lpstr>Arial</vt:lpstr>
      <vt:lpstr>Calibri</vt:lpstr>
      <vt:lpstr>Office Theme</vt:lpstr>
      <vt:lpstr>Can an ARL Agent Outperform EGT Populations in a Simulated Market?</vt:lpstr>
      <vt:lpstr>Research Question and Motivation</vt:lpstr>
      <vt:lpstr>Experimental Setup and Data</vt:lpstr>
      <vt:lpstr>Previous Iterations</vt:lpstr>
      <vt:lpstr>Agent Architecture</vt:lpstr>
      <vt:lpstr>Learning Mechanism</vt:lpstr>
      <vt:lpstr>The Adversary</vt:lpstr>
      <vt:lpstr>Interaction Loop</vt:lpstr>
      <vt:lpstr>Results- Profitability</vt:lpstr>
      <vt:lpstr>Results- Causality</vt:lpstr>
      <vt:lpstr>Results- Strategy</vt:lpstr>
      <vt:lpstr>Results- Methodology</vt:lpstr>
      <vt:lpstr>Novelty and Contribution</vt:lpstr>
      <vt:lpstr>Bias and Future Work</vt:lpstr>
      <vt:lpstr>Conclusion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Rithwak Somepalli</dc:creator>
  <cp:lastModifiedBy>Rithwak Somepalli</cp:lastModifiedBy>
  <cp:revision>27</cp:revision>
  <dcterms:created xsi:type="dcterms:W3CDTF">2025-11-24T23:14:25Z</dcterms:created>
  <dcterms:modified xsi:type="dcterms:W3CDTF">2025-12-06T18:45:31Z</dcterms:modified>
</cp:coreProperties>
</file>