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89" r:id="rId4"/>
    <p:sldId id="290" r:id="rId5"/>
    <p:sldId id="291" r:id="rId6"/>
    <p:sldId id="292" r:id="rId7"/>
    <p:sldId id="293" r:id="rId8"/>
    <p:sldId id="295" r:id="rId9"/>
    <p:sldId id="294" r:id="rId10"/>
    <p:sldId id="297" r:id="rId11"/>
    <p:sldId id="296" r:id="rId12"/>
    <p:sldId id="299" r:id="rId13"/>
    <p:sldId id="298" r:id="rId14"/>
    <p:sldId id="301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>
        <p:scale>
          <a:sx n="100" d="100"/>
          <a:sy n="100" d="100"/>
        </p:scale>
        <p:origin x="-221" y="-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50800-C7F5-62F5-17B4-12C37C413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65951-B4DF-3B6F-0165-BE4F2C83DC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E9631-8BD3-C20D-3858-7E3CEB0CB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Plot3 and 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C39F3-DC1E-BFC9-1054-754EC1148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22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plot_2_inventory_heatmap.png</a:t>
            </a:r>
            <a:r>
              <a:rPr lang="en-US" dirty="0"/>
              <a:t> (Inventory concentration)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plot_support_drawdown.png</a:t>
            </a:r>
            <a:r>
              <a:rPr lang="en-US" dirty="0"/>
              <a:t> (Max loss)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plot_support_return_dist.png</a:t>
            </a:r>
            <a:r>
              <a:rPr lang="en-US" dirty="0"/>
              <a:t> (Histogram)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683"/>
            <a:ext cx="9144000" cy="2551829"/>
          </a:xfrm>
        </p:spPr>
        <p:txBody>
          <a:bodyPr anchor="ctr">
            <a:normAutofit/>
          </a:bodyPr>
          <a:lstStyle/>
          <a:p>
            <a:r>
              <a:rPr lang="en-US" sz="56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73753"/>
            <a:ext cx="9144000" cy="1182135"/>
          </a:xfrm>
        </p:spPr>
        <p:txBody>
          <a:bodyPr anchor="ctr"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Adaptive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(ARL)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28F126-7F05-A115-8896-9FE6506AB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Experimental Setup and Data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EDA5D3-1CBB-19D5-6061-3AB2AD03C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518F6-86ED-C813-A8C7-617DCBBC18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A30337-D30A-A9C1-0442-E0675AA68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A875617-92A9-AEFC-63E2-65DAB7B4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 lnSpcReduction="10000"/>
          </a:bodyPr>
          <a:lstStyle/>
          <a:p>
            <a:r>
              <a:rPr lang="en-US" sz="2000" b="1" dirty="0"/>
              <a:t>Environment: </a:t>
            </a:r>
            <a:r>
              <a:rPr lang="en-US" sz="2000" dirty="0"/>
              <a:t>A simulated order-book market where agents interact via "crossing quotes.</a:t>
            </a:r>
          </a:p>
          <a:p>
            <a:r>
              <a:rPr lang="en-US" sz="2000" b="1" dirty="0"/>
              <a:t>Data Source: </a:t>
            </a:r>
            <a:r>
              <a:rPr lang="en-US" sz="2000" dirty="0"/>
              <a:t>Real OHLCV data provides the seed for price, volatility, and momentum.</a:t>
            </a:r>
          </a:p>
          <a:p>
            <a:r>
              <a:rPr lang="en-US" sz="2000" b="1" dirty="0"/>
              <a:t>Input Features: </a:t>
            </a:r>
            <a:r>
              <a:rPr lang="en-US" sz="2000" dirty="0"/>
              <a:t>The agent observes 6 features: Volatility, RSI, Momentum, Normalized Volume, Inventory, and Time Remaining.</a:t>
            </a:r>
          </a:p>
          <a:p>
            <a:r>
              <a:rPr lang="en-US" sz="2000" b="1" dirty="0"/>
              <a:t>Reproducibility: </a:t>
            </a:r>
            <a:r>
              <a:rPr lang="en-US" sz="2000" dirty="0"/>
              <a:t>There is a seed feature which enables accurate reproduction of results despite the required randomness.</a:t>
            </a:r>
            <a:endParaRPr lang="en-US" sz="2000" b="1" dirty="0"/>
          </a:p>
          <a:p>
            <a:r>
              <a:rPr lang="en-US" sz="2000" b="1" dirty="0"/>
              <a:t>Goal: </a:t>
            </a:r>
            <a:r>
              <a:rPr lang="en-US" sz="2000" dirty="0"/>
              <a:t>Maximize a Hybrid Reward function (Profit + Spread Capture + Risk Penalty). </a:t>
            </a:r>
          </a:p>
          <a:p>
            <a:r>
              <a:rPr lang="en-US" sz="2000" b="1" dirty="0"/>
              <a:t>External Tools/Libraries used: </a:t>
            </a:r>
            <a:r>
              <a:rPr lang="en-US" sz="2000" dirty="0"/>
              <a:t>Python, TensorFlow/</a:t>
            </a:r>
            <a:r>
              <a:rPr lang="en-US" sz="2000" dirty="0" err="1"/>
              <a:t>Keras</a:t>
            </a:r>
            <a:r>
              <a:rPr lang="en-US" sz="2000" dirty="0"/>
              <a:t> (Deep Learning/Neural Network), NumPy &amp; Pandas (Data Processing), SciPy (Analytics), and Matplotlib (Visualization).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61E1B73-83E0-1763-E51D-31E801201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Agent Architecture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CD7CC4-8BB9-6011-E1EE-39289BC53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97174-9DF8-FCE1-6CC4-2149EB00B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6FE0B54-2BB0-789E-00AD-EAE5FB670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9E6A42F2-13AA-F90D-917C-8A5A75638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20EC2-E86D-B464-4C8F-17FA23D9D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We utilize a standard Feed-Forward Neural Network (MLP) to approximate the Q-values (expected future rewards).</a:t>
            </a:r>
          </a:p>
          <a:p>
            <a:r>
              <a:rPr lang="en-US" sz="2000" b="1" dirty="0"/>
              <a:t>Architecture: </a:t>
            </a:r>
            <a:r>
              <a:rPr lang="en-US" sz="2000" dirty="0"/>
              <a:t>Input Layer (6 neurons), Hidden Layers (64 units, </a:t>
            </a:r>
            <a:r>
              <a:rPr lang="en-US" sz="2000" dirty="0" err="1"/>
              <a:t>ReLU</a:t>
            </a:r>
            <a:r>
              <a:rPr lang="en-US" sz="2000" dirty="0"/>
              <a:t> activation), Output Layer (5 discrete spread actions).</a:t>
            </a:r>
          </a:p>
          <a:p>
            <a:r>
              <a:rPr lang="en-US" sz="2000" dirty="0"/>
              <a:t>We use Rectified Linear Units (</a:t>
            </a:r>
            <a:r>
              <a:rPr lang="en-US" sz="2000" dirty="0" err="1"/>
              <a:t>ReLU</a:t>
            </a:r>
            <a:r>
              <a:rPr lang="en-US" sz="2000" dirty="0"/>
              <a:t>) instead of sigmoid step-functions to handle the non-linear dynamics of market volatility and avoid the vanishing gradient problem.</a:t>
            </a:r>
          </a:p>
        </p:txBody>
      </p:sp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4B5474-4EF2-9A9E-DDAB-B7352F3E2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Learning Mechanism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F436FD-4C8E-3AEE-45E5-B9E25F8F5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676600-9FFD-80FA-88D3-051E392104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3FD3C4-216A-AFF6-E8CC-8EE2AAFA1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87DEF50-203A-9D0D-1996-D29A6FACF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Objective: </a:t>
            </a:r>
            <a:r>
              <a:rPr lang="en-US" sz="2000" dirty="0"/>
              <a:t>Minimize the squared error (Loss) between the predicted Q-value and the target Q-value derived from the Bellman equation.</a:t>
            </a:r>
          </a:p>
          <a:p>
            <a:r>
              <a:rPr lang="en-US" sz="2000" b="1" dirty="0"/>
              <a:t>Process: </a:t>
            </a:r>
            <a:r>
              <a:rPr lang="en-US" sz="2000" dirty="0"/>
              <a:t>After every interaction, the agent calculates the error. This error is back-propagated from the output layer to the input layer to adjust the weights.</a:t>
            </a:r>
          </a:p>
          <a:p>
            <a:r>
              <a:rPr lang="en-US" sz="2000" b="1" dirty="0"/>
              <a:t>Optimization: </a:t>
            </a:r>
            <a:r>
              <a:rPr lang="en-US" sz="2000" dirty="0"/>
              <a:t>We use the Adam optimizer (Stochastic Gradient Descent) to find the global minimum in the error surface. 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48C096-9FA3-7690-31CA-67A853156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The Adversary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39BC96-B4C6-D689-3DE1-3E3DFA94B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221E5D8-B1A9-C481-DAE6-3A7E8BF25A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BA1626-4622-8C5F-CF20-328EED626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C74CB79-17F0-F7B9-694E-07E5CAEF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"Adversary" is not a single agent, but a population of heuristic traders (Aggressive, Passive, Momentum, Random).</a:t>
            </a:r>
          </a:p>
          <a:p>
            <a:r>
              <a:rPr lang="en-US" sz="2000" b="1" dirty="0"/>
              <a:t>Genetic Algorithm:</a:t>
            </a:r>
          </a:p>
          <a:p>
            <a:pPr lvl="1"/>
            <a:r>
              <a:rPr lang="en-US" sz="1600" b="1" dirty="0"/>
              <a:t>Fitness Functions: </a:t>
            </a:r>
            <a:r>
              <a:rPr lang="en-US" sz="1600" dirty="0"/>
              <a:t>Rolling profitability</a:t>
            </a:r>
          </a:p>
          <a:p>
            <a:pPr lvl="1"/>
            <a:r>
              <a:rPr lang="en-US" sz="1600" b="1" dirty="0"/>
              <a:t>Selection: </a:t>
            </a:r>
            <a:r>
              <a:rPr lang="en-US" sz="1600" dirty="0"/>
              <a:t>Strategies that make money reproduce and increase their population share. Strategies that lose money die out.</a:t>
            </a:r>
          </a:p>
          <a:p>
            <a:pPr lvl="1"/>
            <a:r>
              <a:rPr lang="en-US" sz="1600" b="1" dirty="0"/>
              <a:t>Mutation: </a:t>
            </a:r>
            <a:r>
              <a:rPr lang="en-US" sz="1600" dirty="0"/>
              <a:t>A 2% mutation rate introduces random noise to prevent the population from getting stuck in a local optimum. 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2ECBE48-A67C-1DC6-DCBE-7787D2FE6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Interaction Loop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26A1A57-2319-A030-2BBA-20FB0C79A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04C2460-223E-4BA1-5518-98B49FCECF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5935E3D-1A40-43F6-12FF-D0814F234B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A4A0EE82-F191-A24E-EBA2-8833F7C5A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C0B37-C476-2E80-8C30-F6619428B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Sensing: </a:t>
            </a:r>
            <a:r>
              <a:rPr lang="en-US" sz="2000" dirty="0"/>
              <a:t>The MLP processes market features (Volatility, RSI).</a:t>
            </a:r>
          </a:p>
          <a:p>
            <a:r>
              <a:rPr lang="en-US" sz="2000" b="1" dirty="0"/>
              <a:t>Action: </a:t>
            </a:r>
            <a:r>
              <a:rPr lang="en-US" sz="2000" dirty="0"/>
              <a:t>The Agent posts a Bid/Ask Spread (e.g., Tight or Wide).</a:t>
            </a:r>
          </a:p>
          <a:p>
            <a:r>
              <a:rPr lang="en-US" sz="2000" b="1" dirty="0"/>
              <a:t>Reaction: </a:t>
            </a:r>
            <a:r>
              <a:rPr lang="en-US" sz="2000" dirty="0"/>
              <a:t>The EGT population evaluates the price; trades execute if quotes cross.</a:t>
            </a:r>
          </a:p>
          <a:p>
            <a:r>
              <a:rPr lang="en-US" sz="2000" b="1" dirty="0"/>
              <a:t>Feedback</a:t>
            </a:r>
          </a:p>
          <a:p>
            <a:pPr lvl="1"/>
            <a:r>
              <a:rPr lang="en-US" sz="1600" dirty="0"/>
              <a:t>Agent receives Reward (Profit - Risk).</a:t>
            </a:r>
          </a:p>
          <a:p>
            <a:pPr lvl="1"/>
            <a:r>
              <a:rPr lang="en-US" sz="1600" dirty="0"/>
              <a:t>EGT Agents receive Fitness (Profit).</a:t>
            </a:r>
            <a:endParaRPr lang="en-US" sz="2000" dirty="0"/>
          </a:p>
          <a:p>
            <a:r>
              <a:rPr lang="en-US" sz="2000" b="1" dirty="0"/>
              <a:t>Update: </a:t>
            </a:r>
            <a:r>
              <a:rPr lang="en-US" sz="2000" dirty="0"/>
              <a:t>Agent updates Weights (Backprop); Population updates Distribution (Evolution).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8C450B-0604-4A17-D2C6-24BBB0782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Results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BF77EF-BD19-4E8C-42C7-D8192CBA3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1DC201D-4D4F-B125-AA88-28F75F4CF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159FD0-F02C-4F1F-8D4A-6C2E0B07D6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988612C-505E-C187-F0A3-6C60CDF1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What happened: </a:t>
            </a:r>
            <a:r>
              <a:rPr lang="en-US" sz="2000" dirty="0"/>
              <a:t>The ARL agent achieved ~1.5% total return. The rolling reward plot shows the agent initially struggling (exploration) before converging to a stable, positive-reward policy.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34869-54B6-5C0F-DD74-581A1E85E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0D6B3-2D07-FFF0-9D7D-E90E4B9C5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BEE90E-E32B-AE72-4980-AFB0ACD89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Results (continued)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E37756-43C0-EC82-8E73-255CDAD813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EEE9C1C-864F-C008-C0BF-7A309951E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194F80-C7C7-6E89-0287-2338987B2A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03887E0-F446-674D-3CA1-9DA6BF09D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3DB00-4BE9-27B8-9CAE-47E9E9DF9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Start: </a:t>
            </a:r>
            <a:r>
              <a:rPr lang="en-US" sz="2000" dirty="0"/>
              <a:t>Mixed population</a:t>
            </a:r>
          </a:p>
          <a:p>
            <a:r>
              <a:rPr lang="en-US" sz="2000" b="1" dirty="0"/>
              <a:t>Middle: </a:t>
            </a:r>
            <a:r>
              <a:rPr lang="en-US" sz="2000" dirty="0"/>
              <a:t>Aggressive traders tried to exploit the agent. The agent countered by widening spreads.</a:t>
            </a:r>
          </a:p>
          <a:p>
            <a:r>
              <a:rPr lang="af-ZA" sz="2000" b="1" dirty="0"/>
              <a:t>End: </a:t>
            </a:r>
            <a:r>
              <a:rPr lang="en-US" sz="2000" dirty="0"/>
              <a:t>Aggressive traders went bankrupt. Passive traders (green area) took over &gt;99% of the market.</a:t>
            </a:r>
          </a:p>
          <a:p>
            <a:r>
              <a:rPr lang="en-US" sz="2000" dirty="0"/>
              <a:t>The AI "starved" the aggressive traders by refusing to give them good prices. It shaped its own environment.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50523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10CBB79-57EA-72FE-51C0-9FE61E129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af-ZA" sz="4600" b="1" dirty="0"/>
              <a:t>Results (continued)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60D5F-7129-DC58-E722-84F25BBEA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B295F5-2DEB-1174-15FE-4593B520BF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1A861FC-494B-6065-3691-F80FD88178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A88BD134-D570-B0E0-1F02-BB8790AD3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"Spread Width" plot shows spikes (red lines) matching periods of high volatility.</a:t>
            </a:r>
          </a:p>
          <a:p>
            <a:r>
              <a:rPr lang="en-US" sz="2000" dirty="0"/>
              <a:t>The "Epsilon" line (grey) shows the transition from random exploration to exploiting learned knowledge.</a:t>
            </a:r>
          </a:p>
          <a:p>
            <a:r>
              <a:rPr lang="en-US" sz="2000" dirty="0"/>
              <a:t>The Policy Distribution shows a preference for tight spreads (0.2/0.4) to capture volume, but retains wide spreads for safety.</a:t>
            </a:r>
          </a:p>
          <a:p>
            <a:r>
              <a:rPr lang="en-US" sz="2000" dirty="0"/>
              <a:t>The AI learned "Context-Dependent Tactics." It acts like a human market maker: tight spreads when calm, wide spreads when scared. </a:t>
            </a:r>
          </a:p>
        </p:txBody>
      </p:sp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7D330AD-FE8F-B9D6-05DE-81B3D08A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Methodology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26B811-43C7-FD5C-867E-95C2EE02E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ACC544-8599-F93A-79B6-0E2AB2C88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2B45D3-63B6-B36D-953F-319434BB7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D7100C2-E21E-9EC4-F8BD-1861D0276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af-ZA" sz="2000" b="1" dirty="0"/>
              <a:t>Inventory: </a:t>
            </a:r>
            <a:r>
              <a:rPr lang="en-US" sz="2000" dirty="0"/>
              <a:t>The heatmap shows the agent keeps inventory near zero (bright yellow center). Variance was &lt; 0.02.</a:t>
            </a:r>
          </a:p>
          <a:p>
            <a:r>
              <a:rPr lang="en-US" sz="2000" dirty="0"/>
              <a:t>The agent learned to be efficient. It didn't hoard assets (which is risky/wasteful). It maximized reward while minimizing resource usage (capital exposure), aligning with Green AI principles of efficiency.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0278F9-E854-BF73-BB72-4BF83ADF0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Novelty and Contribution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F3BBA6-74DE-04C5-9653-D056E1827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03792D-1A51-7441-1FBF-B08B2DC16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E5FD732-6BD3-815D-98F3-DF553DF8FC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B64B1A41-8DCC-08EC-E82B-20C755718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Most financial RL papers assume a static market. We demonstrated Co-Evolution—where the AI and the Market change each other simultaneously.</a:t>
            </a:r>
          </a:p>
          <a:p>
            <a:r>
              <a:rPr lang="en-US" sz="2000" dirty="0"/>
              <a:t>We provide an open-source "playground" for the community to study Multi-Agent interactions. This framework serves as a benchmark for measuring AI Robustness against adaptive adversaries. 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14BF8E6-2C71-6B7F-B7E5-CEF4BADF0B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Bias and Future Work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6E11F2-2529-0DC9-D63D-222DCC0B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AAC27D0-2F7D-3637-3899-BEE99C725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19BCE8-961F-7EED-59E3-A0468FFD3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9678F10E-7F4D-D591-907B-1DC9543B4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model might overfit to the specific volatility patterns of the provided dataset.</a:t>
            </a:r>
          </a:p>
          <a:p>
            <a:r>
              <a:rPr lang="en-US" sz="2000" dirty="0"/>
              <a:t>A simple 2-layer MLP may limit expressiveness compared to deeper architectures.</a:t>
            </a:r>
          </a:p>
          <a:p>
            <a:r>
              <a:rPr lang="en-US" sz="2000" b="1" dirty="0"/>
              <a:t>Possible Future Work: </a:t>
            </a:r>
          </a:p>
          <a:p>
            <a:pPr lvl="1"/>
            <a:r>
              <a:rPr lang="en-US" sz="1600" dirty="0"/>
              <a:t>Implement Recurrent Neural Networks (RNNs) to capture time-series dependencies better. </a:t>
            </a:r>
          </a:p>
          <a:p>
            <a:pPr lvl="1"/>
            <a:r>
              <a:rPr lang="en-US" sz="1600" dirty="0"/>
              <a:t>Replace heuristic EGT agents with other RL agents (Multi-Agent Reinforcement Learning) for a "smarter" enemy.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95BFA5-5D15-FB40-29A3-A56C49D962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Conclusion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0BD6F1F-E3F6-CB99-60AC-EF3B501AB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808BA69-4B21-1B00-BBB5-4C046B5A8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37311D-8D8B-61C4-CDED-8362D76C5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71F1874-747B-65D8-AAA2-BA7A6621E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We successfully built a simulation where a Neural Network agent fought against an evolving Genetic Algorithm population.</a:t>
            </a:r>
          </a:p>
          <a:p>
            <a:r>
              <a:rPr lang="en-US" sz="2000" dirty="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000" dirty="0"/>
              <a:t>This proves that RL agents can survive and stabilize in non-stationary, adversarial environments, a crucial step for deploying AI in the real world.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E578-B6ED-0102-6AA0-CF8EEC43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253E-0B67-CC2E-623F-4E78087E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8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1103</Words>
  <Application>Microsoft Office PowerPoint</Application>
  <PresentationFormat>Widescreen</PresentationFormat>
  <Paragraphs>87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Can an ARL Agent Outperform EGT Populations in a Simulated Market?</vt:lpstr>
      <vt:lpstr>Research Question and Motivation</vt:lpstr>
      <vt:lpstr>Experimental Setup and Data</vt:lpstr>
      <vt:lpstr>Agent Architecture</vt:lpstr>
      <vt:lpstr>Learning Mechanism</vt:lpstr>
      <vt:lpstr>The Adversary</vt:lpstr>
      <vt:lpstr>Interaction Loop</vt:lpstr>
      <vt:lpstr>Results</vt:lpstr>
      <vt:lpstr>Results (continued)</vt:lpstr>
      <vt:lpstr>Results (continued)</vt:lpstr>
      <vt:lpstr>Methodology</vt:lpstr>
      <vt:lpstr>Novelty and Contribution</vt:lpstr>
      <vt:lpstr>Bias and Future Work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17</cp:revision>
  <dcterms:created xsi:type="dcterms:W3CDTF">2025-11-24T23:14:25Z</dcterms:created>
  <dcterms:modified xsi:type="dcterms:W3CDTF">2025-12-05T18:59:23Z</dcterms:modified>
</cp:coreProperties>
</file>